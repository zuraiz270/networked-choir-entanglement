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4"/>
    <p:sldId id="271" r:id="rId5"/>
    <p:sldId id="258" r:id="rId6"/>
    <p:sldId id="272" r:id="rId7"/>
    <p:sldId id="273" r:id="rId8"/>
    <p:sldId id="274" r:id="rId9"/>
    <p:sldId id="259" r:id="rId10"/>
    <p:sldId id="275" r:id="rId11"/>
    <p:sldId id="276" r:id="rId12"/>
    <p:sldId id="260" r:id="rId13"/>
    <p:sldId id="261" r:id="rId14"/>
    <p:sldId id="262" r:id="rId15"/>
    <p:sldId id="263" r:id="rId16"/>
    <p:sldId id="264" r:id="rId17"/>
    <p:sldId id="269" r:id="rId18"/>
    <p:sldId id="267" r:id="rId19"/>
    <p:sldId id="268" r:id="rId20"/>
    <p:sldId id="26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284B2F-067E-B2D3-61C2-ADBA62A85473}" v="544" dt="2026-04-15T22:06:28.785"/>
    <p1510:client id="{7CA77A4B-103E-8152-7071-6B27A389721C}" v="108" dt="2026-04-15T23:16:51.9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ero_alchemy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5F5F5"/>
                </a:solidFill>
              </a:defRPr>
            </a:pPr>
            <a:r>
              <a:t>Chapter 14: Data as Prima Materia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60120"/>
            <a:ext cx="2360646" cy="3693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1800">
                <a:solidFill>
                  <a:srgbClr val="E0E5EE"/>
                </a:solidFill>
              </a:defRPr>
            </a:pPr>
            <a:r>
              <a:rPr lang="en-US">
                <a:ea typeface="+mn-lt"/>
                <a:cs typeface="+mn-lt"/>
              </a:rPr>
              <a:t>CYBERNETIC ALCHEMY </a:t>
            </a:r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40080" y="5303520"/>
            <a:ext cx="4529958" cy="3847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8DAB0"/>
                </a:solidFill>
              </a:defRPr>
            </a:pPr>
            <a:r>
              <a:rPr lang="en-US"/>
              <a:t>Hammad Anwar, Hassan Ahmed and </a:t>
            </a:r>
            <a:r>
              <a:rPr lang="en-US" err="1"/>
              <a:t>Zuraiz</a:t>
            </a: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Chapter 14 - Data as Prima Materia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t>COINs Seminar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3248325" cy="67710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800" b="1">
                <a:solidFill>
                  <a:srgbClr val="1E263A"/>
                </a:solidFill>
              </a:defRPr>
            </a:pPr>
            <a:r>
              <a:rPr lang="en-US">
                <a:ea typeface="+mn-lt"/>
                <a:cs typeface="+mn-lt"/>
              </a:rPr>
              <a:t>Core Argument</a:t>
            </a:r>
            <a:endParaRPr lang="en-US"/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789920" cy="1538715"/>
          </a:xfrm>
          <a:prstGeom prst="roundRect">
            <a:avLst/>
          </a:prstGeom>
          <a:solidFill>
            <a:srgbClr val="FFF8EB"/>
          </a:solidFill>
          <a:ln>
            <a:solidFill>
              <a:srgbClr val="BA7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2600" b="1">
                <a:solidFill>
                  <a:srgbClr val="1E263A"/>
                </a:solidFill>
              </a:defRPr>
            </a:pPr>
            <a:r>
              <a:rPr lang="en-US"/>
              <a:t>Data is the raw material of transformation — but meaning emerges only through a structured and ethical process.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Chapter 14 - Data as Prima Materia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t>COINs Seminar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323EF-4098-85E2-3026-F1C73DCA6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E276D1-FF64-DCF6-5C58-2595CF0DDC56}"/>
              </a:ext>
            </a:extLst>
          </p:cNvPr>
          <p:cNvSpPr txBox="1"/>
          <p:nvPr/>
        </p:nvSpPr>
        <p:spPr>
          <a:xfrm>
            <a:off x="548640" y="320040"/>
            <a:ext cx="3248325" cy="67710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800" b="1">
                <a:solidFill>
                  <a:srgbClr val="1E263A"/>
                </a:solidFill>
              </a:defRPr>
            </a:pPr>
            <a:r>
              <a:rPr lang="en-US">
                <a:ea typeface="+mn-lt"/>
                <a:cs typeface="+mn-lt"/>
              </a:rPr>
              <a:t>Core Argument</a:t>
            </a:r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29F055E-FB49-2750-22A9-BBA8E1CC336D}"/>
              </a:ext>
            </a:extLst>
          </p:cNvPr>
          <p:cNvSpPr/>
          <p:nvPr/>
        </p:nvSpPr>
        <p:spPr>
          <a:xfrm>
            <a:off x="731520" y="1554480"/>
            <a:ext cx="10789920" cy="1538715"/>
          </a:xfrm>
          <a:prstGeom prst="roundRect">
            <a:avLst/>
          </a:prstGeom>
          <a:solidFill>
            <a:srgbClr val="FFF8EB"/>
          </a:solidFill>
          <a:ln>
            <a:solidFill>
              <a:srgbClr val="BA7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2600" b="1">
                <a:solidFill>
                  <a:srgbClr val="1E263A"/>
                </a:solidFill>
              </a:defRPr>
            </a:pPr>
            <a:r>
              <a:rPr lang="en-US"/>
              <a:t>Data is the raw material of transformation — but meaning emerges only through a structured and ethical process.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BE6B67-29BF-98B8-8084-2F7B2CC0A239}"/>
              </a:ext>
            </a:extLst>
          </p:cNvPr>
          <p:cNvSpPr txBox="1"/>
          <p:nvPr/>
        </p:nvSpPr>
        <p:spPr>
          <a:xfrm>
            <a:off x="1847194" y="3268191"/>
            <a:ext cx="9058364" cy="200054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200">
                <a:solidFill>
                  <a:srgbClr val="505766"/>
                </a:solidFill>
              </a:defRPr>
            </a:pPr>
            <a:r>
              <a:rPr lang="en-US" b="1">
                <a:ea typeface="+mn-lt"/>
                <a:cs typeface="+mn-lt"/>
              </a:rPr>
              <a:t>Key Idea</a:t>
            </a:r>
            <a:endParaRPr lang="en-US"/>
          </a:p>
          <a:p>
            <a:pPr marL="285750" indent="-285750">
              <a:buFont typeface="Arial"/>
              <a:buChar char="•"/>
              <a:defRPr sz="2200">
                <a:solidFill>
                  <a:srgbClr val="505766"/>
                </a:solidFill>
              </a:defRPr>
            </a:pPr>
            <a:r>
              <a:rPr lang="en-US" sz="2000">
                <a:ea typeface="+mn-lt"/>
                <a:cs typeface="+mn-lt"/>
              </a:rPr>
              <a:t>Data is abundant but not automatically meaningful 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2200">
                <a:solidFill>
                  <a:srgbClr val="505766"/>
                </a:solidFill>
              </a:defRPr>
            </a:pPr>
            <a:r>
              <a:rPr lang="en-US" sz="2000">
                <a:ea typeface="+mn-lt"/>
                <a:cs typeface="+mn-lt"/>
              </a:rPr>
              <a:t>Understanding requires a </a:t>
            </a:r>
            <a:r>
              <a:rPr lang="en-US" sz="2000" b="1">
                <a:ea typeface="+mn-lt"/>
                <a:cs typeface="+mn-lt"/>
              </a:rPr>
              <a:t>four-stage transformation</a:t>
            </a:r>
            <a:br>
              <a:rPr lang="en-US" sz="2000" b="1">
                <a:ea typeface="+mn-lt"/>
                <a:cs typeface="+mn-lt"/>
              </a:rPr>
            </a:b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 i="1">
                <a:ea typeface="+mn-lt"/>
                <a:cs typeface="+mn-lt"/>
              </a:rPr>
              <a:t>(</a:t>
            </a:r>
            <a:r>
              <a:rPr lang="en-US" sz="2000" i="1" err="1">
                <a:ea typeface="+mn-lt"/>
                <a:cs typeface="+mn-lt"/>
              </a:rPr>
              <a:t>Nigredo</a:t>
            </a:r>
            <a:r>
              <a:rPr lang="en-US" sz="2000" i="1">
                <a:ea typeface="+mn-lt"/>
                <a:cs typeface="+mn-lt"/>
              </a:rPr>
              <a:t> → Albedo → </a:t>
            </a:r>
            <a:r>
              <a:rPr lang="en-US" sz="2000" i="1" err="1">
                <a:ea typeface="+mn-lt"/>
                <a:cs typeface="+mn-lt"/>
              </a:rPr>
              <a:t>Citrinitas</a:t>
            </a:r>
            <a:r>
              <a:rPr lang="en-US" sz="2000" i="1">
                <a:ea typeface="+mn-lt"/>
                <a:cs typeface="+mn-lt"/>
              </a:rPr>
              <a:t> → </a:t>
            </a:r>
            <a:r>
              <a:rPr lang="en-US" sz="2000" i="1" err="1">
                <a:ea typeface="+mn-lt"/>
                <a:cs typeface="+mn-lt"/>
              </a:rPr>
              <a:t>Rubedo</a:t>
            </a:r>
            <a:r>
              <a:rPr lang="en-US" sz="2000" i="1">
                <a:ea typeface="+mn-lt"/>
                <a:cs typeface="+mn-lt"/>
              </a:rPr>
              <a:t>)</a:t>
            </a:r>
            <a:r>
              <a:rPr lang="en-US" sz="2000">
                <a:ea typeface="+mn-lt"/>
                <a:cs typeface="+mn-lt"/>
              </a:rPr>
              <a:t> 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2200">
                <a:solidFill>
                  <a:srgbClr val="505766"/>
                </a:solidFill>
              </a:defRPr>
            </a:pPr>
            <a:r>
              <a:rPr lang="en-US" sz="2000">
                <a:ea typeface="+mn-lt"/>
                <a:cs typeface="+mn-lt"/>
              </a:rPr>
              <a:t>Final meaning depends on </a:t>
            </a:r>
            <a:r>
              <a:rPr lang="en-US" sz="2000" b="1">
                <a:ea typeface="+mn-lt"/>
                <a:cs typeface="+mn-lt"/>
              </a:rPr>
              <a:t>human interpretation (</a:t>
            </a:r>
            <a:r>
              <a:rPr lang="en-US" sz="2000" b="1" err="1">
                <a:ea typeface="+mn-lt"/>
                <a:cs typeface="+mn-lt"/>
              </a:rPr>
              <a:t>Rubedo</a:t>
            </a:r>
            <a:r>
              <a:rPr lang="en-US" sz="2000" b="1">
                <a:ea typeface="+mn-lt"/>
                <a:cs typeface="+mn-lt"/>
              </a:rPr>
              <a:t>)</a:t>
            </a:r>
            <a:r>
              <a:rPr lang="en-US" sz="2000">
                <a:ea typeface="+mn-lt"/>
                <a:cs typeface="+mn-lt"/>
              </a:rPr>
              <a:t> </a:t>
            </a:r>
            <a:endParaRPr lang="en-US" sz="2000"/>
          </a:p>
          <a:p>
            <a:pPr>
              <a:defRPr sz="2200">
                <a:solidFill>
                  <a:srgbClr val="505766"/>
                </a:solidFill>
              </a:defRPr>
            </a:pPr>
            <a:endParaRPr lang="en-US" b="1">
              <a:ea typeface="+mn-lt"/>
              <a:cs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A4DE8-216D-CB8D-DC95-3DDA5ADB6F16}"/>
              </a:ext>
            </a:extLst>
          </p:cNvPr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Chapter 14 - Data as Prima Materia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BBA03B-1522-AB3E-134D-2FCCE695EEB8}"/>
              </a:ext>
            </a:extLst>
          </p:cNvPr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t>COINs Seminar</a:t>
            </a:r>
          </a:p>
        </p:txBody>
      </p:sp>
    </p:spTree>
    <p:extLst>
      <p:ext uri="{BB962C8B-B14F-4D97-AF65-F5344CB8AC3E}">
        <p14:creationId xmlns:p14="http://schemas.microsoft.com/office/powerpoint/2010/main" val="4148593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69415-0792-9F6F-0A3B-A2D2FCA12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2FF2C4-7DEE-4065-2F8B-B5255D4CFD1C}"/>
              </a:ext>
            </a:extLst>
          </p:cNvPr>
          <p:cNvSpPr txBox="1"/>
          <p:nvPr/>
        </p:nvSpPr>
        <p:spPr>
          <a:xfrm>
            <a:off x="548640" y="320040"/>
            <a:ext cx="3248325" cy="67710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800" b="1">
                <a:solidFill>
                  <a:srgbClr val="1E263A"/>
                </a:solidFill>
              </a:defRPr>
            </a:pPr>
            <a:r>
              <a:rPr lang="en-US">
                <a:ea typeface="+mn-lt"/>
                <a:cs typeface="+mn-lt"/>
              </a:rPr>
              <a:t>Core Argument</a:t>
            </a:r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B4549EB-C66C-BD2C-9793-D6049C9DF4A6}"/>
              </a:ext>
            </a:extLst>
          </p:cNvPr>
          <p:cNvSpPr/>
          <p:nvPr/>
        </p:nvSpPr>
        <p:spPr>
          <a:xfrm>
            <a:off x="731520" y="1554480"/>
            <a:ext cx="10789920" cy="1538715"/>
          </a:xfrm>
          <a:prstGeom prst="roundRect">
            <a:avLst/>
          </a:prstGeom>
          <a:solidFill>
            <a:srgbClr val="FFF8EB"/>
          </a:solidFill>
          <a:ln>
            <a:solidFill>
              <a:srgbClr val="BA7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/>
          <a:p>
            <a:pPr algn="ctr">
              <a:defRPr sz="2600" b="1">
                <a:solidFill>
                  <a:srgbClr val="1E263A"/>
                </a:solidFill>
              </a:defRPr>
            </a:pPr>
            <a:r>
              <a:rPr lang="en-US"/>
              <a:t>Data is the raw material of transformation — but meaning emerges only through a structured and ethical process.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CBCB8E-DA70-7D92-FE0B-E5EB2B6B3262}"/>
              </a:ext>
            </a:extLst>
          </p:cNvPr>
          <p:cNvSpPr txBox="1"/>
          <p:nvPr/>
        </p:nvSpPr>
        <p:spPr>
          <a:xfrm>
            <a:off x="1847194" y="3268191"/>
            <a:ext cx="9058364" cy="329320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200">
                <a:solidFill>
                  <a:srgbClr val="505766"/>
                </a:solidFill>
              </a:defRPr>
            </a:pPr>
            <a:r>
              <a:rPr lang="en-US" b="1">
                <a:ea typeface="+mn-lt"/>
                <a:cs typeface="+mn-lt"/>
              </a:rPr>
              <a:t>Key Idea</a:t>
            </a:r>
            <a:endParaRPr lang="en-US"/>
          </a:p>
          <a:p>
            <a:pPr marL="285750" indent="-285750">
              <a:buFont typeface="Arial"/>
              <a:buChar char="•"/>
              <a:defRPr sz="2200">
                <a:solidFill>
                  <a:srgbClr val="505766"/>
                </a:solidFill>
              </a:defRPr>
            </a:pPr>
            <a:r>
              <a:rPr lang="en-US" sz="2000">
                <a:ea typeface="+mn-lt"/>
                <a:cs typeface="+mn-lt"/>
              </a:rPr>
              <a:t>Data is abundant but not automatically meaningful 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2200">
                <a:solidFill>
                  <a:srgbClr val="505766"/>
                </a:solidFill>
              </a:defRPr>
            </a:pPr>
            <a:r>
              <a:rPr lang="en-US" sz="2000">
                <a:ea typeface="+mn-lt"/>
                <a:cs typeface="+mn-lt"/>
              </a:rPr>
              <a:t>Understanding requires a </a:t>
            </a:r>
            <a:r>
              <a:rPr lang="en-US" sz="2000" b="1">
                <a:ea typeface="+mn-lt"/>
                <a:cs typeface="+mn-lt"/>
              </a:rPr>
              <a:t>four-stage transformation</a:t>
            </a:r>
            <a:br>
              <a:rPr lang="en-US" sz="2000" b="1">
                <a:ea typeface="+mn-lt"/>
                <a:cs typeface="+mn-lt"/>
              </a:rPr>
            </a:br>
            <a:r>
              <a:rPr lang="en-US" sz="2000" b="1">
                <a:ea typeface="+mn-lt"/>
                <a:cs typeface="+mn-lt"/>
              </a:rPr>
              <a:t> </a:t>
            </a:r>
            <a:r>
              <a:rPr lang="en-US" sz="2000" i="1">
                <a:ea typeface="+mn-lt"/>
                <a:cs typeface="+mn-lt"/>
              </a:rPr>
              <a:t>(</a:t>
            </a:r>
            <a:r>
              <a:rPr lang="en-US" sz="2000" i="1" err="1">
                <a:ea typeface="+mn-lt"/>
                <a:cs typeface="+mn-lt"/>
              </a:rPr>
              <a:t>Nigredo</a:t>
            </a:r>
            <a:r>
              <a:rPr lang="en-US" sz="2000" i="1">
                <a:ea typeface="+mn-lt"/>
                <a:cs typeface="+mn-lt"/>
              </a:rPr>
              <a:t> → Albedo → </a:t>
            </a:r>
            <a:r>
              <a:rPr lang="en-US" sz="2000" i="1" err="1">
                <a:ea typeface="+mn-lt"/>
                <a:cs typeface="+mn-lt"/>
              </a:rPr>
              <a:t>Citrinitas</a:t>
            </a:r>
            <a:r>
              <a:rPr lang="en-US" sz="2000" i="1">
                <a:ea typeface="+mn-lt"/>
                <a:cs typeface="+mn-lt"/>
              </a:rPr>
              <a:t> → </a:t>
            </a:r>
            <a:r>
              <a:rPr lang="en-US" sz="2000" i="1" err="1">
                <a:ea typeface="+mn-lt"/>
                <a:cs typeface="+mn-lt"/>
              </a:rPr>
              <a:t>Rubedo</a:t>
            </a:r>
            <a:r>
              <a:rPr lang="en-US" sz="2000" i="1">
                <a:ea typeface="+mn-lt"/>
                <a:cs typeface="+mn-lt"/>
              </a:rPr>
              <a:t>)</a:t>
            </a:r>
            <a:r>
              <a:rPr lang="en-US" sz="2000">
                <a:ea typeface="+mn-lt"/>
                <a:cs typeface="+mn-lt"/>
              </a:rPr>
              <a:t> </a:t>
            </a:r>
            <a:endParaRPr lang="en-US" sz="20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2200">
                <a:solidFill>
                  <a:srgbClr val="505766"/>
                </a:solidFill>
              </a:defRPr>
            </a:pPr>
            <a:r>
              <a:rPr lang="en-US" sz="2000">
                <a:ea typeface="+mn-lt"/>
                <a:cs typeface="+mn-lt"/>
              </a:rPr>
              <a:t>Final meaning depends on </a:t>
            </a:r>
            <a:r>
              <a:rPr lang="en-US" sz="2000" b="1">
                <a:ea typeface="+mn-lt"/>
                <a:cs typeface="+mn-lt"/>
              </a:rPr>
              <a:t>human interpretation (</a:t>
            </a:r>
            <a:r>
              <a:rPr lang="en-US" sz="2000" b="1" err="1">
                <a:ea typeface="+mn-lt"/>
                <a:cs typeface="+mn-lt"/>
              </a:rPr>
              <a:t>Rubedo</a:t>
            </a:r>
            <a:r>
              <a:rPr lang="en-US" sz="2000" b="1">
                <a:ea typeface="+mn-lt"/>
                <a:cs typeface="+mn-lt"/>
              </a:rPr>
              <a:t>)</a:t>
            </a:r>
            <a:r>
              <a:rPr lang="en-US" sz="2000">
                <a:ea typeface="+mn-lt"/>
                <a:cs typeface="+mn-lt"/>
              </a:rPr>
              <a:t> </a:t>
            </a:r>
            <a:endParaRPr lang="en-US" sz="2000"/>
          </a:p>
          <a:p>
            <a:pPr>
              <a:defRPr sz="2200">
                <a:solidFill>
                  <a:srgbClr val="505766"/>
                </a:solidFill>
              </a:defRPr>
            </a:pPr>
            <a:endParaRPr lang="en-US" b="1">
              <a:ea typeface="+mn-lt"/>
              <a:cs typeface="+mn-lt"/>
            </a:endParaRPr>
          </a:p>
          <a:p>
            <a:pPr>
              <a:defRPr sz="2200">
                <a:solidFill>
                  <a:srgbClr val="505766"/>
                </a:solidFill>
              </a:defRPr>
            </a:pPr>
            <a:r>
              <a:rPr lang="en-US" sz="2200" b="1">
                <a:ea typeface="+mn-lt"/>
                <a:cs typeface="+mn-lt"/>
              </a:rPr>
              <a:t>Why it matters</a:t>
            </a:r>
            <a:endParaRPr lang="en-US" sz="22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2200">
                <a:solidFill>
                  <a:srgbClr val="505766"/>
                </a:solidFill>
              </a:defRPr>
            </a:pPr>
            <a:r>
              <a:rPr lang="en-US" sz="2000">
                <a:ea typeface="+mn-lt"/>
                <a:cs typeface="+mn-lt"/>
              </a:rPr>
              <a:t>The goal is not “collect more data” </a:t>
            </a:r>
          </a:p>
          <a:p>
            <a:pPr marL="285750" indent="-285750">
              <a:buFont typeface="Arial"/>
              <a:buChar char="•"/>
              <a:defRPr sz="2200">
                <a:solidFill>
                  <a:srgbClr val="505766"/>
                </a:solidFill>
              </a:defRPr>
            </a:pPr>
            <a:r>
              <a:rPr lang="en-US" sz="2000">
                <a:ea typeface="+mn-lt"/>
                <a:cs typeface="+mn-lt"/>
              </a:rPr>
              <a:t>Raw signals become </a:t>
            </a:r>
            <a:r>
              <a:rPr lang="en-US" sz="2000" b="1">
                <a:ea typeface="+mn-lt"/>
                <a:cs typeface="+mn-lt"/>
              </a:rPr>
              <a:t>honest signals only after method + interpretation</a:t>
            </a:r>
            <a:endParaRPr lang="en-US"/>
          </a:p>
          <a:p>
            <a:pPr>
              <a:defRPr sz="2200">
                <a:solidFill>
                  <a:srgbClr val="505766"/>
                </a:solidFill>
              </a:defRPr>
            </a:pPr>
            <a:endParaRPr lang="en-US"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D8351-1983-83DB-54B5-DFC124653493}"/>
              </a:ext>
            </a:extLst>
          </p:cNvPr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Chapter 14 - Data as Prima Materia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905D26-28CE-6C3A-511D-50FAA66DE483}"/>
              </a:ext>
            </a:extLst>
          </p:cNvPr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t>COINs Seminar</a:t>
            </a:r>
          </a:p>
        </p:txBody>
      </p:sp>
    </p:spTree>
    <p:extLst>
      <p:ext uri="{BB962C8B-B14F-4D97-AF65-F5344CB8AC3E}">
        <p14:creationId xmlns:p14="http://schemas.microsoft.com/office/powerpoint/2010/main" val="2964587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143161" cy="67710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800" b="1">
                <a:solidFill>
                  <a:srgbClr val="1E263A"/>
                </a:solidFill>
              </a:defRPr>
            </a:pPr>
            <a:r>
              <a:rPr lang="en-US"/>
              <a:t>Strongest</a:t>
            </a:r>
            <a:r>
              <a:rPr lang="en-US">
                <a:ea typeface="+mn-lt"/>
                <a:cs typeface="+mn-lt"/>
              </a:rPr>
              <a:t> Evidence: Same Pipeline Across Layers</a:t>
            </a:r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3474720" cy="3383280"/>
          </a:xfrm>
          <a:prstGeom prst="roundRect">
            <a:avLst/>
          </a:prstGeom>
          <a:solidFill>
            <a:srgbClr val="F4F7FC"/>
          </a:solidFill>
          <a:ln>
            <a:solidFill>
              <a:srgbClr val="627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200" b="1">
                <a:solidFill>
                  <a:srgbClr val="1E263A"/>
                </a:solidFill>
              </a:defRPr>
            </a:pPr>
            <a:r>
              <a:t>Plant layer</a:t>
            </a:r>
          </a:p>
          <a:p>
            <a:pPr algn="ctr">
              <a:defRPr sz="1600">
                <a:solidFill>
                  <a:srgbClr val="505766"/>
                </a:solidFill>
              </a:defRPr>
            </a:pPr>
            <a:endParaRPr lang="en-US" sz="1600" b="1">
              <a:solidFill>
                <a:srgbClr val="1E263A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Bioelectric signals (ESP32 + AD8232) </a:t>
            </a:r>
            <a:endParaRPr lang="en-US"/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Mel-spectrogram transformation </a:t>
            </a:r>
            <a:endParaRPr lang="en-US"/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Models: ResNet18 / </a:t>
            </a:r>
            <a:r>
              <a:rPr lang="en-US" err="1">
                <a:ea typeface="+mn-lt"/>
                <a:cs typeface="+mn-lt"/>
              </a:rPr>
              <a:t>XGBoost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~95% classification accuracy</a:t>
            </a:r>
          </a:p>
          <a:p>
            <a:pPr>
              <a:defRPr sz="1600">
                <a:solidFill>
                  <a:srgbClr val="505766"/>
                </a:solidFill>
              </a:defRPr>
            </a:pPr>
            <a:endParaRPr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Chapter 14 - Data as Prima Materia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t>COINs Seminar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51076-9A33-A0E5-E875-1568CAC42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60C6F5-014B-72E5-23F8-1F60808A8E67}"/>
              </a:ext>
            </a:extLst>
          </p:cNvPr>
          <p:cNvSpPr txBox="1"/>
          <p:nvPr/>
        </p:nvSpPr>
        <p:spPr>
          <a:xfrm>
            <a:off x="548640" y="320040"/>
            <a:ext cx="10143161" cy="67710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800" b="1">
                <a:solidFill>
                  <a:srgbClr val="1E263A"/>
                </a:solidFill>
              </a:defRPr>
            </a:pPr>
            <a:r>
              <a:rPr lang="en-US"/>
              <a:t>Strongest</a:t>
            </a:r>
            <a:r>
              <a:rPr lang="en-US">
                <a:ea typeface="+mn-lt"/>
                <a:cs typeface="+mn-lt"/>
              </a:rPr>
              <a:t> Evidence: Same Pipeline Across Layers</a:t>
            </a: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CAFF511-3299-64E1-849B-D17FE04F9E75}"/>
              </a:ext>
            </a:extLst>
          </p:cNvPr>
          <p:cNvSpPr/>
          <p:nvPr/>
        </p:nvSpPr>
        <p:spPr>
          <a:xfrm>
            <a:off x="640080" y="1645920"/>
            <a:ext cx="3474720" cy="3383280"/>
          </a:xfrm>
          <a:prstGeom prst="roundRect">
            <a:avLst/>
          </a:prstGeom>
          <a:solidFill>
            <a:srgbClr val="F4F7FC"/>
          </a:solidFill>
          <a:ln>
            <a:solidFill>
              <a:srgbClr val="627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200" b="1">
                <a:solidFill>
                  <a:srgbClr val="1E263A"/>
                </a:solidFill>
              </a:defRPr>
            </a:pPr>
            <a:r>
              <a:t>Plant layer</a:t>
            </a:r>
          </a:p>
          <a:p>
            <a:pPr algn="ctr">
              <a:defRPr sz="1600">
                <a:solidFill>
                  <a:srgbClr val="505766"/>
                </a:solidFill>
              </a:defRPr>
            </a:pPr>
            <a:endParaRPr lang="en-US" sz="1600" b="1">
              <a:solidFill>
                <a:srgbClr val="1E263A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Bioelectric signals (ESP32 + AD8232) </a:t>
            </a:r>
            <a:endParaRPr lang="en-US"/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Mel-spectrogram transformation </a:t>
            </a:r>
            <a:endParaRPr lang="en-US"/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Models: ResNet18 / </a:t>
            </a:r>
            <a:r>
              <a:rPr lang="en-US" err="1">
                <a:ea typeface="+mn-lt"/>
                <a:cs typeface="+mn-lt"/>
              </a:rPr>
              <a:t>XGBoost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~95% classification accuracy</a:t>
            </a:r>
          </a:p>
          <a:p>
            <a:pPr>
              <a:defRPr sz="1600">
                <a:solidFill>
                  <a:srgbClr val="505766"/>
                </a:solidFill>
              </a:defRPr>
            </a:pPr>
            <a:endParaRPr>
              <a:ea typeface="Calibri"/>
              <a:cs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A88D632-C218-9683-B562-124543751BC9}"/>
              </a:ext>
            </a:extLst>
          </p:cNvPr>
          <p:cNvSpPr/>
          <p:nvPr/>
        </p:nvSpPr>
        <p:spPr>
          <a:xfrm>
            <a:off x="4480560" y="1645920"/>
            <a:ext cx="3474720" cy="3383280"/>
          </a:xfrm>
          <a:prstGeom prst="roundRect">
            <a:avLst/>
          </a:prstGeom>
          <a:solidFill>
            <a:srgbClr val="F4F7FC"/>
          </a:solidFill>
          <a:ln>
            <a:solidFill>
              <a:srgbClr val="627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200" b="1">
                <a:solidFill>
                  <a:srgbClr val="1E263A"/>
                </a:solidFill>
              </a:defRPr>
            </a:pPr>
            <a:r>
              <a:t>Animal layer</a:t>
            </a:r>
          </a:p>
          <a:p>
            <a:pPr algn="ctr">
              <a:defRPr sz="1600">
                <a:solidFill>
                  <a:srgbClr val="505766"/>
                </a:solidFill>
              </a:defRPr>
            </a:pPr>
            <a:endParaRPr lang="en-US" sz="1600" b="1">
              <a:solidFill>
                <a:srgbClr val="1E263A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MoCo contrastive learning </a:t>
            </a:r>
            <a:endParaRPr lang="en-US"/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Horse emotion classification </a:t>
            </a:r>
            <a:endParaRPr lang="en-US"/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~55% accuracy across 8 categories</a:t>
            </a: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endParaRPr lang="en-US">
              <a:ea typeface="Calibri"/>
              <a:cs typeface="Calibri"/>
            </a:endParaRPr>
          </a:p>
          <a:p>
            <a:pPr>
              <a:defRPr sz="1600">
                <a:solidFill>
                  <a:srgbClr val="505766"/>
                </a:solidFill>
              </a:defRPr>
            </a:pPr>
            <a:endParaRPr lang="en-US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FDB65A-F5FF-EA25-0BA8-AD98A0156D80}"/>
              </a:ext>
            </a:extLst>
          </p:cNvPr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Chapter 14 - Data as Prima Materia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C2CC67-46D3-50A2-7B2A-3A17B807C42B}"/>
              </a:ext>
            </a:extLst>
          </p:cNvPr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t>COINs Seminar</a:t>
            </a:r>
          </a:p>
        </p:txBody>
      </p:sp>
    </p:spTree>
    <p:extLst>
      <p:ext uri="{BB962C8B-B14F-4D97-AF65-F5344CB8AC3E}">
        <p14:creationId xmlns:p14="http://schemas.microsoft.com/office/powerpoint/2010/main" val="3582083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7D703-0B07-FC84-B4EB-5558382B02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F9A614-77FD-0401-3508-D57A07E4216B}"/>
              </a:ext>
            </a:extLst>
          </p:cNvPr>
          <p:cNvSpPr txBox="1"/>
          <p:nvPr/>
        </p:nvSpPr>
        <p:spPr>
          <a:xfrm>
            <a:off x="548640" y="320040"/>
            <a:ext cx="10143161" cy="67710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800" b="1">
                <a:solidFill>
                  <a:srgbClr val="1E263A"/>
                </a:solidFill>
              </a:defRPr>
            </a:pPr>
            <a:r>
              <a:rPr lang="en-US"/>
              <a:t>Strongest</a:t>
            </a:r>
            <a:r>
              <a:rPr lang="en-US">
                <a:ea typeface="+mn-lt"/>
                <a:cs typeface="+mn-lt"/>
              </a:rPr>
              <a:t> Evidence: Same Pipeline Across Layers</a:t>
            </a: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8E65A5F-47F1-9AC9-5054-73595C4B6225}"/>
              </a:ext>
            </a:extLst>
          </p:cNvPr>
          <p:cNvSpPr/>
          <p:nvPr/>
        </p:nvSpPr>
        <p:spPr>
          <a:xfrm>
            <a:off x="640080" y="1645920"/>
            <a:ext cx="3474720" cy="3383280"/>
          </a:xfrm>
          <a:prstGeom prst="roundRect">
            <a:avLst/>
          </a:prstGeom>
          <a:solidFill>
            <a:srgbClr val="F4F7FC"/>
          </a:solidFill>
          <a:ln>
            <a:solidFill>
              <a:srgbClr val="627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200" b="1">
                <a:solidFill>
                  <a:srgbClr val="1E263A"/>
                </a:solidFill>
              </a:defRPr>
            </a:pPr>
            <a:r>
              <a:t>Plant layer</a:t>
            </a:r>
          </a:p>
          <a:p>
            <a:pPr algn="ctr">
              <a:defRPr sz="1600">
                <a:solidFill>
                  <a:srgbClr val="505766"/>
                </a:solidFill>
              </a:defRPr>
            </a:pPr>
            <a:endParaRPr lang="en-US" sz="1600" b="1">
              <a:solidFill>
                <a:srgbClr val="1E263A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Bioelectric signals (ESP32 + AD8232) </a:t>
            </a:r>
            <a:endParaRPr lang="en-US"/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Mel-spectrogram transformation </a:t>
            </a:r>
            <a:endParaRPr lang="en-US"/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Models: ResNet18 / </a:t>
            </a:r>
            <a:r>
              <a:rPr lang="en-US" err="1">
                <a:ea typeface="+mn-lt"/>
                <a:cs typeface="+mn-lt"/>
              </a:rPr>
              <a:t>XGBoost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~95% classification accuracy</a:t>
            </a:r>
          </a:p>
          <a:p>
            <a:pPr>
              <a:defRPr sz="1600">
                <a:solidFill>
                  <a:srgbClr val="505766"/>
                </a:solidFill>
              </a:defRPr>
            </a:pPr>
            <a:endParaRPr>
              <a:ea typeface="Calibri"/>
              <a:cs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70FA490-4929-6F5E-4E34-CFC2C13E7A3B}"/>
              </a:ext>
            </a:extLst>
          </p:cNvPr>
          <p:cNvSpPr/>
          <p:nvPr/>
        </p:nvSpPr>
        <p:spPr>
          <a:xfrm>
            <a:off x="4480560" y="1645920"/>
            <a:ext cx="3474720" cy="3383280"/>
          </a:xfrm>
          <a:prstGeom prst="roundRect">
            <a:avLst/>
          </a:prstGeom>
          <a:solidFill>
            <a:srgbClr val="F4F7FC"/>
          </a:solidFill>
          <a:ln>
            <a:solidFill>
              <a:srgbClr val="627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200" b="1">
                <a:solidFill>
                  <a:srgbClr val="1E263A"/>
                </a:solidFill>
              </a:defRPr>
            </a:pPr>
            <a:r>
              <a:t>Animal layer</a:t>
            </a:r>
          </a:p>
          <a:p>
            <a:pPr algn="ctr">
              <a:defRPr sz="1600">
                <a:solidFill>
                  <a:srgbClr val="505766"/>
                </a:solidFill>
              </a:defRPr>
            </a:pPr>
            <a:endParaRPr lang="en-US" sz="1600" b="1">
              <a:solidFill>
                <a:srgbClr val="1E263A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MoCo contrastive learning </a:t>
            </a:r>
            <a:endParaRPr lang="en-US"/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Horse emotion classification </a:t>
            </a:r>
            <a:endParaRPr lang="en-US"/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~55% accuracy across 8 categories</a:t>
            </a: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endParaRPr lang="en-US">
              <a:ea typeface="Calibri"/>
              <a:cs typeface="Calibri"/>
            </a:endParaRPr>
          </a:p>
          <a:p>
            <a:pPr>
              <a:defRPr sz="1600">
                <a:solidFill>
                  <a:srgbClr val="505766"/>
                </a:solidFill>
              </a:defRPr>
            </a:pPr>
            <a:endParaRPr lang="en-US">
              <a:ea typeface="Calibri"/>
              <a:cs typeface="Calibri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3FE4091-C25B-97C2-6436-97E89844BF32}"/>
              </a:ext>
            </a:extLst>
          </p:cNvPr>
          <p:cNvSpPr/>
          <p:nvPr/>
        </p:nvSpPr>
        <p:spPr>
          <a:xfrm>
            <a:off x="8321040" y="1645920"/>
            <a:ext cx="3474720" cy="3383280"/>
          </a:xfrm>
          <a:prstGeom prst="roundRect">
            <a:avLst/>
          </a:prstGeom>
          <a:solidFill>
            <a:srgbClr val="F4F7FC"/>
          </a:solidFill>
          <a:ln>
            <a:solidFill>
              <a:srgbClr val="627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200" b="1">
                <a:solidFill>
                  <a:srgbClr val="1E263A"/>
                </a:solidFill>
              </a:defRPr>
            </a:pPr>
            <a:r>
              <a:t>Human team layer</a:t>
            </a:r>
          </a:p>
          <a:p>
            <a:pPr algn="ctr">
              <a:defRPr sz="1600">
                <a:solidFill>
                  <a:srgbClr val="505766"/>
                </a:solidFill>
              </a:defRPr>
            </a:pPr>
            <a:endParaRPr lang="en-US" sz="1600" b="1">
              <a:solidFill>
                <a:srgbClr val="1E263A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 err="1">
                <a:ea typeface="+mn-lt"/>
                <a:cs typeface="+mn-lt"/>
              </a:rPr>
              <a:t>SocialCompass</a:t>
            </a:r>
            <a:r>
              <a:rPr lang="en-US">
                <a:ea typeface="+mn-lt"/>
                <a:cs typeface="+mn-lt"/>
              </a:rPr>
              <a:t> / COIN metrics </a:t>
            </a:r>
            <a:endParaRPr lang="en-US"/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Response latency, centrality, network density </a:t>
            </a: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Predicts group performance</a:t>
            </a: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endParaRPr lang="en-US"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295F30-C08A-1896-50BC-5E9F7A57FF94}"/>
              </a:ext>
            </a:extLst>
          </p:cNvPr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Chapter 14 - Data as Prima Materia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59EAC4-24CE-096D-9AE2-250544A9BD1E}"/>
              </a:ext>
            </a:extLst>
          </p:cNvPr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t>COINs Seminar</a:t>
            </a:r>
          </a:p>
        </p:txBody>
      </p:sp>
    </p:spTree>
    <p:extLst>
      <p:ext uri="{BB962C8B-B14F-4D97-AF65-F5344CB8AC3E}">
        <p14:creationId xmlns:p14="http://schemas.microsoft.com/office/powerpoint/2010/main" val="2458742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C61AA-B9CD-12AF-D10B-989471677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55E0559-E503-9A6E-0AF2-5BF3A0294004}"/>
              </a:ext>
            </a:extLst>
          </p:cNvPr>
          <p:cNvSpPr txBox="1"/>
          <p:nvPr/>
        </p:nvSpPr>
        <p:spPr>
          <a:xfrm>
            <a:off x="548640" y="320040"/>
            <a:ext cx="10143161" cy="67710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800" b="1">
                <a:solidFill>
                  <a:srgbClr val="1E263A"/>
                </a:solidFill>
              </a:defRPr>
            </a:pPr>
            <a:r>
              <a:rPr lang="en-US"/>
              <a:t>Strongest</a:t>
            </a:r>
            <a:r>
              <a:rPr lang="en-US">
                <a:ea typeface="+mn-lt"/>
                <a:cs typeface="+mn-lt"/>
              </a:rPr>
              <a:t> Evidence: Same Pipeline Across Layers</a:t>
            </a:r>
            <a:endParaRPr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0F81FEF-0700-0FB1-EB9F-44F3F8CE5341}"/>
              </a:ext>
            </a:extLst>
          </p:cNvPr>
          <p:cNvSpPr/>
          <p:nvPr/>
        </p:nvSpPr>
        <p:spPr>
          <a:xfrm>
            <a:off x="640080" y="1645920"/>
            <a:ext cx="3474720" cy="3383280"/>
          </a:xfrm>
          <a:prstGeom prst="roundRect">
            <a:avLst/>
          </a:prstGeom>
          <a:solidFill>
            <a:srgbClr val="F4F7FC"/>
          </a:solidFill>
          <a:ln>
            <a:solidFill>
              <a:srgbClr val="627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200" b="1">
                <a:solidFill>
                  <a:srgbClr val="1E263A"/>
                </a:solidFill>
              </a:defRPr>
            </a:pPr>
            <a:r>
              <a:t>Plant layer</a:t>
            </a:r>
          </a:p>
          <a:p>
            <a:pPr algn="ctr">
              <a:defRPr sz="1600">
                <a:solidFill>
                  <a:srgbClr val="505766"/>
                </a:solidFill>
              </a:defRPr>
            </a:pPr>
            <a:endParaRPr lang="en-US" sz="1600" b="1">
              <a:solidFill>
                <a:srgbClr val="1E263A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Bioelectric signals (ESP32 + AD8232) </a:t>
            </a:r>
            <a:endParaRPr lang="en-US"/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Mel-spectrogram transformation </a:t>
            </a:r>
            <a:endParaRPr lang="en-US"/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Models: ResNet18 / </a:t>
            </a:r>
            <a:r>
              <a:rPr lang="en-US" err="1">
                <a:ea typeface="+mn-lt"/>
                <a:cs typeface="+mn-lt"/>
              </a:rPr>
              <a:t>XGBoost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~95% classification accuracy</a:t>
            </a:r>
          </a:p>
          <a:p>
            <a:pPr>
              <a:defRPr sz="1600">
                <a:solidFill>
                  <a:srgbClr val="505766"/>
                </a:solidFill>
              </a:defRPr>
            </a:pPr>
            <a:endParaRPr>
              <a:ea typeface="Calibri"/>
              <a:cs typeface="Calibri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A039841-DDF3-8AFA-37F7-4936815A2DC2}"/>
              </a:ext>
            </a:extLst>
          </p:cNvPr>
          <p:cNvSpPr/>
          <p:nvPr/>
        </p:nvSpPr>
        <p:spPr>
          <a:xfrm>
            <a:off x="4480560" y="1645920"/>
            <a:ext cx="3474720" cy="3383280"/>
          </a:xfrm>
          <a:prstGeom prst="roundRect">
            <a:avLst/>
          </a:prstGeom>
          <a:solidFill>
            <a:srgbClr val="F4F7FC"/>
          </a:solidFill>
          <a:ln>
            <a:solidFill>
              <a:srgbClr val="627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200" b="1">
                <a:solidFill>
                  <a:srgbClr val="1E263A"/>
                </a:solidFill>
              </a:defRPr>
            </a:pPr>
            <a:r>
              <a:t>Animal layer</a:t>
            </a:r>
          </a:p>
          <a:p>
            <a:pPr algn="ctr">
              <a:defRPr sz="1600">
                <a:solidFill>
                  <a:srgbClr val="505766"/>
                </a:solidFill>
              </a:defRPr>
            </a:pPr>
            <a:endParaRPr lang="en-US" sz="1600" b="1">
              <a:solidFill>
                <a:srgbClr val="1E263A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MoCo contrastive learning </a:t>
            </a:r>
            <a:endParaRPr lang="en-US"/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Horse emotion classification </a:t>
            </a:r>
            <a:endParaRPr lang="en-US"/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~55% accuracy across 8 categories</a:t>
            </a: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endParaRPr lang="en-US">
              <a:ea typeface="Calibri"/>
              <a:cs typeface="Calibri"/>
            </a:endParaRPr>
          </a:p>
          <a:p>
            <a:pPr>
              <a:defRPr sz="1600">
                <a:solidFill>
                  <a:srgbClr val="505766"/>
                </a:solidFill>
              </a:defRPr>
            </a:pPr>
            <a:endParaRPr lang="en-US">
              <a:ea typeface="Calibri"/>
              <a:cs typeface="Calibri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8335BE5-2C1C-47C5-02CD-DFA918B52AA2}"/>
              </a:ext>
            </a:extLst>
          </p:cNvPr>
          <p:cNvSpPr/>
          <p:nvPr/>
        </p:nvSpPr>
        <p:spPr>
          <a:xfrm>
            <a:off x="8321040" y="1645920"/>
            <a:ext cx="3474720" cy="3383280"/>
          </a:xfrm>
          <a:prstGeom prst="roundRect">
            <a:avLst/>
          </a:prstGeom>
          <a:solidFill>
            <a:srgbClr val="F4F7FC"/>
          </a:solidFill>
          <a:ln>
            <a:solidFill>
              <a:srgbClr val="627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2200" b="1">
                <a:solidFill>
                  <a:srgbClr val="1E263A"/>
                </a:solidFill>
              </a:defRPr>
            </a:pPr>
            <a:r>
              <a:t>Human team layer</a:t>
            </a:r>
          </a:p>
          <a:p>
            <a:pPr algn="ctr">
              <a:defRPr sz="1600">
                <a:solidFill>
                  <a:srgbClr val="505766"/>
                </a:solidFill>
              </a:defRPr>
            </a:pPr>
            <a:endParaRPr lang="en-US" sz="1600" b="1">
              <a:solidFill>
                <a:srgbClr val="1E263A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 err="1">
                <a:ea typeface="+mn-lt"/>
                <a:cs typeface="+mn-lt"/>
              </a:rPr>
              <a:t>SocialCompass</a:t>
            </a:r>
            <a:r>
              <a:rPr lang="en-US">
                <a:ea typeface="+mn-lt"/>
                <a:cs typeface="+mn-lt"/>
              </a:rPr>
              <a:t> / COIN metrics </a:t>
            </a:r>
            <a:endParaRPr lang="en-US"/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Response latency, centrality, network density </a:t>
            </a: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Predicts group performance</a:t>
            </a: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endParaRPr lang="en-US">
              <a:ea typeface="Calibri"/>
              <a:cs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1861D4-41F5-C962-3FFE-F17225273F25}"/>
              </a:ext>
            </a:extLst>
          </p:cNvPr>
          <p:cNvSpPr/>
          <p:nvPr/>
        </p:nvSpPr>
        <p:spPr>
          <a:xfrm>
            <a:off x="640080" y="5303520"/>
            <a:ext cx="10972800" cy="822960"/>
          </a:xfrm>
          <a:prstGeom prst="rect">
            <a:avLst/>
          </a:prstGeom>
          <a:solidFill>
            <a:srgbClr val="E9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solidFill>
                  <a:srgbClr val="2B3E5C"/>
                </a:solidFill>
              </a:defRPr>
            </a:pPr>
            <a:r>
              <a:rPr lang="en-US">
                <a:ea typeface="+mn-lt"/>
                <a:cs typeface="+mn-lt"/>
              </a:rPr>
              <a:t>Same transformation pipeline across systems but different sensors, and different accuracy levels</a:t>
            </a:r>
            <a:r>
              <a:t>.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09C9C0-7BB4-48B1-6A7F-C4C15905A5F0}"/>
              </a:ext>
            </a:extLst>
          </p:cNvPr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Chapter 14 - Data as Prima Materia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2C4D60-A305-7B71-FAD3-3C380336E317}"/>
              </a:ext>
            </a:extLst>
          </p:cNvPr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t>COINs Seminar</a:t>
            </a:r>
          </a:p>
        </p:txBody>
      </p:sp>
    </p:spTree>
    <p:extLst>
      <p:ext uri="{BB962C8B-B14F-4D97-AF65-F5344CB8AC3E}">
        <p14:creationId xmlns:p14="http://schemas.microsoft.com/office/powerpoint/2010/main" val="36057707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E263A"/>
                </a:solidFill>
              </a:defRPr>
            </a:pPr>
            <a:r>
              <a:t>Connection To Seminar Themes</a:t>
            </a:r>
          </a:p>
        </p:txBody>
      </p:sp>
      <p:sp>
        <p:nvSpPr>
          <p:cNvPr id="3" name="Oval 2"/>
          <p:cNvSpPr/>
          <p:nvPr/>
        </p:nvSpPr>
        <p:spPr>
          <a:xfrm>
            <a:off x="4751587" y="1230370"/>
            <a:ext cx="2377440" cy="1371600"/>
          </a:xfrm>
          <a:prstGeom prst="ellipse">
            <a:avLst/>
          </a:prstGeom>
          <a:solidFill>
            <a:srgbClr val="FFECCD"/>
          </a:solidFill>
          <a:ln>
            <a:solidFill>
              <a:srgbClr val="BA7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solidFill>
                  <a:srgbClr val="1E263A"/>
                </a:solidFill>
              </a:defRPr>
            </a:pPr>
            <a:r>
              <a:rPr lang="en-US">
                <a:ea typeface="+mn-lt"/>
                <a:cs typeface="+mn-lt"/>
              </a:rPr>
              <a:t>Data as Transformation Process</a:t>
            </a:r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455098" y="3426635"/>
            <a:ext cx="3291840" cy="1371600"/>
          </a:xfrm>
          <a:prstGeom prst="roundRect">
            <a:avLst/>
          </a:prstGeom>
          <a:solidFill>
            <a:srgbClr val="F0F5EE"/>
          </a:solidFill>
          <a:ln>
            <a:solidFill>
              <a:srgbClr val="64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700" b="1">
                <a:solidFill>
                  <a:srgbClr val="1E263A"/>
                </a:solidFill>
              </a:defRPr>
            </a:pPr>
            <a:r>
              <a:t>Honest Signals</a:t>
            </a:r>
          </a:p>
          <a:p>
            <a:pPr algn="ctr">
              <a:defRPr sz="1300">
                <a:solidFill>
                  <a:srgbClr val="505766"/>
                </a:solidFill>
              </a:defRPr>
            </a:pPr>
            <a:endParaRPr lang="en-US" sz="800" b="1">
              <a:solidFill>
                <a:srgbClr val="1E263A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3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Captures </a:t>
            </a:r>
            <a:r>
              <a:rPr lang="en-US" b="1">
                <a:ea typeface="+mn-lt"/>
                <a:cs typeface="+mn-lt"/>
              </a:rPr>
              <a:t>non-self-reported data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  <a:defRPr sz="13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Reveals underlying biological &amp; social states</a:t>
            </a:r>
            <a:endParaRPr lang="en-US"/>
          </a:p>
        </p:txBody>
      </p:sp>
      <p:cxnSp>
        <p:nvCxnSpPr>
          <p:cNvPr id="5" name="Connector 4"/>
          <p:cNvCxnSpPr/>
          <p:nvPr/>
        </p:nvCxnSpPr>
        <p:spPr>
          <a:xfrm flipV="1">
            <a:off x="2091558" y="1965699"/>
            <a:ext cx="2649394" cy="14701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Chapter 14 - Data as Prima Materia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t>COINs Seminar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25BC7-F097-1A40-E181-9FB2A004E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F20A19-1F18-82A0-0DEC-3D9FB2D4D566}"/>
              </a:ext>
            </a:extLst>
          </p:cNvPr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E263A"/>
                </a:solidFill>
              </a:defRPr>
            </a:pPr>
            <a:r>
              <a:t>Connection To Seminar Themes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8545CDA-B107-AE3C-EF64-7C99A49BD801}"/>
              </a:ext>
            </a:extLst>
          </p:cNvPr>
          <p:cNvSpPr/>
          <p:nvPr/>
        </p:nvSpPr>
        <p:spPr>
          <a:xfrm>
            <a:off x="4751587" y="1230370"/>
            <a:ext cx="2377440" cy="1371600"/>
          </a:xfrm>
          <a:prstGeom prst="ellipse">
            <a:avLst/>
          </a:prstGeom>
          <a:solidFill>
            <a:srgbClr val="FFECCD"/>
          </a:solidFill>
          <a:ln>
            <a:solidFill>
              <a:srgbClr val="BA7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solidFill>
                  <a:srgbClr val="1E263A"/>
                </a:solidFill>
              </a:defRPr>
            </a:pPr>
            <a:r>
              <a:rPr lang="en-US">
                <a:ea typeface="+mn-lt"/>
                <a:cs typeface="+mn-lt"/>
              </a:rPr>
              <a:t>Data as Transformation Process</a:t>
            </a:r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6566B87-21BC-64B4-B32C-8D4FD7265493}"/>
              </a:ext>
            </a:extLst>
          </p:cNvPr>
          <p:cNvSpPr/>
          <p:nvPr/>
        </p:nvSpPr>
        <p:spPr>
          <a:xfrm>
            <a:off x="455098" y="3426635"/>
            <a:ext cx="3291840" cy="1371600"/>
          </a:xfrm>
          <a:prstGeom prst="roundRect">
            <a:avLst/>
          </a:prstGeom>
          <a:solidFill>
            <a:srgbClr val="F0F5EE"/>
          </a:solidFill>
          <a:ln>
            <a:solidFill>
              <a:srgbClr val="64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700" b="1">
                <a:solidFill>
                  <a:srgbClr val="1E263A"/>
                </a:solidFill>
              </a:defRPr>
            </a:pPr>
            <a:r>
              <a:t>Honest Signals</a:t>
            </a:r>
          </a:p>
          <a:p>
            <a:pPr algn="ctr">
              <a:defRPr sz="1300">
                <a:solidFill>
                  <a:srgbClr val="505766"/>
                </a:solidFill>
              </a:defRPr>
            </a:pPr>
            <a:endParaRPr lang="en-US" sz="800" b="1">
              <a:solidFill>
                <a:srgbClr val="1E263A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3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Captures </a:t>
            </a:r>
            <a:r>
              <a:rPr lang="en-US" b="1">
                <a:ea typeface="+mn-lt"/>
                <a:cs typeface="+mn-lt"/>
              </a:rPr>
              <a:t>non-self-reported data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  <a:defRPr sz="13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Reveals underlying biological &amp; social states</a:t>
            </a:r>
            <a:endParaRPr lang="en-US"/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0333D3E4-FA16-F7C6-1CEE-D1A30370B870}"/>
              </a:ext>
            </a:extLst>
          </p:cNvPr>
          <p:cNvCxnSpPr/>
          <p:nvPr/>
        </p:nvCxnSpPr>
        <p:spPr>
          <a:xfrm flipV="1">
            <a:off x="2091558" y="1965699"/>
            <a:ext cx="2649394" cy="14701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929B6DC-C0FE-566F-B3BC-4A9934331921}"/>
              </a:ext>
            </a:extLst>
          </p:cNvPr>
          <p:cNvSpPr/>
          <p:nvPr/>
        </p:nvSpPr>
        <p:spPr>
          <a:xfrm>
            <a:off x="4593546" y="4581197"/>
            <a:ext cx="3291840" cy="1371600"/>
          </a:xfrm>
          <a:prstGeom prst="roundRect">
            <a:avLst/>
          </a:prstGeom>
          <a:solidFill>
            <a:srgbClr val="F0F5EE"/>
          </a:solidFill>
          <a:ln>
            <a:solidFill>
              <a:srgbClr val="64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700" b="1">
                <a:solidFill>
                  <a:srgbClr val="1E263A"/>
                </a:solidFill>
              </a:defRPr>
            </a:pPr>
            <a:r>
              <a:t>Swarm Creativity</a:t>
            </a:r>
          </a:p>
          <a:p>
            <a:pPr algn="ctr">
              <a:defRPr sz="1300">
                <a:solidFill>
                  <a:srgbClr val="505766"/>
                </a:solidFill>
              </a:defRPr>
            </a:pPr>
            <a:endParaRPr lang="en-US" sz="800" b="1">
              <a:solidFill>
                <a:srgbClr val="1E263A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3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Patterns emerge from </a:t>
            </a:r>
            <a:r>
              <a:rPr lang="en-US" b="1">
                <a:ea typeface="+mn-lt"/>
                <a:cs typeface="+mn-lt"/>
              </a:rPr>
              <a:t>interaction systems</a:t>
            </a:r>
            <a:r>
              <a:rPr lang="en-US">
                <a:ea typeface="+mn-lt"/>
                <a:cs typeface="+mn-lt"/>
              </a:rPr>
              <a:t> 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3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Meaning is collective, not individual</a:t>
            </a:r>
            <a:endParaRPr lang="en-US"/>
          </a:p>
          <a:p>
            <a:pPr>
              <a:defRPr sz="1300">
                <a:solidFill>
                  <a:srgbClr val="505766"/>
                </a:solidFill>
              </a:defRPr>
            </a:pPr>
            <a:endParaRPr>
              <a:ea typeface="Calibri"/>
              <a:cs typeface="Calibri"/>
            </a:endParaRP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92B73B59-A051-2CAD-1E3E-20B00DEE9323}"/>
              </a:ext>
            </a:extLst>
          </p:cNvPr>
          <p:cNvCxnSpPr/>
          <p:nvPr/>
        </p:nvCxnSpPr>
        <p:spPr>
          <a:xfrm flipH="1" flipV="1">
            <a:off x="6074454" y="2596319"/>
            <a:ext cx="57017" cy="19875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3868259-E5F1-1755-A283-8176B5C5AACB}"/>
              </a:ext>
            </a:extLst>
          </p:cNvPr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Chapter 14 - Data as Prima Materia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9FF39E-8371-20ED-3F2C-A130FD35F84D}"/>
              </a:ext>
            </a:extLst>
          </p:cNvPr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t>COINs Seminar</a:t>
            </a:r>
          </a:p>
        </p:txBody>
      </p:sp>
    </p:spTree>
    <p:extLst>
      <p:ext uri="{BB962C8B-B14F-4D97-AF65-F5344CB8AC3E}">
        <p14:creationId xmlns:p14="http://schemas.microsoft.com/office/powerpoint/2010/main" val="6061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CB7EA-BE9D-E8BE-D1CC-40835CFFA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7BC94E-8EAB-5C36-B198-BAEA69AC07D5}"/>
              </a:ext>
            </a:extLst>
          </p:cNvPr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E263A"/>
                </a:solidFill>
              </a:defRPr>
            </a:pPr>
            <a:r>
              <a:t>Connection To Seminar Themes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EA4B681-EE16-7F59-823C-880777A028FF}"/>
              </a:ext>
            </a:extLst>
          </p:cNvPr>
          <p:cNvSpPr/>
          <p:nvPr/>
        </p:nvSpPr>
        <p:spPr>
          <a:xfrm>
            <a:off x="4751587" y="1230370"/>
            <a:ext cx="2377440" cy="1371600"/>
          </a:xfrm>
          <a:prstGeom prst="ellipse">
            <a:avLst/>
          </a:prstGeom>
          <a:solidFill>
            <a:srgbClr val="FFECCD"/>
          </a:solidFill>
          <a:ln>
            <a:solidFill>
              <a:srgbClr val="BA71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 b="1">
                <a:solidFill>
                  <a:srgbClr val="1E263A"/>
                </a:solidFill>
              </a:defRPr>
            </a:pPr>
            <a:r>
              <a:rPr lang="en-US">
                <a:ea typeface="+mn-lt"/>
                <a:cs typeface="+mn-lt"/>
              </a:rPr>
              <a:t>Data as Transformation Process</a:t>
            </a:r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3E363BF6-35C4-B311-C7A5-9D43C8E0391C}"/>
              </a:ext>
            </a:extLst>
          </p:cNvPr>
          <p:cNvSpPr/>
          <p:nvPr/>
        </p:nvSpPr>
        <p:spPr>
          <a:xfrm>
            <a:off x="455098" y="3426635"/>
            <a:ext cx="3291840" cy="1371600"/>
          </a:xfrm>
          <a:prstGeom prst="roundRect">
            <a:avLst/>
          </a:prstGeom>
          <a:solidFill>
            <a:srgbClr val="F0F5EE"/>
          </a:solidFill>
          <a:ln>
            <a:solidFill>
              <a:srgbClr val="64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700" b="1">
                <a:solidFill>
                  <a:srgbClr val="1E263A"/>
                </a:solidFill>
              </a:defRPr>
            </a:pPr>
            <a:r>
              <a:t>Honest Signals</a:t>
            </a:r>
          </a:p>
          <a:p>
            <a:pPr algn="ctr">
              <a:defRPr sz="1300">
                <a:solidFill>
                  <a:srgbClr val="505766"/>
                </a:solidFill>
              </a:defRPr>
            </a:pPr>
            <a:endParaRPr lang="en-US" sz="800" b="1">
              <a:solidFill>
                <a:srgbClr val="1E263A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3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Captures </a:t>
            </a:r>
            <a:r>
              <a:rPr lang="en-US" b="1">
                <a:ea typeface="+mn-lt"/>
                <a:cs typeface="+mn-lt"/>
              </a:rPr>
              <a:t>non-self-reported data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  <a:defRPr sz="13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Reveals underlying biological &amp; social states</a:t>
            </a:r>
            <a:endParaRPr lang="en-US"/>
          </a:p>
        </p:txBody>
      </p:sp>
      <p:cxnSp>
        <p:nvCxnSpPr>
          <p:cNvPr id="5" name="Connector 4">
            <a:extLst>
              <a:ext uri="{FF2B5EF4-FFF2-40B4-BE49-F238E27FC236}">
                <a16:creationId xmlns:a16="http://schemas.microsoft.com/office/drawing/2014/main" id="{B56D6B28-D1BD-2887-5C82-4356DA5DD00D}"/>
              </a:ext>
            </a:extLst>
          </p:cNvPr>
          <p:cNvCxnSpPr/>
          <p:nvPr/>
        </p:nvCxnSpPr>
        <p:spPr>
          <a:xfrm flipV="1">
            <a:off x="2091558" y="1965699"/>
            <a:ext cx="2649394" cy="14701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321140F-BC60-2200-0B3B-021B87F9DBE4}"/>
              </a:ext>
            </a:extLst>
          </p:cNvPr>
          <p:cNvSpPr/>
          <p:nvPr/>
        </p:nvSpPr>
        <p:spPr>
          <a:xfrm>
            <a:off x="4593546" y="4581197"/>
            <a:ext cx="3291840" cy="1371600"/>
          </a:xfrm>
          <a:prstGeom prst="roundRect">
            <a:avLst/>
          </a:prstGeom>
          <a:solidFill>
            <a:srgbClr val="F0F5EE"/>
          </a:solidFill>
          <a:ln>
            <a:solidFill>
              <a:srgbClr val="64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700" b="1">
                <a:solidFill>
                  <a:srgbClr val="1E263A"/>
                </a:solidFill>
              </a:defRPr>
            </a:pPr>
            <a:r>
              <a:t>Swarm Creativity</a:t>
            </a:r>
          </a:p>
          <a:p>
            <a:pPr algn="ctr">
              <a:defRPr sz="1300">
                <a:solidFill>
                  <a:srgbClr val="505766"/>
                </a:solidFill>
              </a:defRPr>
            </a:pPr>
            <a:endParaRPr lang="en-US" sz="800" b="1">
              <a:solidFill>
                <a:srgbClr val="1E263A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3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Patterns emerge from </a:t>
            </a:r>
            <a:r>
              <a:rPr lang="en-US" b="1">
                <a:ea typeface="+mn-lt"/>
                <a:cs typeface="+mn-lt"/>
              </a:rPr>
              <a:t>interaction systems</a:t>
            </a:r>
            <a:r>
              <a:rPr lang="en-US">
                <a:ea typeface="+mn-lt"/>
                <a:cs typeface="+mn-lt"/>
              </a:rPr>
              <a:t> 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3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Meaning is collective, not individual</a:t>
            </a:r>
            <a:endParaRPr lang="en-US"/>
          </a:p>
          <a:p>
            <a:pPr>
              <a:defRPr sz="1300">
                <a:solidFill>
                  <a:srgbClr val="505766"/>
                </a:solidFill>
              </a:defRPr>
            </a:pPr>
            <a:endParaRPr>
              <a:ea typeface="Calibri"/>
              <a:cs typeface="Calibri"/>
            </a:endParaRPr>
          </a:p>
        </p:txBody>
      </p:sp>
      <p:cxnSp>
        <p:nvCxnSpPr>
          <p:cNvPr id="7" name="Connector 6">
            <a:extLst>
              <a:ext uri="{FF2B5EF4-FFF2-40B4-BE49-F238E27FC236}">
                <a16:creationId xmlns:a16="http://schemas.microsoft.com/office/drawing/2014/main" id="{20A15C88-7977-43FC-F787-5BAC9EF78930}"/>
              </a:ext>
            </a:extLst>
          </p:cNvPr>
          <p:cNvCxnSpPr/>
          <p:nvPr/>
        </p:nvCxnSpPr>
        <p:spPr>
          <a:xfrm flipH="1" flipV="1">
            <a:off x="6074454" y="2596319"/>
            <a:ext cx="57017" cy="19875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401500B-F667-AC2B-4757-68799D3ED2C9}"/>
              </a:ext>
            </a:extLst>
          </p:cNvPr>
          <p:cNvSpPr/>
          <p:nvPr/>
        </p:nvSpPr>
        <p:spPr>
          <a:xfrm>
            <a:off x="8414740" y="3446868"/>
            <a:ext cx="3291840" cy="1371600"/>
          </a:xfrm>
          <a:prstGeom prst="roundRect">
            <a:avLst/>
          </a:prstGeom>
          <a:solidFill>
            <a:srgbClr val="F0F5EE"/>
          </a:solidFill>
          <a:ln>
            <a:solidFill>
              <a:srgbClr val="6482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700" b="1">
                <a:solidFill>
                  <a:srgbClr val="1E263A"/>
                </a:solidFill>
              </a:defRPr>
            </a:pPr>
            <a:r>
              <a:t>Alchemical Stages</a:t>
            </a:r>
          </a:p>
          <a:p>
            <a:pPr algn="ctr">
              <a:defRPr sz="1300">
                <a:solidFill>
                  <a:srgbClr val="505766"/>
                </a:solidFill>
              </a:defRPr>
            </a:pPr>
            <a:endParaRPr lang="en-US" sz="800" b="1">
              <a:solidFill>
                <a:srgbClr val="1E263A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300">
                <a:solidFill>
                  <a:srgbClr val="505766"/>
                </a:solidFill>
              </a:defRPr>
            </a:pPr>
            <a:r>
              <a:rPr lang="en-US" err="1">
                <a:ea typeface="+mn-lt"/>
                <a:cs typeface="+mn-lt"/>
              </a:rPr>
              <a:t>Nigredo</a:t>
            </a:r>
            <a:r>
              <a:rPr lang="en-US">
                <a:ea typeface="+mn-lt"/>
                <a:cs typeface="+mn-lt"/>
              </a:rPr>
              <a:t> → Albedo → </a:t>
            </a:r>
            <a:r>
              <a:rPr lang="en-US" err="1">
                <a:ea typeface="+mn-lt"/>
                <a:cs typeface="+mn-lt"/>
              </a:rPr>
              <a:t>Citrinitas</a:t>
            </a:r>
            <a:r>
              <a:rPr lang="en-US">
                <a:ea typeface="+mn-lt"/>
                <a:cs typeface="+mn-lt"/>
              </a:rPr>
              <a:t> → </a:t>
            </a:r>
            <a:r>
              <a:rPr lang="en-US" err="1">
                <a:ea typeface="+mn-lt"/>
                <a:cs typeface="+mn-lt"/>
              </a:rPr>
              <a:t>Rubedo</a:t>
            </a:r>
            <a:r>
              <a:rPr lang="en-US">
                <a:ea typeface="+mn-lt"/>
                <a:cs typeface="+mn-lt"/>
              </a:rPr>
              <a:t> </a:t>
            </a:r>
          </a:p>
          <a:p>
            <a:pPr marL="285750" indent="-285750">
              <a:buFont typeface="Arial"/>
              <a:buChar char="•"/>
              <a:defRPr sz="13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Structured transformation pipeline</a:t>
            </a:r>
            <a:endParaRPr lang="en-US"/>
          </a:p>
          <a:p>
            <a:pPr>
              <a:defRPr sz="1300">
                <a:solidFill>
                  <a:srgbClr val="505766"/>
                </a:solidFill>
              </a:defRPr>
            </a:pPr>
            <a:endParaRPr>
              <a:ea typeface="Calibri"/>
              <a:cs typeface="Calibri"/>
            </a:endParaRP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EB4CD074-1013-3718-7FED-01AF190C7C01}"/>
              </a:ext>
            </a:extLst>
          </p:cNvPr>
          <p:cNvCxnSpPr>
            <a:cxnSpLocks/>
          </p:cNvCxnSpPr>
          <p:nvPr/>
        </p:nvCxnSpPr>
        <p:spPr>
          <a:xfrm flipH="1" flipV="1">
            <a:off x="7092644" y="2044788"/>
            <a:ext cx="2924924" cy="13889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C5E4D0-BC2C-8F20-0DD1-FC065EBE2173}"/>
              </a:ext>
            </a:extLst>
          </p:cNvPr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Chapter 14 - Data as Prima Materia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4D6F1F-A6E6-DE2F-B715-69DF192A6ED1}"/>
              </a:ext>
            </a:extLst>
          </p:cNvPr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t>COINs Seminar</a:t>
            </a:r>
          </a:p>
        </p:txBody>
      </p:sp>
    </p:spTree>
    <p:extLst>
      <p:ext uri="{BB962C8B-B14F-4D97-AF65-F5344CB8AC3E}">
        <p14:creationId xmlns:p14="http://schemas.microsoft.com/office/powerpoint/2010/main" val="1359373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4713" y="115601"/>
            <a:ext cx="10272236" cy="58477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800" b="1">
                <a:solidFill>
                  <a:srgbClr val="1E263A"/>
                </a:solidFill>
              </a:defRPr>
            </a:pPr>
            <a:r>
              <a:rPr sz="3200"/>
              <a:t>From Prima Materia To Judgment: The Operational Pipeline</a:t>
            </a:r>
            <a:endParaRPr lang="en-US" sz="3200">
              <a:ea typeface="Calibri"/>
              <a:cs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29300" y="1889388"/>
            <a:ext cx="2286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424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E263A"/>
                </a:solidFill>
              </a:defRPr>
            </a:pPr>
            <a:r>
              <a:t>Nigredo</a:t>
            </a:r>
          </a:p>
          <a:p>
            <a:pPr algn="ctr">
              <a:defRPr sz="1300">
                <a:solidFill>
                  <a:srgbClr val="505766"/>
                </a:solidFill>
              </a:defRPr>
            </a:pPr>
            <a:r>
              <a:t>Collect + clean</a:t>
            </a:r>
            <a:br/>
            <a:r>
              <a:t>raw noisy signals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961019" y="2529468"/>
            <a:ext cx="548640" cy="548640"/>
          </a:xfrm>
          <a:prstGeom prst="rightArrow">
            <a:avLst/>
          </a:prstGeom>
          <a:solidFill>
            <a:srgbClr val="505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55380" y="1889388"/>
            <a:ext cx="2286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424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E263A"/>
                </a:solidFill>
              </a:defRPr>
            </a:pPr>
            <a:r>
              <a:t>Albedo</a:t>
            </a:r>
          </a:p>
          <a:p>
            <a:pPr algn="ctr">
              <a:defRPr sz="1300">
                <a:solidFill>
                  <a:srgbClr val="505766"/>
                </a:solidFill>
              </a:defRPr>
            </a:pPr>
            <a:r>
              <a:t>Extract features</a:t>
            </a:r>
            <a:br>
              <a:rPr/>
            </a:br>
            <a:r>
              <a:t>(spectrograms, network metrics)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887100" y="2529468"/>
            <a:ext cx="548640" cy="548640"/>
          </a:xfrm>
          <a:prstGeom prst="rightArrow">
            <a:avLst/>
          </a:prstGeom>
          <a:solidFill>
            <a:srgbClr val="505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81460" y="1889388"/>
            <a:ext cx="2286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424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E263A"/>
                </a:solidFill>
              </a:defRPr>
            </a:pPr>
            <a:r>
              <a:t>Citrinitas</a:t>
            </a:r>
          </a:p>
          <a:p>
            <a:pPr algn="ctr">
              <a:defRPr sz="1300">
                <a:solidFill>
                  <a:srgbClr val="505766"/>
                </a:solidFill>
              </a:defRPr>
            </a:pPr>
            <a:r>
              <a:t>Train models</a:t>
            </a:r>
            <a:br/>
            <a:r>
              <a:t>(pattern learning)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8813180" y="2529468"/>
            <a:ext cx="548640" cy="548640"/>
          </a:xfrm>
          <a:prstGeom prst="rightArrow">
            <a:avLst/>
          </a:prstGeom>
          <a:solidFill>
            <a:srgbClr val="505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407540" y="1889388"/>
            <a:ext cx="2286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424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1E263A"/>
                </a:solidFill>
              </a:defRPr>
            </a:pPr>
            <a:r>
              <a:t>Rubedo</a:t>
            </a:r>
          </a:p>
          <a:p>
            <a:pPr algn="ctr">
              <a:defRPr sz="1300">
                <a:solidFill>
                  <a:srgbClr val="505766"/>
                </a:solidFill>
              </a:defRPr>
            </a:pPr>
            <a:r>
              <a:t>Human interpretation</a:t>
            </a:r>
            <a:br/>
            <a:r>
              <a:t>(action + ethics)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Chapter 14 - Data as Prima Materia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t>COINs Seminar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E0FFCF-2E34-C654-3E35-D2417ACCBDA3}"/>
              </a:ext>
            </a:extLst>
          </p:cNvPr>
          <p:cNvSpPr txBox="1"/>
          <p:nvPr/>
        </p:nvSpPr>
        <p:spPr>
          <a:xfrm>
            <a:off x="2645397" y="702382"/>
            <a:ext cx="708561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"The gold was always in the lead. The pattern was always in the data."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E49790-74BE-057C-1054-FB9AE95D02DE}"/>
              </a:ext>
            </a:extLst>
          </p:cNvPr>
          <p:cNvSpPr txBox="1"/>
          <p:nvPr/>
        </p:nvSpPr>
        <p:spPr>
          <a:xfrm>
            <a:off x="874477" y="4841729"/>
            <a:ext cx="1062865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The alchemical four-stage structure (</a:t>
            </a:r>
            <a:r>
              <a:rPr lang="en-US" sz="1600" err="1">
                <a:solidFill>
                  <a:srgbClr val="000000"/>
                </a:solidFill>
                <a:ea typeface="+mn-lt"/>
                <a:cs typeface="+mn-lt"/>
              </a:rPr>
              <a:t>nigredo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 → albedo → </a:t>
            </a:r>
            <a:r>
              <a:rPr lang="en-US" sz="1600" err="1">
                <a:solidFill>
                  <a:srgbClr val="000000"/>
                </a:solidFill>
                <a:ea typeface="+mn-lt"/>
                <a:cs typeface="+mn-lt"/>
              </a:rPr>
              <a:t>citrinitas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 → </a:t>
            </a:r>
            <a:r>
              <a:rPr lang="en-US" sz="1600" err="1">
                <a:solidFill>
                  <a:srgbClr val="000000"/>
                </a:solidFill>
                <a:ea typeface="+mn-lt"/>
                <a:cs typeface="+mn-lt"/>
              </a:rPr>
              <a:t>rubedo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) is not a metaphor for machine learning.</a:t>
            </a:r>
          </a:p>
          <a:p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It is the same operation performed on different materials. </a:t>
            </a:r>
            <a:endParaRPr lang="en-US" sz="160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400505" cy="67710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800" b="1">
                <a:solidFill>
                  <a:srgbClr val="1E263A"/>
                </a:solidFill>
              </a:defRPr>
            </a:pPr>
            <a:r>
              <a:t>Method/Data Slide</a:t>
            </a:r>
            <a:r>
              <a:rPr lang="en-US"/>
              <a:t>:</a:t>
            </a:r>
            <a:r>
              <a:t> Plant Signal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5303520" cy="4389120"/>
          </a:xfrm>
          <a:prstGeom prst="roundRect">
            <a:avLst/>
          </a:prstGeom>
          <a:solidFill>
            <a:srgbClr val="EEF7EB"/>
          </a:solidFill>
          <a:ln>
            <a:solidFill>
              <a:srgbClr val="5E8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 sz="1600">
                <a:solidFill>
                  <a:srgbClr val="1E263A"/>
                </a:solidFill>
              </a:defRPr>
            </a:pPr>
            <a:r>
              <a:rPr lang="en-US" sz="2000" b="1">
                <a:solidFill>
                  <a:srgbClr val="1E263A"/>
                </a:solidFill>
                <a:ea typeface="+mn-lt"/>
                <a:cs typeface="+mn-lt"/>
              </a:rPr>
              <a:t>Data Pipeline:</a:t>
            </a:r>
            <a:endParaRPr lang="en-US" b="1"/>
          </a:p>
          <a:p>
            <a:pPr>
              <a:defRPr sz="1600">
                <a:solidFill>
                  <a:srgbClr val="505766"/>
                </a:solidFill>
              </a:defRPr>
            </a:pPr>
            <a:endParaRPr lang="en-US">
              <a:solidFill>
                <a:srgbClr val="1E263A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 b="1">
                <a:solidFill>
                  <a:srgbClr val="505766"/>
                </a:solidFill>
                <a:ea typeface="+mn-lt"/>
                <a:cs typeface="+mn-lt"/>
              </a:rPr>
              <a:t>Data source</a:t>
            </a:r>
            <a:r>
              <a:rPr lang="en-US" b="1">
                <a:solidFill>
                  <a:srgbClr val="1E263A"/>
                </a:solidFill>
                <a:ea typeface="+mn-lt"/>
                <a:cs typeface="+mn-lt"/>
              </a:rPr>
              <a:t>:</a:t>
            </a:r>
            <a:r>
              <a:rPr lang="en-US">
                <a:solidFill>
                  <a:srgbClr val="1E263A"/>
                </a:solidFill>
                <a:ea typeface="+mn-lt"/>
                <a:cs typeface="+mn-lt"/>
              </a:rPr>
              <a:t> ESP32 + AD8232 bioelectric signals </a:t>
            </a:r>
            <a:endParaRPr lang="en-US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endParaRPr lang="en-US" sz="800">
              <a:solidFill>
                <a:srgbClr val="1E263A"/>
              </a:solidFill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 b="1">
                <a:ea typeface="Calibri"/>
                <a:cs typeface="Calibri"/>
              </a:rPr>
              <a:t>Preprocessing:</a:t>
            </a:r>
            <a:r>
              <a:rPr lang="en-US">
                <a:ea typeface="Calibri"/>
                <a:cs typeface="Calibri"/>
              </a:rPr>
              <a:t> noise removal (50Hz), normalization, segmentation (5s windows) </a:t>
            </a: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endParaRPr lang="en-US" sz="8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 b="1">
                <a:ea typeface="+mn-lt"/>
                <a:cs typeface="+mn-lt"/>
              </a:rPr>
              <a:t>Feature extraction:</a:t>
            </a:r>
            <a:r>
              <a:rPr lang="en-US">
                <a:ea typeface="+mn-lt"/>
                <a:cs typeface="+mn-lt"/>
              </a:rPr>
              <a:t> mel-spectrogram transformation 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endParaRPr lang="en-US" sz="8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 b="1">
                <a:ea typeface="+mn-lt"/>
                <a:cs typeface="+mn-lt"/>
              </a:rPr>
              <a:t>Models:</a:t>
            </a:r>
            <a:r>
              <a:rPr lang="en-US">
                <a:ea typeface="+mn-lt"/>
                <a:cs typeface="+mn-lt"/>
              </a:rPr>
              <a:t> ResNet18, </a:t>
            </a:r>
            <a:r>
              <a:rPr lang="en-US" err="1">
                <a:ea typeface="+mn-lt"/>
                <a:cs typeface="+mn-lt"/>
              </a:rPr>
              <a:t>XGBoost</a:t>
            </a:r>
            <a:r>
              <a:rPr lang="en-US">
                <a:ea typeface="+mn-lt"/>
                <a:cs typeface="+mn-lt"/>
              </a:rPr>
              <a:t> </a:t>
            </a:r>
            <a:br>
              <a:rPr lang="en-US">
                <a:ea typeface="+mn-lt"/>
                <a:cs typeface="+mn-lt"/>
              </a:rPr>
            </a:br>
            <a:endParaRPr lang="en-US" sz="80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 b="1">
                <a:ea typeface="+mn-lt"/>
                <a:cs typeface="+mn-lt"/>
              </a:rPr>
              <a:t>Result:</a:t>
            </a:r>
            <a:r>
              <a:rPr lang="en-US">
                <a:ea typeface="+mn-lt"/>
                <a:cs typeface="+mn-lt"/>
              </a:rPr>
              <a:t> ~95% classification accuracy (plant layer)</a:t>
            </a:r>
          </a:p>
          <a:p>
            <a:pPr algn="ctr">
              <a:defRPr sz="1600">
                <a:solidFill>
                  <a:srgbClr val="505766"/>
                </a:solidFill>
              </a:defRPr>
            </a:pPr>
            <a:endParaRPr lang="en-US">
              <a:solidFill>
                <a:srgbClr val="1E263A"/>
              </a:solidFill>
              <a:ea typeface="Calibri"/>
              <a:cs typeface="Calibr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309360" y="1463040"/>
            <a:ext cx="5303520" cy="4389120"/>
          </a:xfrm>
          <a:prstGeom prst="roundRect">
            <a:avLst/>
          </a:prstGeom>
          <a:solidFill>
            <a:srgbClr val="F5F2EC"/>
          </a:solidFill>
          <a:ln>
            <a:solidFill>
              <a:srgbClr val="A87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 sz="2000" b="1">
                <a:solidFill>
                  <a:srgbClr val="1E263A"/>
                </a:solidFill>
              </a:defRPr>
            </a:pPr>
            <a:r>
              <a:t>Why this </a:t>
            </a:r>
            <a:r>
              <a:rPr lang="en-US"/>
              <a:t>matters:</a:t>
            </a:r>
            <a:endParaRPr lang="en-US">
              <a:ea typeface="Calibri"/>
              <a:cs typeface="Calibri"/>
            </a:endParaRPr>
          </a:p>
          <a:p>
            <a:pPr algn="ctr">
              <a:defRPr sz="1600">
                <a:solidFill>
                  <a:srgbClr val="505766"/>
                </a:solidFill>
              </a:defRPr>
            </a:pPr>
            <a:endParaRPr lang="en-US" sz="1600" b="1">
              <a:solidFill>
                <a:srgbClr val="1E263A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Demonstrates a real, reproducible pipeline (not just metaphor) 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endParaRPr lang="en-US" sz="8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Identifies stages where noise, bias, or errors can enter 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endParaRPr lang="en-US" sz="8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Shows how raw signals become honest signals through processing 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endParaRPr lang="en-US" sz="80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  <a:defRPr sz="16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Raises question: can this pipeline generalize beyond controlled settings?</a:t>
            </a:r>
            <a:endParaRPr lang="en-US"/>
          </a:p>
          <a:p>
            <a:pPr>
              <a:defRPr sz="1600">
                <a:solidFill>
                  <a:srgbClr val="505766"/>
                </a:solidFill>
              </a:defRPr>
            </a:pPr>
            <a:endParaRPr lang="en-US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Chapter 14 - Data as Prima Materia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t>COINs Seminar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87616" y="338625"/>
            <a:ext cx="9732344" cy="58477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800" b="1">
                <a:solidFill>
                  <a:srgbClr val="1E263A"/>
                </a:solidFill>
              </a:defRPr>
            </a:pPr>
            <a:r>
              <a:rPr sz="3200"/>
              <a:t>Where The Chapter Is Strong</a:t>
            </a:r>
            <a:r>
              <a:rPr lang="en-US" sz="3200" dirty="0"/>
              <a:t> </a:t>
            </a:r>
            <a:r>
              <a:rPr sz="3200"/>
              <a:t>And Where It Is Vulnerable</a:t>
            </a:r>
            <a:endParaRPr lang="en-US" sz="3200">
              <a:ea typeface="Calibri"/>
              <a:cs typeface="Calibri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789920" cy="914400"/>
          </a:xfrm>
          <a:prstGeom prst="roundRect">
            <a:avLst/>
          </a:prstGeom>
          <a:solidFill>
            <a:srgbClr val="EBF5EE"/>
          </a:solidFill>
          <a:ln>
            <a:solidFill>
              <a:srgbClr val="547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>
                <a:solidFill>
                  <a:srgbClr val="1E263A"/>
                </a:solidFill>
              </a:defRPr>
            </a:pPr>
            <a:r>
              <a:rPr lang="en-US">
                <a:ea typeface="+mn-lt"/>
                <a:cs typeface="+mn-lt"/>
              </a:rPr>
              <a:t>Cross-layer architecture is coherent: same transformation applied across domains.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697480"/>
            <a:ext cx="10789920" cy="914400"/>
          </a:xfrm>
          <a:prstGeom prst="roundRect">
            <a:avLst/>
          </a:prstGeom>
          <a:solidFill>
            <a:srgbClr val="EBF5EE"/>
          </a:solidFill>
          <a:ln>
            <a:solidFill>
              <a:srgbClr val="547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>
                <a:solidFill>
                  <a:srgbClr val="1E263A"/>
                </a:solidFill>
              </a:defRPr>
            </a:pPr>
            <a:r>
              <a:rPr lang="en-US">
                <a:ea typeface="+mn-lt"/>
                <a:cs typeface="+mn-lt"/>
              </a:rPr>
              <a:t>Includes concrete tools, models, and measurable metrics (not only philosophy).</a:t>
            </a:r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731520" y="3840480"/>
            <a:ext cx="10789920" cy="914400"/>
          </a:xfrm>
          <a:prstGeom prst="roundRect">
            <a:avLst/>
          </a:prstGeom>
          <a:solidFill>
            <a:srgbClr val="FCEFEB"/>
          </a:solidFill>
          <a:ln>
            <a:solidFill>
              <a:srgbClr val="A86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>
                <a:solidFill>
                  <a:srgbClr val="1E263A"/>
                </a:solidFill>
              </a:defRPr>
            </a:pPr>
            <a:r>
              <a:rPr lang="en-US">
                <a:ea typeface="+mn-lt"/>
                <a:cs typeface="+mn-lt"/>
              </a:rPr>
              <a:t>Assumes models “discover” structure — but bias and label design may shape outcomes.</a:t>
            </a:r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731520" y="4983480"/>
            <a:ext cx="10789920" cy="914400"/>
          </a:xfrm>
          <a:prstGeom prst="roundRect">
            <a:avLst/>
          </a:prstGeom>
          <a:solidFill>
            <a:srgbClr val="FCEFEB"/>
          </a:solidFill>
          <a:ln>
            <a:solidFill>
              <a:srgbClr val="A867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800">
                <a:solidFill>
                  <a:srgbClr val="1E263A"/>
                </a:solidFill>
              </a:defRPr>
            </a:pPr>
            <a:r>
              <a:rPr lang="en-US">
                <a:ea typeface="+mn-lt"/>
                <a:cs typeface="+mn-lt"/>
              </a:rPr>
              <a:t>Performance varies across layers (~95% plant vs ~55% animal), limiting generalization.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Chapter 14 - Data as Prima Materia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t>COINs Seminar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2380633" cy="126188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800" b="1">
                <a:solidFill>
                  <a:srgbClr val="1E263A"/>
                </a:solidFill>
              </a:defRPr>
            </a:pPr>
            <a:r>
              <a:t>Tool Integration Logic (Use This Verbatim In </a:t>
            </a:r>
            <a:r>
              <a:rPr lang="en-US"/>
              <a:t>Presentation</a:t>
            </a:r>
            <a:r>
              <a:t>)</a:t>
            </a:r>
          </a:p>
          <a:p>
            <a:pPr>
              <a:defRPr sz="3800" b="1">
                <a:solidFill>
                  <a:srgbClr val="1E263A"/>
                </a:solidFill>
              </a:defRPr>
            </a:pPr>
            <a:r>
              <a:rPr lang="en-US">
                <a:solidFill>
                  <a:srgbClr val="C00000"/>
                </a:solidFill>
                <a:ea typeface="Calibri"/>
                <a:cs typeface="Calibri"/>
              </a:rPr>
              <a:t>(</a:t>
            </a:r>
            <a:r>
              <a:rPr lang="en-US" err="1">
                <a:solidFill>
                  <a:srgbClr val="C00000"/>
                </a:solidFill>
                <a:ea typeface="Calibri"/>
                <a:cs typeface="Calibri"/>
              </a:rPr>
              <a:t>Zuraiz</a:t>
            </a:r>
            <a:r>
              <a:rPr lang="en-US">
                <a:solidFill>
                  <a:srgbClr val="C00000"/>
                </a:solidFill>
                <a:ea typeface="Calibri"/>
                <a:cs typeface="Calibri"/>
              </a:rPr>
              <a:t>: Yahaa par </a:t>
            </a:r>
            <a:r>
              <a:rPr lang="en-US" err="1">
                <a:solidFill>
                  <a:srgbClr val="C00000"/>
                </a:solidFill>
                <a:ea typeface="Calibri"/>
                <a:cs typeface="Calibri"/>
              </a:rPr>
              <a:t>daik</a:t>
            </a:r>
            <a:r>
              <a:rPr lang="en-US">
                <a:solidFill>
                  <a:srgbClr val="C00000"/>
                </a:solidFill>
                <a:ea typeface="Calibri"/>
                <a:cs typeface="Calibri"/>
              </a:rPr>
              <a:t> lay agar </a:t>
            </a:r>
            <a:r>
              <a:rPr lang="en-US" err="1">
                <a:solidFill>
                  <a:srgbClr val="C00000"/>
                </a:solidFill>
                <a:ea typeface="Calibri"/>
                <a:cs typeface="Calibri"/>
              </a:rPr>
              <a:t>kuch</a:t>
            </a:r>
            <a:r>
              <a:rPr lang="en-US">
                <a:solidFill>
                  <a:srgbClr val="C00000"/>
                </a:solidFill>
                <a:ea typeface="Calibri"/>
                <a:cs typeface="Calibri"/>
              </a:rPr>
              <a:t> add </a:t>
            </a:r>
            <a:r>
              <a:rPr lang="en-US" err="1">
                <a:solidFill>
                  <a:srgbClr val="C00000"/>
                </a:solidFill>
                <a:ea typeface="Calibri"/>
                <a:cs typeface="Calibri"/>
              </a:rPr>
              <a:t>karna</a:t>
            </a:r>
            <a:r>
              <a:rPr lang="en-US">
                <a:solidFill>
                  <a:srgbClr val="C00000"/>
                </a:solidFill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C00000"/>
                </a:solidFill>
                <a:ea typeface="Calibri"/>
                <a:cs typeface="Calibri"/>
              </a:rPr>
              <a:t>hai</a:t>
            </a:r>
            <a:r>
              <a:rPr lang="en-US">
                <a:solidFill>
                  <a:srgbClr val="C00000"/>
                </a:solidFill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C00000"/>
                </a:solidFill>
                <a:ea typeface="Calibri"/>
                <a:cs typeface="Calibri"/>
              </a:rPr>
              <a:t>tu</a:t>
            </a:r>
            <a:r>
              <a:rPr lang="en-US">
                <a:solidFill>
                  <a:srgbClr val="C00000"/>
                </a:solidFill>
                <a:ea typeface="Calibri"/>
                <a:cs typeface="Calibri"/>
              </a:rPr>
              <a:t> </a:t>
            </a:r>
            <a:r>
              <a:rPr lang="en-US" err="1">
                <a:solidFill>
                  <a:srgbClr val="C00000"/>
                </a:solidFill>
                <a:ea typeface="Calibri"/>
                <a:cs typeface="Calibri"/>
              </a:rPr>
              <a:t>karlay</a:t>
            </a:r>
            <a:r>
              <a:rPr lang="en-US">
                <a:solidFill>
                  <a:srgbClr val="C00000"/>
                </a:solidFill>
                <a:ea typeface="Calibri"/>
                <a:cs typeface="Calibri"/>
              </a:rPr>
              <a:t>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698480" cy="1554480"/>
          </a:xfrm>
          <a:prstGeom prst="roundRect">
            <a:avLst/>
          </a:prstGeom>
          <a:solidFill>
            <a:srgbClr val="E3EEFF"/>
          </a:solidFill>
          <a:ln>
            <a:solidFill>
              <a:srgbClr val="577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03659"/>
                </a:solidFill>
              </a:defRPr>
            </a:pPr>
            <a:r>
              <a:t>"Here is what the tool said about us. Here is what Chapter 14 predicts it should say. Here is where they disagree - and that disagreement is our discussion question."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74720"/>
            <a:ext cx="10698480" cy="2286000"/>
          </a:xfrm>
          <a:prstGeom prst="rect">
            <a:avLst/>
          </a:prstGeom>
          <a:solidFill>
            <a:srgbClr val="F9F9F9"/>
          </a:solidFill>
          <a:ln>
            <a:solidFill>
              <a:srgbClr val="B9B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900">
                <a:solidFill>
                  <a:srgbClr val="505766"/>
                </a:solidFill>
              </a:defRPr>
            </a:pPr>
            <a:r>
              <a:t>Step 1: Report each tool output without interpretation first.</a:t>
            </a:r>
            <a:endParaRPr lang="en-US">
              <a:ea typeface="Calibri"/>
              <a:cs typeface="Calibri"/>
            </a:endParaRPr>
          </a:p>
          <a:p>
            <a:pPr algn="ctr">
              <a:defRPr sz="1900">
                <a:solidFill>
                  <a:srgbClr val="505766"/>
                </a:solidFill>
              </a:defRPr>
            </a:pPr>
            <a:r>
              <a:t>Step 2: State Chapter 14 prediction (pipeline + honest signals logic).</a:t>
            </a:r>
            <a:endParaRPr lang="en-US">
              <a:ea typeface="Calibri"/>
              <a:cs typeface="Calibri"/>
            </a:endParaRPr>
          </a:p>
          <a:p>
            <a:pPr algn="ctr">
              <a:defRPr sz="1900">
                <a:solidFill>
                  <a:srgbClr val="505766"/>
                </a:solidFill>
              </a:defRPr>
            </a:pPr>
            <a:r>
              <a:t>Step 3: Mark disagreement and convert it into a question for class.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Chapter 14 - Data as Prima Materia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t>COINs Seminar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ool_matrix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320040"/>
            <a:ext cx="11289309" cy="67710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800" b="1">
                <a:solidFill>
                  <a:srgbClr val="1E263A"/>
                </a:solidFill>
              </a:defRPr>
            </a:pPr>
            <a:r>
              <a:t>All Four Tools As Live Evidence</a:t>
            </a:r>
            <a:r>
              <a:rPr lang="en-US"/>
              <a:t> </a:t>
            </a:r>
            <a:r>
              <a:rPr lang="en-US">
                <a:solidFill>
                  <a:srgbClr val="C00000"/>
                </a:solidFill>
              </a:rPr>
              <a:t>(yah par data </a:t>
            </a:r>
            <a:r>
              <a:rPr lang="en-US" err="1">
                <a:solidFill>
                  <a:srgbClr val="C00000"/>
                </a:solidFill>
              </a:rPr>
              <a:t>daal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 err="1">
                <a:solidFill>
                  <a:srgbClr val="C00000"/>
                </a:solidFill>
              </a:rPr>
              <a:t>daay</a:t>
            </a:r>
            <a:r>
              <a:rPr lang="en-US">
                <a:solidFill>
                  <a:srgbClr val="C00000"/>
                </a:solidFill>
              </a:rPr>
              <a:t>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5F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E263A"/>
                </a:solidFill>
              </a:defRPr>
            </a:pPr>
            <a:r>
              <a:t>Symbiont Analyzer</a:t>
            </a:r>
          </a:p>
          <a:p>
            <a:pPr>
              <a:defRPr sz="1200">
                <a:solidFill>
                  <a:srgbClr val="505766"/>
                </a:solidFill>
              </a:defRPr>
            </a:pPr>
            <a:r>
              <a:t>Tool said: [insert your archetype + top words]</a:t>
            </a:r>
            <a:br/>
            <a:r>
              <a:t>Chapter predicts: stable role signals in communication</a:t>
            </a:r>
            <a:br/>
            <a:r>
              <a:t>Disagreement: does role fit lived team behavior?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5F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E263A"/>
                </a:solidFill>
              </a:defRPr>
            </a:pPr>
            <a:r>
              <a:t>SC Chat Analyzer</a:t>
            </a:r>
          </a:p>
          <a:p>
            <a:pPr>
              <a:defRPr sz="1200">
                <a:solidFill>
                  <a:srgbClr val="505766"/>
                </a:solidFill>
              </a:defRPr>
            </a:pPr>
            <a:r>
              <a:t>Tool said: [insert role + latency + graph]</a:t>
            </a:r>
            <a:br/>
            <a:r>
              <a:t>Chapter predicts: network structure should expose hidden coordination</a:t>
            </a:r>
            <a:br/>
            <a:r>
              <a:t>Disagreement: centrality = leadership or overload risk?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84048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5F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E263A"/>
                </a:solidFill>
              </a:defRPr>
            </a:pPr>
            <a:r>
              <a:t>Perceptiface</a:t>
            </a:r>
          </a:p>
          <a:p>
            <a:pPr>
              <a:defRPr sz="1200">
                <a:solidFill>
                  <a:srgbClr val="505766"/>
                </a:solidFill>
              </a:defRPr>
            </a:pPr>
            <a:r>
              <a:t>Tool said: [insert dominant emotion + FFI]</a:t>
            </a:r>
            <a:br/>
            <a:r>
              <a:t>Chapter predicts: non-conscious micro-signals reveal state</a:t>
            </a:r>
            <a:br/>
            <a:r>
              <a:t>Disagreement: context effects vs true stable trait?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3840480"/>
            <a:ext cx="52120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5F70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E263A"/>
                </a:solidFill>
              </a:defRPr>
            </a:pPr>
            <a:r>
              <a:t>Beecome</a:t>
            </a:r>
          </a:p>
          <a:p>
            <a:pPr>
              <a:defRPr sz="1200">
                <a:solidFill>
                  <a:srgbClr val="505766"/>
                </a:solidFill>
              </a:defRPr>
            </a:pPr>
            <a:r>
              <a:t>Tool said: [insert FFI from choices]</a:t>
            </a:r>
            <a:br/>
            <a:r>
              <a:t>Chapter predicts: behavioral choices reveal personality</a:t>
            </a:r>
            <a:br/>
            <a:r>
              <a:t>Disagreement: why Beecome and Perceptiface diverge?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Chapter 14 - Data as Prima Materia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t>COINs Seminar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96E5F-54DE-776C-C99C-B2B4B882D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B6B5B6-0326-42AA-A935-ECDC18C09E21}"/>
              </a:ext>
            </a:extLst>
          </p:cNvPr>
          <p:cNvSpPr txBox="1"/>
          <p:nvPr/>
        </p:nvSpPr>
        <p:spPr>
          <a:xfrm>
            <a:off x="548640" y="320040"/>
            <a:ext cx="4558620" cy="67710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800" b="1">
                <a:solidFill>
                  <a:srgbClr val="1E263A"/>
                </a:solidFill>
              </a:defRPr>
            </a:pPr>
            <a:r>
              <a:t>Discussion Questions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FAACBDC-5E15-1A70-C7F5-2A3E5140563F}"/>
              </a:ext>
            </a:extLst>
          </p:cNvPr>
          <p:cNvSpPr/>
          <p:nvPr/>
        </p:nvSpPr>
        <p:spPr>
          <a:xfrm>
            <a:off x="731520" y="155448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58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900" b="1">
                <a:solidFill>
                  <a:srgbClr val="293854"/>
                </a:solidFill>
              </a:defRPr>
            </a:pPr>
            <a:r>
              <a:t>Question 1 </a:t>
            </a:r>
            <a:r>
              <a:rPr lang="en-US"/>
              <a:t>– </a:t>
            </a:r>
            <a:r>
              <a:t>Clarify</a:t>
            </a:r>
            <a:endParaRPr lang="en-US"/>
          </a:p>
          <a:p>
            <a:pPr algn="ctr">
              <a:defRPr sz="1500">
                <a:solidFill>
                  <a:srgbClr val="505766"/>
                </a:solidFill>
              </a:defRPr>
            </a:pPr>
            <a:endParaRPr lang="en-US" sz="1900" b="1">
              <a:solidFill>
                <a:srgbClr val="293854"/>
              </a:solidFill>
              <a:ea typeface="+mn-lt"/>
              <a:cs typeface="+mn-lt"/>
            </a:endParaRPr>
          </a:p>
          <a:p>
            <a:pPr algn="ctr">
              <a:defRPr sz="15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Is the mapping between alchemy and machine learning truly a structural process, or just a conceptual metaphor?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C71D0B-D5AE-E0D2-D532-E13C0E972511}"/>
              </a:ext>
            </a:extLst>
          </p:cNvPr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Chapter 14 - Data as Prima Materia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EE452-DF37-2AB6-FDCE-194336AE5684}"/>
              </a:ext>
            </a:extLst>
          </p:cNvPr>
          <p:cNvSpPr txBox="1"/>
          <p:nvPr/>
        </p:nvSpPr>
        <p:spPr>
          <a:xfrm>
            <a:off x="10743736" y="6492240"/>
            <a:ext cx="960584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rPr lang="en-US"/>
              <a:t>COINs Seminar</a:t>
            </a:r>
            <a:endParaRPr lang="en-US">
              <a:solidFill>
                <a:srgbClr val="000000"/>
              </a:solidFill>
            </a:endParaRPr>
          </a:p>
          <a:p>
            <a:pPr algn="r">
              <a:defRPr sz="1000">
                <a:solidFill>
                  <a:srgbClr val="6E737D"/>
                </a:solidFill>
              </a:defRPr>
            </a:pPr>
            <a:endParaRPr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877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127BB-F014-CCEE-ACBA-7DF5E50DB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81ADBA9-76D4-3450-E2FF-840E80F3A7D7}"/>
              </a:ext>
            </a:extLst>
          </p:cNvPr>
          <p:cNvSpPr txBox="1"/>
          <p:nvPr/>
        </p:nvSpPr>
        <p:spPr>
          <a:xfrm>
            <a:off x="548640" y="320040"/>
            <a:ext cx="4558620" cy="67710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800" b="1">
                <a:solidFill>
                  <a:srgbClr val="1E263A"/>
                </a:solidFill>
              </a:defRPr>
            </a:pPr>
            <a:r>
              <a:t>Discussion Questions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4B9912F-1EE1-08D2-F0E2-0CE078D2F4EB}"/>
              </a:ext>
            </a:extLst>
          </p:cNvPr>
          <p:cNvSpPr/>
          <p:nvPr/>
        </p:nvSpPr>
        <p:spPr>
          <a:xfrm>
            <a:off x="731520" y="155448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58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900" b="1">
                <a:solidFill>
                  <a:srgbClr val="293854"/>
                </a:solidFill>
              </a:defRPr>
            </a:pPr>
            <a:r>
              <a:t>Question 1 </a:t>
            </a:r>
            <a:r>
              <a:rPr lang="en-US"/>
              <a:t>– </a:t>
            </a:r>
            <a:r>
              <a:t>Clarify</a:t>
            </a:r>
            <a:endParaRPr lang="en-US"/>
          </a:p>
          <a:p>
            <a:pPr algn="ctr">
              <a:defRPr sz="1500">
                <a:solidFill>
                  <a:srgbClr val="505766"/>
                </a:solidFill>
              </a:defRPr>
            </a:pPr>
            <a:endParaRPr lang="en-US" sz="1900" b="1">
              <a:solidFill>
                <a:srgbClr val="293854"/>
              </a:solidFill>
              <a:ea typeface="+mn-lt"/>
              <a:cs typeface="+mn-lt"/>
            </a:endParaRPr>
          </a:p>
          <a:p>
            <a:pPr algn="ctr">
              <a:defRPr sz="1500">
                <a:solidFill>
                  <a:srgbClr val="505766"/>
                </a:solidFill>
              </a:defRPr>
            </a:pPr>
            <a:r>
              <a:rPr lang="en-US">
                <a:solidFill>
                  <a:srgbClr val="293854"/>
                </a:solidFill>
                <a:ea typeface="+mn-lt"/>
                <a:cs typeface="+mn-lt"/>
              </a:rPr>
              <a:t>Is the mapping between alchemy and machine learning truly a structural process, or just a conceptual metaphor?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98AAF0A-6D8A-04C0-7A9C-F215919BB93B}"/>
              </a:ext>
            </a:extLst>
          </p:cNvPr>
          <p:cNvSpPr/>
          <p:nvPr/>
        </p:nvSpPr>
        <p:spPr>
          <a:xfrm>
            <a:off x="731520" y="324612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58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900" b="1">
                <a:solidFill>
                  <a:srgbClr val="293854"/>
                </a:solidFill>
              </a:defRPr>
            </a:pPr>
            <a:r>
              <a:t>Question 2 </a:t>
            </a:r>
            <a:r>
              <a:rPr lang="en-US"/>
              <a:t>– </a:t>
            </a:r>
            <a:r>
              <a:t>Challenge</a:t>
            </a:r>
            <a:endParaRPr lang="en-US"/>
          </a:p>
          <a:p>
            <a:pPr algn="ctr">
              <a:defRPr sz="1900" b="1">
                <a:solidFill>
                  <a:srgbClr val="293854"/>
                </a:solidFill>
              </a:defRPr>
            </a:pPr>
            <a:endParaRPr>
              <a:ea typeface="Calibri"/>
              <a:cs typeface="Calibri"/>
            </a:endParaRPr>
          </a:p>
          <a:p>
            <a:pPr algn="ctr">
              <a:defRPr sz="15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The chapter claims models “reveal” patterns. But can models also construct or distort patterns due to bias in data or design?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90C7F0-5C2C-C8F8-C5B7-CE0F23B73A4E}"/>
              </a:ext>
            </a:extLst>
          </p:cNvPr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Chapter 14 - Data as Prima Materia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68A89B-86A2-7281-9DFD-478654DE1A32}"/>
              </a:ext>
            </a:extLst>
          </p:cNvPr>
          <p:cNvSpPr txBox="1"/>
          <p:nvPr/>
        </p:nvSpPr>
        <p:spPr>
          <a:xfrm>
            <a:off x="10743736" y="6492240"/>
            <a:ext cx="960584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rPr lang="en-US"/>
              <a:t>COINs Seminar</a:t>
            </a:r>
            <a:endParaRPr lang="en-US">
              <a:solidFill>
                <a:srgbClr val="000000"/>
              </a:solidFill>
            </a:endParaRPr>
          </a:p>
          <a:p>
            <a:pPr algn="r">
              <a:defRPr sz="1000">
                <a:solidFill>
                  <a:srgbClr val="6E737D"/>
                </a:solidFill>
              </a:defRPr>
            </a:pPr>
            <a:endParaRPr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67256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A0E1E-8E11-A506-B616-A6504B164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632ED9-041A-4C46-F831-034316EB6A3A}"/>
              </a:ext>
            </a:extLst>
          </p:cNvPr>
          <p:cNvSpPr txBox="1"/>
          <p:nvPr/>
        </p:nvSpPr>
        <p:spPr>
          <a:xfrm>
            <a:off x="548640" y="320040"/>
            <a:ext cx="4558620" cy="67710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800" b="1">
                <a:solidFill>
                  <a:srgbClr val="1E263A"/>
                </a:solidFill>
              </a:defRPr>
            </a:pPr>
            <a:r>
              <a:t>Discussion Questions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DE1EE18-D07E-BBE2-645A-F9C6A54FB0CF}"/>
              </a:ext>
            </a:extLst>
          </p:cNvPr>
          <p:cNvSpPr/>
          <p:nvPr/>
        </p:nvSpPr>
        <p:spPr>
          <a:xfrm>
            <a:off x="731520" y="155448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58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900" b="1">
                <a:solidFill>
                  <a:srgbClr val="293854"/>
                </a:solidFill>
              </a:defRPr>
            </a:pPr>
            <a:r>
              <a:t>Question 1 </a:t>
            </a:r>
            <a:r>
              <a:rPr lang="en-US"/>
              <a:t>– </a:t>
            </a:r>
            <a:r>
              <a:t>Clarify</a:t>
            </a:r>
            <a:endParaRPr lang="en-US"/>
          </a:p>
          <a:p>
            <a:pPr algn="ctr">
              <a:defRPr sz="1900" b="1">
                <a:solidFill>
                  <a:srgbClr val="293854"/>
                </a:solidFill>
              </a:defRPr>
            </a:pPr>
            <a:endParaRPr>
              <a:ea typeface="Calibri"/>
              <a:cs typeface="Calibri"/>
            </a:endParaRPr>
          </a:p>
          <a:p>
            <a:pPr algn="ctr">
              <a:defRPr sz="15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Is the mapping between alchemy and machine learning truly a structural process, or just a conceptual metaphor?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7C5C976-5308-C03C-1406-F77AA0F2DEFE}"/>
              </a:ext>
            </a:extLst>
          </p:cNvPr>
          <p:cNvSpPr/>
          <p:nvPr/>
        </p:nvSpPr>
        <p:spPr>
          <a:xfrm>
            <a:off x="731520" y="324612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58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900" b="1">
                <a:solidFill>
                  <a:srgbClr val="293854"/>
                </a:solidFill>
              </a:defRPr>
            </a:pPr>
            <a:r>
              <a:t>Question 2 </a:t>
            </a:r>
            <a:r>
              <a:rPr lang="en-US"/>
              <a:t>– </a:t>
            </a:r>
            <a:r>
              <a:t>Challenge</a:t>
            </a:r>
            <a:endParaRPr lang="en-US"/>
          </a:p>
          <a:p>
            <a:pPr algn="ctr">
              <a:defRPr sz="1900" b="1">
                <a:solidFill>
                  <a:srgbClr val="293854"/>
                </a:solidFill>
              </a:defRPr>
            </a:pPr>
            <a:endParaRPr>
              <a:ea typeface="Calibri"/>
              <a:cs typeface="Calibri"/>
            </a:endParaRPr>
          </a:p>
          <a:p>
            <a:pPr algn="ctr">
              <a:defRPr sz="15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The chapter claims models “reveal” patterns. But can models also construct or distort patterns due to bias in data or design?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C05028F-B90D-E845-EC8E-BAF48ECB765D}"/>
              </a:ext>
            </a:extLst>
          </p:cNvPr>
          <p:cNvSpPr/>
          <p:nvPr/>
        </p:nvSpPr>
        <p:spPr>
          <a:xfrm>
            <a:off x="731520" y="4937760"/>
            <a:ext cx="107899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58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 sz="1900" b="1">
                <a:solidFill>
                  <a:srgbClr val="293854"/>
                </a:solidFill>
              </a:defRPr>
            </a:pPr>
            <a:r>
              <a:t>Question 3 </a:t>
            </a:r>
            <a:r>
              <a:rPr lang="en-US"/>
              <a:t>– </a:t>
            </a:r>
            <a:r>
              <a:t>Connect</a:t>
            </a:r>
            <a:endParaRPr lang="en-US"/>
          </a:p>
          <a:p>
            <a:pPr algn="ctr">
              <a:defRPr sz="1900" b="1">
                <a:solidFill>
                  <a:srgbClr val="293854"/>
                </a:solidFill>
              </a:defRPr>
            </a:pPr>
            <a:endParaRPr>
              <a:ea typeface="Calibri"/>
              <a:cs typeface="Calibri"/>
            </a:endParaRPr>
          </a:p>
          <a:p>
            <a:pPr algn="ctr">
              <a:defRPr sz="1500">
                <a:solidFill>
                  <a:srgbClr val="505766"/>
                </a:solidFill>
              </a:defRPr>
            </a:pPr>
            <a:r>
              <a:rPr lang="en-US">
                <a:ea typeface="+mn-lt"/>
                <a:cs typeface="+mn-lt"/>
              </a:rPr>
              <a:t>Where do we see this transformation pipeline in real-world AI systems (e.g., ChatGPT, recommendation systems, workplace analytics), and where might it fail?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2BA9EA-1353-21E9-B552-D46F5505F6A9}"/>
              </a:ext>
            </a:extLst>
          </p:cNvPr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Chapter 14 - Data as Prima Materia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DF6F75-98F8-8E59-6CA3-30BA3BAD287C}"/>
              </a:ext>
            </a:extLst>
          </p:cNvPr>
          <p:cNvSpPr txBox="1"/>
          <p:nvPr/>
        </p:nvSpPr>
        <p:spPr>
          <a:xfrm>
            <a:off x="10743736" y="6492240"/>
            <a:ext cx="960584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rPr lang="en-US"/>
              <a:t>COINs Seminar</a:t>
            </a:r>
            <a:endParaRPr lang="en-US">
              <a:solidFill>
                <a:srgbClr val="000000"/>
              </a:solidFill>
            </a:endParaRPr>
          </a:p>
          <a:p>
            <a:pPr algn="r">
              <a:defRPr sz="1000">
                <a:solidFill>
                  <a:srgbClr val="6E737D"/>
                </a:solidFill>
              </a:defRPr>
            </a:pPr>
            <a:endParaRPr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13469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4924746" cy="677108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3800" b="1">
                <a:solidFill>
                  <a:srgbClr val="1E263A"/>
                </a:solidFill>
              </a:defRPr>
            </a:pPr>
            <a:r>
              <a:rPr lang="en-US">
                <a:ea typeface="+mn-lt"/>
                <a:cs typeface="+mn-lt"/>
              </a:rPr>
              <a:t>Thank you for listening.</a:t>
            </a:r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E737D"/>
                </a:solidFill>
              </a:defRPr>
            </a:pPr>
            <a:r>
              <a:t>Chapter 14 - Data as Prima Materia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E737D"/>
                </a:solidFill>
              </a:defRPr>
            </a:pPr>
            <a:r>
              <a:t>COINs Seminar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4</cp:revision>
  <dcterms:created xsi:type="dcterms:W3CDTF">2013-01-27T09:14:16Z</dcterms:created>
  <dcterms:modified xsi:type="dcterms:W3CDTF">2026-04-16T02:50:23Z</dcterms:modified>
  <cp:category/>
</cp:coreProperties>
</file>