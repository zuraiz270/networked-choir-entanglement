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6"/>
  </p:notesMasterIdLst>
  <p:sldIdLst>
    <p:sldId id="257" r:id="rId2"/>
    <p:sldId id="330" r:id="rId3"/>
    <p:sldId id="316" r:id="rId4"/>
    <p:sldId id="324" r:id="rId5"/>
    <p:sldId id="328" r:id="rId6"/>
    <p:sldId id="315" r:id="rId7"/>
    <p:sldId id="319" r:id="rId8"/>
    <p:sldId id="325" r:id="rId9"/>
    <p:sldId id="331" r:id="rId10"/>
    <p:sldId id="329" r:id="rId11"/>
    <p:sldId id="321" r:id="rId12"/>
    <p:sldId id="326" r:id="rId13"/>
    <p:sldId id="327" r:id="rId14"/>
    <p:sldId id="302" r:id="rId15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  <a:srgbClr val="ED2939"/>
    <a:srgbClr val="006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78" autoAdjust="0"/>
    <p:restoredTop sz="94161" autoAdjust="0"/>
  </p:normalViewPr>
  <p:slideViewPr>
    <p:cSldViewPr snapToGrid="0">
      <p:cViewPr varScale="1">
        <p:scale>
          <a:sx n="136" d="100"/>
          <a:sy n="136" d="100"/>
        </p:scale>
        <p:origin x="10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37303B11-5EFE-4A3B-B7C0-4ADE873E5104}" type="datetimeFigureOut">
              <a:rPr lang="fi-FI" smtClean="0"/>
              <a:pPr/>
              <a:t>11.4.2025</a:t>
            </a:fld>
            <a:endParaRPr lang="fi-FI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B605DA8A-5216-4F63-A012-E5BD46E625C2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0488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06800" y="1713600"/>
            <a:ext cx="8326800" cy="3920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2400" y="1771200"/>
            <a:ext cx="7772400" cy="13320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2400" y="3143248"/>
            <a:ext cx="6285600" cy="234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62000" y="5961600"/>
            <a:ext cx="2026800" cy="176400"/>
          </a:xfrm>
        </p:spPr>
        <p:txBody>
          <a:bodyPr wrap="none" lIns="0" tIns="0" rIns="0" bIns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3622CD5A-A9CA-4187-8D1C-14CBA696F3D0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144400" y="5961600"/>
            <a:ext cx="1962000" cy="6336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426800" y="5961600"/>
            <a:ext cx="1134000" cy="6336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62000" y="6138000"/>
            <a:ext cx="2026800" cy="4572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2400" y="6138000"/>
            <a:ext cx="2048400" cy="4572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72400" y="5961600"/>
            <a:ext cx="2048400" cy="1764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BA70-3711-4040-B033-8C7B0100C4FF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2400" y="1584000"/>
            <a:ext cx="3924000" cy="413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4000"/>
            <a:ext cx="3924000" cy="413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AE3A-323C-4559-B1BA-656B962F825F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9B31-C8A9-4E24-941C-E3996421D5FD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6F0E-CBD3-4E99-91AB-A949DAD71055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0" y="1584000"/>
            <a:ext cx="6285600" cy="4136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BA70-3711-4040-B033-8C7B0100C4FF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alto_EN_Science_21_RGB_3"/>
          <p:cNvPicPr>
            <a:picLocks noChangeAspect="1" noChangeArrowheads="1"/>
          </p:cNvPicPr>
          <p:nvPr userDrawn="1"/>
        </p:nvPicPr>
        <p:blipFill>
          <a:blip r:embed="rId2" cstate="print"/>
          <a:srcRect t="3488"/>
          <a:stretch>
            <a:fillRect/>
          </a:stretch>
        </p:blipFill>
        <p:spPr bwMode="auto">
          <a:xfrm>
            <a:off x="0" y="15875"/>
            <a:ext cx="2051050" cy="180498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2400" y="1771200"/>
            <a:ext cx="7772400" cy="1332000"/>
          </a:xfrm>
        </p:spPr>
        <p:txBody>
          <a:bodyPr/>
          <a:lstStyle>
            <a:lvl1pPr>
              <a:defRPr sz="4000">
                <a:solidFill>
                  <a:srgbClr val="FF79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2400" y="3143248"/>
            <a:ext cx="6285600" cy="234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7900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2862000" y="5961600"/>
            <a:ext cx="2026800" cy="176400"/>
          </a:xfrm>
        </p:spPr>
        <p:txBody>
          <a:bodyPr wrap="none" lIns="0" tIns="0" rIns="0" bIns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3622CD5A-A9CA-4187-8D1C-14CBA696F3D0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144400" y="5961600"/>
            <a:ext cx="1962000" cy="6336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426800" y="5961600"/>
            <a:ext cx="1134000" cy="6336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62000" y="6138000"/>
            <a:ext cx="2026800" cy="4572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2400" y="6138000"/>
            <a:ext cx="2048400" cy="4572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2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72400" y="5961600"/>
            <a:ext cx="2048400" cy="176400"/>
          </a:xfrm>
        </p:spPr>
        <p:txBody>
          <a:bodyPr wrap="none" lIns="0" tIns="0" rIns="0" bIns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  <a:lvl2pPr marL="741600" indent="-284400">
              <a:spcBef>
                <a:spcPts val="288"/>
              </a:spcBef>
              <a:def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406800" y="406800"/>
            <a:ext cx="8326800" cy="5472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00" y="547200"/>
            <a:ext cx="7772400" cy="220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BA70-3711-4040-B033-8C7B0100C4FF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6145200"/>
            <a:ext cx="15372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6145200"/>
            <a:ext cx="1702800" cy="3816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950"/>
              </a:lnSpc>
              <a:spcBef>
                <a:spcPts val="0"/>
              </a:spcBef>
              <a:buNone/>
              <a:defRPr sz="950" b="1">
                <a:solidFill>
                  <a:schemeClr val="bg2"/>
                </a:solidFill>
              </a:defRPr>
            </a:lvl1pPr>
            <a:lvl2pPr marL="273050" indent="-103188">
              <a:defRPr lang="en-US" sz="9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3050" indent="-93663">
              <a:buFont typeface="Symbol" pitchFamily="18" charset="2"/>
              <a:buNone/>
              <a:defRPr sz="900"/>
            </a:lvl3pPr>
            <a:lvl4pPr marL="273050" indent="-93663">
              <a:defRPr sz="900"/>
            </a:lvl4pPr>
            <a:lvl5pPr marL="273050" indent="-93663">
              <a:buFont typeface="Symbol" pitchFamily="18" charset="2"/>
              <a:buChar char="-"/>
              <a:defRPr sz="900"/>
            </a:lvl5pPr>
            <a:lvl6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6pPr>
            <a:lvl7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7pPr>
            <a:lvl8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8pPr>
            <a:lvl9pPr marL="273600" indent="-93600">
              <a:spcBef>
                <a:spcPts val="300"/>
              </a:spcBef>
              <a:buFont typeface="Symbol" pitchFamily="18" charset="2"/>
              <a:buChar char="-"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78025"/>
            <a:ext cx="7772400" cy="11430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fi-FI" noProof="0"/>
              <a:t>Click to edit Master title style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78250"/>
            <a:ext cx="6400800" cy="1752600"/>
          </a:xfrm>
        </p:spPr>
        <p:txBody>
          <a:bodyPr/>
          <a:lstStyle>
            <a:lvl1pPr marL="0" indent="0" algn="ctr">
              <a:lnSpc>
                <a:spcPct val="100000"/>
              </a:lnSpc>
              <a:buFont typeface="Wingdings" pitchFamily="2" charset="2"/>
              <a:buNone/>
              <a:defRPr sz="2000"/>
            </a:lvl1pPr>
          </a:lstStyle>
          <a:p>
            <a:pPr lvl="0"/>
            <a:r>
              <a:rPr lang="fi-FI" noProof="0"/>
              <a:t>Click to edit Master subtitle style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A582F1B5-36A4-4BFC-9DA2-507475D538BC}" type="datetime1">
              <a:rPr lang="fi-FI"/>
              <a:pPr/>
              <a:t>11.4.2025</a:t>
            </a:fld>
            <a:endParaRPr lang="fi-FI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fi-FI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1400"/>
            </a:lvl1pPr>
          </a:lstStyle>
          <a:p>
            <a:fld id="{6B513148-016C-4402-B9A9-350F739F554B}" type="slidenum">
              <a:rPr lang="fi-FI"/>
              <a:pPr/>
              <a:t>‹#›</a:t>
            </a:fld>
            <a:endParaRPr lang="fi-FI"/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white">
          <a:xfrm>
            <a:off x="574675" y="233363"/>
            <a:ext cx="1800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i-FI" sz="3200" dirty="0" err="1">
                <a:solidFill>
                  <a:schemeClr val="bg1"/>
                </a:solidFill>
              </a:rPr>
              <a:t>SoberIT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white">
          <a:xfrm>
            <a:off x="574675" y="701675"/>
            <a:ext cx="4156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i-FI" sz="1400" dirty="0">
                <a:solidFill>
                  <a:schemeClr val="bg1"/>
                </a:solidFill>
              </a:rPr>
              <a:t>Software Business and Engineering Institute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78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alto_EN_Science_13_RGB_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15900" y="5815013"/>
            <a:ext cx="2479675" cy="1042987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2400" y="489600"/>
            <a:ext cx="79884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400" y="1584000"/>
            <a:ext cx="7988400" cy="413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30800" y="6274800"/>
            <a:ext cx="1544400" cy="12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EE6C06D-47AC-41E9-B6F8-74CFCE12D955}" type="datetime1">
              <a:rPr lang="en-US" noProof="0" smtClean="0"/>
              <a:pPr/>
              <a:t>4/11/25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0800" y="6145200"/>
            <a:ext cx="1544400" cy="12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30800" y="6400800"/>
            <a:ext cx="1544400" cy="12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Rectangle 9"/>
          <p:cNvSpPr/>
          <p:nvPr/>
        </p:nvSpPr>
        <p:spPr>
          <a:xfrm>
            <a:off x="571472" y="5814000"/>
            <a:ext cx="7988400" cy="64800"/>
          </a:xfrm>
          <a:prstGeom prst="rect">
            <a:avLst/>
          </a:prstGeom>
          <a:solidFill>
            <a:srgbClr val="FF79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50" r:id="rId6"/>
    <p:sldLayoutId id="2147483662" r:id="rId7"/>
    <p:sldLayoutId id="2147483663" r:id="rId8"/>
    <p:sldLayoutId id="2147483664" r:id="rId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FF79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4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4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4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3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coinprojectXX@gmail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771200"/>
            <a:ext cx="7488832" cy="133200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Arial" charset="0"/>
                <a:cs typeface="Times New Roman" pitchFamily="18" charset="0"/>
              </a:rPr>
            </a:br>
            <a:r>
              <a:rPr lang="en-US" dirty="0">
                <a:latin typeface="Arial" charset="0"/>
                <a:cs typeface="Times New Roman" pitchFamily="18" charset="0"/>
              </a:rPr>
              <a:t>COINS Course Group Work</a:t>
            </a:r>
            <a:br>
              <a:rPr lang="en-US" dirty="0">
                <a:latin typeface="Arial" charset="0"/>
                <a:cs typeface="Times New Roman" pitchFamily="18" charset="0"/>
              </a:rPr>
            </a:br>
            <a:r>
              <a:rPr lang="en-US" dirty="0">
                <a:latin typeface="Arial" charset="0"/>
                <a:cs typeface="Times New Roman" pitchFamily="18" charset="0"/>
              </a:rPr>
              <a:t> - Tips on How to Succeed </a:t>
            </a: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br>
              <a:rPr lang="en-US" dirty="0">
                <a:latin typeface="Arial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2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in a Globally Distributed and Multi-disciplinary Team – Tips</a:t>
            </a:r>
          </a:p>
          <a:p>
            <a:r>
              <a:rPr lang="en-US" dirty="0"/>
              <a:t>Iterations</a:t>
            </a:r>
          </a:p>
          <a:p>
            <a:r>
              <a:rPr lang="en-US" dirty="0"/>
              <a:t>Communication recording</a:t>
            </a:r>
          </a:p>
          <a:p>
            <a:r>
              <a:rPr lang="en-US" dirty="0"/>
              <a:t>Surveys</a:t>
            </a:r>
          </a:p>
          <a:p>
            <a:r>
              <a:rPr lang="en-US" dirty="0"/>
              <a:t>Evaluation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8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in a Globally Distributed and Multi-disciplinary Team -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0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in a Globally Distributed and Multi-disciplinary Team -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0" y="1583999"/>
            <a:ext cx="3629591" cy="4410331"/>
          </a:xfrm>
        </p:spPr>
        <p:txBody>
          <a:bodyPr>
            <a:normAutofit/>
          </a:bodyPr>
          <a:lstStyle/>
          <a:p>
            <a:r>
              <a:rPr lang="en-US" dirty="0"/>
              <a:t>…is not easy!</a:t>
            </a:r>
          </a:p>
          <a:p>
            <a:r>
              <a:rPr lang="en-US" dirty="0"/>
              <a:t>Some Tips:</a:t>
            </a:r>
          </a:p>
          <a:p>
            <a:pPr marL="457200" lvl="1" indent="0">
              <a:buNone/>
            </a:pPr>
            <a:r>
              <a:rPr lang="en-US" dirty="0"/>
              <a:t>First: Get to know each other</a:t>
            </a:r>
          </a:p>
          <a:p>
            <a:pPr lvl="1"/>
            <a:r>
              <a:rPr lang="en-US" dirty="0"/>
              <a:t>Who you are, hobbies, background etc.</a:t>
            </a:r>
          </a:p>
          <a:p>
            <a:pPr lvl="1"/>
            <a:r>
              <a:rPr lang="en-US" dirty="0"/>
              <a:t>“Take the time to get to know your team members on a personal level. </a:t>
            </a:r>
            <a:r>
              <a:rPr lang="fi-FI" dirty="0"/>
              <a:t>Short </a:t>
            </a:r>
            <a:r>
              <a:rPr lang="fi-FI" dirty="0" err="1"/>
              <a:t>chats</a:t>
            </a:r>
            <a:r>
              <a:rPr lang="fi-FI" dirty="0"/>
              <a:t> at the </a:t>
            </a:r>
            <a:r>
              <a:rPr lang="fi-FI" dirty="0" err="1"/>
              <a:t>beginning</a:t>
            </a:r>
            <a:r>
              <a:rPr lang="fi-FI" dirty="0"/>
              <a:t> of </a:t>
            </a:r>
            <a:r>
              <a:rPr lang="fi-FI" dirty="0" err="1"/>
              <a:t>meetings</a:t>
            </a:r>
            <a:r>
              <a:rPr lang="fi-FI" dirty="0"/>
              <a:t> </a:t>
            </a:r>
            <a:r>
              <a:rPr lang="fi-FI" dirty="0" err="1"/>
              <a:t>were</a:t>
            </a:r>
            <a:r>
              <a:rPr lang="fi-FI" dirty="0"/>
              <a:t> </a:t>
            </a:r>
            <a:r>
              <a:rPr lang="fi-FI" dirty="0" err="1"/>
              <a:t>nice</a:t>
            </a:r>
            <a:r>
              <a:rPr lang="fi-FI" dirty="0"/>
              <a:t>.”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5634751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105" y="1863602"/>
            <a:ext cx="1966026" cy="3480932"/>
          </a:xfrm>
          <a:prstGeom prst="rect">
            <a:avLst/>
          </a:prstGeom>
        </p:spPr>
      </p:pic>
      <p:pic>
        <p:nvPicPr>
          <p:cNvPr id="7" name="Picture 6" descr="200387787-0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49" y="1996614"/>
            <a:ext cx="1679504" cy="3551038"/>
          </a:xfrm>
          <a:prstGeom prst="rect">
            <a:avLst/>
          </a:prstGeom>
        </p:spPr>
      </p:pic>
      <p:pic>
        <p:nvPicPr>
          <p:cNvPr id="8" name="Picture 7" descr="200387759-001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414" y="1750885"/>
            <a:ext cx="1499176" cy="3983525"/>
          </a:xfrm>
          <a:prstGeom prst="rect">
            <a:avLst/>
          </a:prstGeom>
        </p:spPr>
      </p:pic>
      <p:pic>
        <p:nvPicPr>
          <p:cNvPr id="9" name="Picture 8" descr="73329588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621" y="1792190"/>
            <a:ext cx="1566235" cy="38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Tips, continues…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1" y="1584000"/>
            <a:ext cx="4694096" cy="4136400"/>
          </a:xfrm>
        </p:spPr>
        <p:txBody>
          <a:bodyPr/>
          <a:lstStyle/>
          <a:p>
            <a:r>
              <a:rPr lang="en-US" dirty="0"/>
              <a:t>Second: Discuss project and personal goals</a:t>
            </a:r>
          </a:p>
          <a:p>
            <a:pPr lvl="1"/>
            <a:r>
              <a:rPr lang="en-US" dirty="0"/>
              <a:t>Discuss: what you could / would like to contribute to the project, what you would like to learn during the project</a:t>
            </a:r>
          </a:p>
          <a:p>
            <a:pPr lvl="1"/>
            <a:r>
              <a:rPr lang="en-US" dirty="0"/>
              <a:t>Discuss: project goals and scope with all stakeholders (Customer, mentor, team members…). Do not expect everybody understands the goals the same way!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A02005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505" y="2011751"/>
            <a:ext cx="3121256" cy="262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7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Tips, continues…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51" y="1288501"/>
            <a:ext cx="5590521" cy="4593786"/>
          </a:xfrm>
        </p:spPr>
        <p:txBody>
          <a:bodyPr>
            <a:normAutofit fontScale="92500" lnSpcReduction="20000"/>
          </a:bodyPr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2600" dirty="0"/>
              <a:t>Third: Discuss the way of working:</a:t>
            </a:r>
          </a:p>
          <a:p>
            <a:pPr marL="342900" lvl="1" indent="-342900">
              <a:spcBef>
                <a:spcPts val="600"/>
              </a:spcBef>
            </a:pPr>
            <a:r>
              <a:rPr lang="en-US" dirty="0"/>
              <a:t>Decide regular meeting slots beforehand (e.g. 2 meetings per week) </a:t>
            </a:r>
          </a:p>
          <a:p>
            <a:pPr marL="685800" lvl="2" indent="-285750">
              <a:spcBef>
                <a:spcPts val="600"/>
              </a:spcBef>
            </a:pPr>
            <a:r>
              <a:rPr lang="en-US" dirty="0"/>
              <a:t>Write down what is decided in each meeting</a:t>
            </a:r>
          </a:p>
          <a:p>
            <a:pPr marL="342900" lvl="1" indent="-342900">
              <a:spcBef>
                <a:spcPts val="600"/>
              </a:spcBef>
            </a:pPr>
            <a:r>
              <a:rPr lang="en-US" dirty="0"/>
              <a:t>Common repository (e.g. </a:t>
            </a:r>
            <a:r>
              <a:rPr lang="en-US" dirty="0" err="1"/>
              <a:t>dropbox</a:t>
            </a:r>
            <a:r>
              <a:rPr lang="en-US" dirty="0"/>
              <a:t>, </a:t>
            </a:r>
            <a:r>
              <a:rPr lang="en-US" dirty="0" err="1"/>
              <a:t>google</a:t>
            </a:r>
            <a:r>
              <a:rPr lang="en-US" dirty="0"/>
              <a:t> docs, etc.)</a:t>
            </a:r>
          </a:p>
          <a:p>
            <a:pPr marL="342900" lvl="1" indent="-342900">
              <a:spcBef>
                <a:spcPts val="600"/>
              </a:spcBef>
            </a:pPr>
            <a:r>
              <a:rPr lang="en-US" dirty="0"/>
              <a:t>Communication</a:t>
            </a:r>
          </a:p>
          <a:p>
            <a:pPr marL="742950" lvl="2" indent="-342900">
              <a:spcBef>
                <a:spcPts val="600"/>
              </a:spcBef>
            </a:pPr>
            <a:r>
              <a:rPr lang="en-US" dirty="0"/>
              <a:t>Communicate often &amp; answer fast</a:t>
            </a:r>
          </a:p>
          <a:p>
            <a:pPr marL="742950" lvl="2" indent="-342900">
              <a:spcBef>
                <a:spcPts val="600"/>
              </a:spcBef>
            </a:pPr>
            <a:r>
              <a:rPr lang="en-US" dirty="0"/>
              <a:t>Prefer synchronous communication if possible (Skype, Slack, chats…)</a:t>
            </a:r>
          </a:p>
          <a:p>
            <a:pPr marL="342900" lvl="1" indent="-342900">
              <a:spcBef>
                <a:spcPts val="600"/>
              </a:spcBef>
            </a:pPr>
            <a:r>
              <a:rPr lang="en-US" dirty="0"/>
              <a:t>Common calendar? </a:t>
            </a:r>
          </a:p>
          <a:p>
            <a:pPr marL="742950" lvl="2" indent="-342900">
              <a:spcBef>
                <a:spcPts val="600"/>
              </a:spcBef>
            </a:pPr>
            <a:r>
              <a:rPr lang="en-US" dirty="0"/>
              <a:t>Let other each other know when you have time to work and when not (e.g. exams)</a:t>
            </a:r>
          </a:p>
          <a:p>
            <a:pPr marL="1143000" lvl="3" indent="-285750">
              <a:spcBef>
                <a:spcPts val="600"/>
              </a:spcBef>
            </a:pPr>
            <a:r>
              <a:rPr lang="en-US" dirty="0"/>
              <a:t>Promise only what you can deliver</a:t>
            </a:r>
          </a:p>
          <a:p>
            <a:pPr marL="1143000" lvl="3" indent="-285750">
              <a:spcBef>
                <a:spcPts val="600"/>
              </a:spcBef>
            </a:pPr>
            <a:r>
              <a:rPr lang="en-US" dirty="0"/>
              <a:t>Tell others about any problems and ask for help right away</a:t>
            </a:r>
          </a:p>
          <a:p>
            <a:pPr marL="342900" lvl="1" indent="-342900">
              <a:spcBef>
                <a:spcPts val="600"/>
              </a:spcBef>
            </a:pPr>
            <a:r>
              <a:rPr lang="en-US" dirty="0"/>
              <a:t>Pair work?</a:t>
            </a:r>
          </a:p>
          <a:p>
            <a:pPr marL="342900" lvl="1" indent="-342900">
              <a:spcBef>
                <a:spcPts val="600"/>
              </a:spcBef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7288453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218" y="2035458"/>
            <a:ext cx="3670782" cy="36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1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6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Scrum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38" y="3043686"/>
            <a:ext cx="5530638" cy="358253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0" y="1120436"/>
            <a:ext cx="7383370" cy="4599964"/>
          </a:xfrm>
        </p:spPr>
        <p:txBody>
          <a:bodyPr/>
          <a:lstStyle/>
          <a:p>
            <a:r>
              <a:rPr lang="en-US" dirty="0"/>
              <a:t>We apply Scrum phases in each iteration</a:t>
            </a:r>
          </a:p>
          <a:p>
            <a:pPr lvl="1"/>
            <a:r>
              <a:rPr lang="en-US" dirty="0"/>
              <a:t>Iteration planning Part 1 (WHAT with customer/mentor) + Part 2 (HOW)</a:t>
            </a:r>
          </a:p>
          <a:p>
            <a:pPr lvl="1"/>
            <a:r>
              <a:rPr lang="en-US" dirty="0"/>
              <a:t>Daily Scrums (</a:t>
            </a:r>
            <a:r>
              <a:rPr lang="en-US" dirty="0" err="1"/>
              <a:t>sugestion:bi-weekly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Retrospective: keep, drop, try in next iteration</a:t>
            </a:r>
          </a:p>
          <a:p>
            <a:pPr lvl="1"/>
            <a:r>
              <a:rPr lang="en-US" dirty="0"/>
              <a:t>Demonstration in Virtual Meetings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C6FF-9592-924E-B8D4-076CF583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07D0D-D049-A44C-8B43-01CBCDC7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Iteration 1: April 17 - project status</a:t>
            </a:r>
          </a:p>
          <a:p>
            <a:r>
              <a:rPr lang="en-GB" dirty="0"/>
              <a:t>Iteration 2: April 24 - project status</a:t>
            </a:r>
          </a:p>
          <a:p>
            <a:r>
              <a:rPr lang="en-GB" dirty="0"/>
              <a:t>Iteration 3: May 8 – project status</a:t>
            </a:r>
          </a:p>
          <a:p>
            <a:r>
              <a:rPr lang="en-GB" dirty="0"/>
              <a:t>Iteration 4: June 5 - virtual mirror</a:t>
            </a:r>
          </a:p>
          <a:p>
            <a:r>
              <a:rPr lang="en-GB" dirty="0"/>
              <a:t>Iteration 5: June 26 - project status</a:t>
            </a:r>
          </a:p>
          <a:p>
            <a:r>
              <a:rPr lang="en-GB" dirty="0"/>
              <a:t>Iteration 6: </a:t>
            </a:r>
            <a:r>
              <a:rPr lang="en-GB"/>
              <a:t>July 17 </a:t>
            </a:r>
            <a:r>
              <a:rPr lang="en-GB" dirty="0"/>
              <a:t>- final presentation</a:t>
            </a:r>
          </a:p>
          <a:p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A26C4-7C9D-FA49-AFE0-733D957432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601D4-7A75-C24D-8731-0FF964CA47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7707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0" y="1584000"/>
            <a:ext cx="4357936" cy="4136400"/>
          </a:xfrm>
        </p:spPr>
        <p:txBody>
          <a:bodyPr/>
          <a:lstStyle/>
          <a:p>
            <a:r>
              <a:rPr lang="en-US" dirty="0"/>
              <a:t>After the 1. iteration you will present:</a:t>
            </a:r>
          </a:p>
          <a:p>
            <a:pPr lvl="1"/>
            <a:r>
              <a:rPr lang="en-US" dirty="0"/>
              <a:t>Team Members</a:t>
            </a:r>
          </a:p>
          <a:p>
            <a:pPr lvl="1"/>
            <a:r>
              <a:rPr lang="en-US" dirty="0"/>
              <a:t>Your goals (scope)</a:t>
            </a:r>
          </a:p>
          <a:p>
            <a:pPr lvl="1"/>
            <a:r>
              <a:rPr lang="en-US" dirty="0"/>
              <a:t>Overall project plan</a:t>
            </a:r>
          </a:p>
          <a:p>
            <a:pPr lvl="1"/>
            <a:r>
              <a:rPr lang="en-US" dirty="0"/>
              <a:t>Plan for the first iteration</a:t>
            </a:r>
          </a:p>
          <a:p>
            <a:pPr lvl="1"/>
            <a:r>
              <a:rPr lang="en-US" dirty="0"/>
              <a:t>Your way-of-working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j018282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873" y="994744"/>
            <a:ext cx="3006758" cy="45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4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Goals of the project</a:t>
            </a:r>
          </a:p>
          <a:p>
            <a:r>
              <a:rPr lang="en-US" dirty="0"/>
              <a:t>Progress during the last iteration: explain what was done </a:t>
            </a:r>
          </a:p>
          <a:p>
            <a:r>
              <a:rPr lang="en-US" dirty="0"/>
              <a:t>Show the main results </a:t>
            </a:r>
          </a:p>
          <a:p>
            <a:r>
              <a:rPr lang="en-US" dirty="0"/>
              <a:t>Goals and plans for the next iteration</a:t>
            </a:r>
          </a:p>
          <a:p>
            <a:r>
              <a:rPr lang="en-US" dirty="0"/>
              <a:t>Output from the retrospective</a:t>
            </a:r>
          </a:p>
          <a:p>
            <a:r>
              <a:rPr lang="en-US" dirty="0"/>
              <a:t>Problems / questions?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2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recording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recording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00" y="1344523"/>
            <a:ext cx="7988400" cy="43758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Cc all email communication to the cc-address of your project (</a:t>
            </a:r>
            <a:r>
              <a:rPr lang="en-US" dirty="0">
                <a:hlinkClick r:id="rId2"/>
              </a:rPr>
              <a:t>coinprojectX@gmail.com</a:t>
            </a:r>
            <a:r>
              <a:rPr lang="en-US" dirty="0"/>
              <a:t>) X={1..n}</a:t>
            </a:r>
          </a:p>
          <a:p>
            <a:r>
              <a:rPr lang="en-US" dirty="0"/>
              <a:t>Face-to-face / virtual meetings: ONE email to the whole team, including</a:t>
            </a:r>
          </a:p>
          <a:p>
            <a:pPr lvl="1"/>
            <a:r>
              <a:rPr lang="en-US" dirty="0"/>
              <a:t>label it “f2f” in subject line (send it right away after the meeting)</a:t>
            </a:r>
          </a:p>
          <a:p>
            <a:pPr lvl="1"/>
            <a:r>
              <a:rPr lang="en-US" dirty="0"/>
              <a:t>In the email body: </a:t>
            </a:r>
          </a:p>
          <a:p>
            <a:pPr lvl="2"/>
            <a:r>
              <a:rPr lang="en-US" dirty="0"/>
              <a:t>Participants: Who was present?</a:t>
            </a:r>
          </a:p>
          <a:p>
            <a:pPr lvl="2"/>
            <a:r>
              <a:rPr lang="en-US" dirty="0"/>
              <a:t>Start &amp; Finish Date and Time</a:t>
            </a:r>
          </a:p>
          <a:p>
            <a:pPr lvl="2"/>
            <a:r>
              <a:rPr lang="en-US" dirty="0"/>
              <a:t>Outcome: Main decisions made</a:t>
            </a:r>
          </a:p>
          <a:p>
            <a:pPr lvl="1"/>
            <a:r>
              <a:rPr lang="en-US" dirty="0"/>
              <a:t>Also informal pair meetings etc.</a:t>
            </a:r>
          </a:p>
          <a:p>
            <a:r>
              <a:rPr lang="en-US" dirty="0"/>
              <a:t>You will need this when analyzing your own team’s communication </a:t>
            </a:r>
            <a:r>
              <a:rPr lang="en-US"/>
              <a:t>(after iteration </a:t>
            </a:r>
            <a:r>
              <a:rPr lang="en-US" dirty="0"/>
              <a:t>2</a:t>
            </a:r>
            <a:r>
              <a:rPr lang="en-US"/>
              <a:t>)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21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Questions?</a:t>
            </a:r>
            <a:endParaRPr lang="en-GB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639" y="946613"/>
            <a:ext cx="3277009" cy="474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65748"/>
      </p:ext>
    </p:extLst>
  </p:cSld>
  <p:clrMapOvr>
    <a:masterClrMapping/>
  </p:clrMapOvr>
</p:sld>
</file>

<file path=ppt/theme/theme1.xml><?xml version="1.0" encoding="utf-8"?>
<a:theme xmlns:a="http://schemas.openxmlformats.org/drawingml/2006/main" name="aalto_Scienc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928B81"/>
      </a:lt2>
      <a:accent1>
        <a:srgbClr val="009B3A"/>
      </a:accent1>
      <a:accent2>
        <a:srgbClr val="FF7900"/>
      </a:accent2>
      <a:accent3>
        <a:srgbClr val="0065BD"/>
      </a:accent3>
      <a:accent4>
        <a:srgbClr val="ED2939"/>
      </a:accent4>
      <a:accent5>
        <a:srgbClr val="FECB00"/>
      </a:accent5>
      <a:accent6>
        <a:srgbClr val="6639B7"/>
      </a:accent6>
      <a:hlink>
        <a:srgbClr val="0065BD"/>
      </a:hlink>
      <a:folHlink>
        <a:srgbClr val="ED2939"/>
      </a:folHlink>
    </a:clrScheme>
    <a:fontScheme name="Aalto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aalto_Science</Template>
  <TotalTime>4481</TotalTime>
  <Words>545</Words>
  <Application>Microsoft Macintosh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Symbol</vt:lpstr>
      <vt:lpstr>Wingdings</vt:lpstr>
      <vt:lpstr>aalto_Science</vt:lpstr>
      <vt:lpstr> COINS Course Group Work  - Tips on How to Succeed         </vt:lpstr>
      <vt:lpstr>Agenda</vt:lpstr>
      <vt:lpstr>Working in a Globally Distributed and Multi-disciplinary Team - Tips</vt:lpstr>
      <vt:lpstr>Working in a Globally Distributed and Multi-disciplinary Team - Tips</vt:lpstr>
      <vt:lpstr>Some Tips, continues…</vt:lpstr>
      <vt:lpstr>Some Tips, continues…</vt:lpstr>
      <vt:lpstr>Iterations</vt:lpstr>
      <vt:lpstr>Iteration</vt:lpstr>
      <vt:lpstr>Iterations</vt:lpstr>
      <vt:lpstr>1. Iteration</vt:lpstr>
      <vt:lpstr>Template for Presentations</vt:lpstr>
      <vt:lpstr>Communication recording</vt:lpstr>
      <vt:lpstr>Communication recording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T-76.5612 Software Project Management   Spring 2012 Lecture 1.  Maria Paasivaara      </dc:title>
  <dc:creator>Maria Paasivaara</dc:creator>
  <cp:lastModifiedBy>Peter A Gloor</cp:lastModifiedBy>
  <cp:revision>130</cp:revision>
  <cp:lastPrinted>2021-02-22T07:26:09Z</cp:lastPrinted>
  <dcterms:created xsi:type="dcterms:W3CDTF">2012-01-18T09:16:53Z</dcterms:created>
  <dcterms:modified xsi:type="dcterms:W3CDTF">2025-04-11T11:42:19Z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vTieturiVerId">
    <vt:lpwstr>002</vt:lpwstr>
  </property>
</Properties>
</file>