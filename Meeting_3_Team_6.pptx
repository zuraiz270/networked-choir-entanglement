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40" d="100"/>
          <a:sy n="40" d="100"/>
        </p:scale>
        <p:origin x="78" y="11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433809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jpe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516" y="64395"/>
            <a:ext cx="18288000" cy="10287000"/>
          </a:xfrm>
          <a:prstGeom prst="rect">
            <a:avLst/>
          </a:prstGeom>
          <a:solidFill>
            <a:srgbClr val="073340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3" name="Text 1"/>
          <p:cNvSpPr/>
          <p:nvPr/>
        </p:nvSpPr>
        <p:spPr>
          <a:xfrm>
            <a:off x="6005175" y="1938337"/>
            <a:ext cx="6277500" cy="876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6000" b="1" kern="0" spc="-75" dirty="0">
                <a:solidFill>
                  <a:srgbClr val="C49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 Meeting III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5865523" y="3005138"/>
            <a:ext cx="6556953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2700" dirty="0">
                <a:solidFill>
                  <a:srgbClr val="B8D4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8 — Entanglement in Online Choir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7793236" y="3843338"/>
            <a:ext cx="2701528" cy="390525"/>
          </a:xfrm>
          <a:prstGeom prst="roundRect">
            <a:avLst>
              <a:gd name="adj" fmla="val 48780"/>
            </a:avLst>
          </a:prstGeom>
          <a:solidFill>
            <a:srgbClr val="C4902A">
              <a:alpha val="20000"/>
            </a:srgbClr>
          </a:solidFill>
          <a:ln w="9525">
            <a:solidFill>
              <a:srgbClr val="C4902A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6" name="Text 4"/>
          <p:cNvSpPr/>
          <p:nvPr/>
        </p:nvSpPr>
        <p:spPr>
          <a:xfrm>
            <a:off x="7933688" y="3929063"/>
            <a:ext cx="2420624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500" dirty="0">
                <a:solidFill>
                  <a:srgbClr val="B8D4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SNA-OSN-M Summer 2026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286702" y="4976813"/>
            <a:ext cx="371459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950" dirty="0">
                <a:solidFill>
                  <a:srgbClr val="8FB3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 Bamberg × Uni Köln × HSLU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5678353" y="5653088"/>
            <a:ext cx="693129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8FB3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Team: Zuraiz · Hammad Anwar · Hassaan Ahmed · Kumaran Vasu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579954" y="6376988"/>
            <a:ext cx="3127943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9BC4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Presented by Hammad Anwar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7654230" y="7081838"/>
            <a:ext cx="1516410" cy="390525"/>
          </a:xfrm>
          <a:prstGeom prst="roundRect">
            <a:avLst>
              <a:gd name="adj" fmla="val 48780"/>
            </a:avLst>
          </a:prstGeom>
          <a:solidFill>
            <a:srgbClr val="C4902A">
              <a:alpha val="20000"/>
            </a:srgbClr>
          </a:solidFill>
          <a:ln w="9525">
            <a:solidFill>
              <a:srgbClr val="C4902A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11" name="Text 9"/>
          <p:cNvSpPr/>
          <p:nvPr/>
        </p:nvSpPr>
        <p:spPr>
          <a:xfrm>
            <a:off x="7797105" y="7167563"/>
            <a:ext cx="1230660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500" dirty="0">
                <a:solidFill>
                  <a:srgbClr val="B8D4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May 21, 2026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9361140" y="7081838"/>
            <a:ext cx="1272629" cy="390525"/>
          </a:xfrm>
          <a:prstGeom prst="roundRect">
            <a:avLst>
              <a:gd name="adj" fmla="val 48780"/>
            </a:avLst>
          </a:prstGeom>
          <a:solidFill>
            <a:srgbClr val="C4902A">
              <a:alpha val="20000"/>
            </a:srgbClr>
          </a:solidFill>
          <a:ln w="9525">
            <a:solidFill>
              <a:srgbClr val="C4902A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13" name="Text 11"/>
          <p:cNvSpPr/>
          <p:nvPr/>
        </p:nvSpPr>
        <p:spPr>
          <a:xfrm>
            <a:off x="9504015" y="7167563"/>
            <a:ext cx="986879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500" dirty="0">
                <a:solidFill>
                  <a:srgbClr val="B8D4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14:00 CET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660809" y="8101013"/>
            <a:ext cx="4966232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650" i="1" dirty="0">
                <a:solidFill>
                  <a:srgbClr val="7FA5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Supervisors: Prof. Janine Hacker · Prof. Peter Gloor</a:t>
            </a:r>
            <a:endParaRPr lang="en-US" sz="16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6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71500"/>
            <a:ext cx="17266920" cy="561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3600" b="1" kern="0" spc="-37" dirty="0">
                <a:solidFill>
                  <a:srgbClr val="0E4D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are building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671060" y="1571625"/>
            <a:ext cx="8835390" cy="2152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100" dirty="0">
                <a:solidFill>
                  <a:srgbClr val="24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coordinated is a choir singing together over the internet?</a:t>
            </a:r>
            <a:endParaRPr lang="en-US" sz="21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2100" dirty="0">
                <a:solidFill>
                  <a:srgbClr val="24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measure it with one metric: E(t)</a:t>
            </a:r>
            <a:endParaRPr lang="en-US" sz="21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2100" dirty="0">
                <a:solidFill>
                  <a:srgbClr val="24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Combines audio sync, visual coupling, network influence</a:t>
            </a:r>
            <a:endParaRPr lang="en-US" sz="21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2100" dirty="0">
                <a:solidFill>
                  <a:srgbClr val="24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across latency, topology, and visual conditions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4857750" y="4067175"/>
            <a:ext cx="8572500" cy="2842022"/>
          </a:xfrm>
          <a:prstGeom prst="roundRect">
            <a:avLst>
              <a:gd name="adj" fmla="val 3351"/>
            </a:avLst>
          </a:prstGeom>
          <a:solidFill>
            <a:srgbClr val="FFFFFF"/>
          </a:solidFill>
          <a:ln w="28575">
            <a:solidFill>
              <a:srgbClr val="328095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5" name="Text 3"/>
          <p:cNvSpPr/>
          <p:nvPr/>
        </p:nvSpPr>
        <p:spPr>
          <a:xfrm>
            <a:off x="5151025" y="4476750"/>
            <a:ext cx="7985950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500" dirty="0">
                <a:solidFill>
                  <a:srgbClr val="6E6A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Entanglement Score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151025" y="4810125"/>
            <a:ext cx="7985950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C490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E(t) = (A + V + N) / 3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5267325" y="5581650"/>
            <a:ext cx="7753350" cy="19050"/>
          </a:xfrm>
          <a:prstGeom prst="rect">
            <a:avLst/>
          </a:prstGeom>
          <a:solidFill>
            <a:srgbClr val="E8E5DC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8" name="Text 6"/>
          <p:cNvSpPr/>
          <p:nvPr/>
        </p:nvSpPr>
        <p:spPr>
          <a:xfrm>
            <a:off x="5151025" y="5829300"/>
            <a:ext cx="7985950" cy="7084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lnSpc>
                <a:spcPct val="160000"/>
              </a:lnSpc>
              <a:buNone/>
            </a:pPr>
            <a:r>
              <a:rPr lang="en-US" sz="1650" dirty="0">
                <a:solidFill>
                  <a:srgbClr val="24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Per-singer, per-frame quantification of group coordination using Honest Signals and network science</a:t>
            </a:r>
            <a:endParaRPr lang="en-US" sz="16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6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71500"/>
            <a:ext cx="17266920" cy="561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3600" b="1" kern="0" spc="-37" dirty="0">
                <a:solidFill>
                  <a:srgbClr val="0E4D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Sprint 2 progress: Audio + Video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62000" y="1571625"/>
            <a:ext cx="8096250" cy="5112990"/>
          </a:xfrm>
          <a:prstGeom prst="roundRect">
            <a:avLst>
              <a:gd name="adj" fmla="val 1490"/>
            </a:avLst>
          </a:prstGeom>
          <a:solidFill>
            <a:srgbClr val="FFFFFF"/>
          </a:solidFill>
          <a:ln w="9525">
            <a:solidFill>
              <a:srgbClr val="E8E5DC"/>
            </a:solidFill>
            <a:prstDash val="solid"/>
          </a:ln>
          <a:effectLst>
            <a:outerShdw blurRad="76200" dist="1905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62000" y="1571625"/>
            <a:ext cx="8201696" cy="529223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62000" y="7080642"/>
            <a:ext cx="8339137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50" i="1" dirty="0">
                <a:solidFill>
                  <a:srgbClr val="6E6A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WP1: pitch tracks of a Dagstuhl quartet; adjacent voices align 0.72–0.77</a:t>
            </a:r>
            <a:endParaRPr lang="en-US" sz="1350" dirty="0"/>
          </a:p>
        </p:txBody>
      </p:sp>
      <p:sp>
        <p:nvSpPr>
          <p:cNvPr id="6" name="Shape 3"/>
          <p:cNvSpPr/>
          <p:nvPr/>
        </p:nvSpPr>
        <p:spPr>
          <a:xfrm>
            <a:off x="9429750" y="1571625"/>
            <a:ext cx="8096250" cy="5103763"/>
          </a:xfrm>
          <a:prstGeom prst="roundRect">
            <a:avLst>
              <a:gd name="adj" fmla="val 1493"/>
            </a:avLst>
          </a:prstGeom>
          <a:solidFill>
            <a:srgbClr val="FFFFFF"/>
          </a:solidFill>
          <a:ln w="9525">
            <a:solidFill>
              <a:srgbClr val="E8E5DC"/>
            </a:solidFill>
            <a:prstDash val="solid"/>
          </a:ln>
          <a:effectLst>
            <a:outerShdw blurRad="76200" dist="1905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9119209" y="1571625"/>
            <a:ext cx="8406791" cy="529952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9429750" y="7084291"/>
            <a:ext cx="8339137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50" i="1" dirty="0">
                <a:solidFill>
                  <a:srgbClr val="6E6A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WP2: breathing &amp; head sway from Tier-1 SoundJack rehearsal (80% detection)</a:t>
            </a:r>
            <a:endParaRPr lang="en-US" sz="1350" dirty="0"/>
          </a:p>
        </p:txBody>
      </p:sp>
      <p:sp>
        <p:nvSpPr>
          <p:cNvPr id="9" name="Shape 5"/>
          <p:cNvSpPr/>
          <p:nvPr/>
        </p:nvSpPr>
        <p:spPr>
          <a:xfrm>
            <a:off x="762000" y="8107864"/>
            <a:ext cx="16764000" cy="723900"/>
          </a:xfrm>
          <a:prstGeom prst="rect">
            <a:avLst/>
          </a:prstGeom>
          <a:solidFill>
            <a:srgbClr val="338095">
              <a:alpha val="6000"/>
            </a:srgbClr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10" name="Shape 6"/>
          <p:cNvSpPr/>
          <p:nvPr/>
        </p:nvSpPr>
        <p:spPr>
          <a:xfrm>
            <a:off x="762000" y="8107863"/>
            <a:ext cx="38100" cy="723900"/>
          </a:xfrm>
          <a:prstGeom prst="rect">
            <a:avLst/>
          </a:prstGeom>
          <a:solidFill>
            <a:srgbClr val="328095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11" name="Text 7"/>
          <p:cNvSpPr/>
          <p:nvPr/>
        </p:nvSpPr>
        <p:spPr>
          <a:xfrm>
            <a:off x="990600" y="8233977"/>
            <a:ext cx="1684782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dirty="0">
                <a:solidFill>
                  <a:srgbClr val="24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Both pipelines end-to-end on real data, parquet outputs, smoke tests pass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6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71500"/>
            <a:ext cx="17266920" cy="561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3600" b="1" kern="0" spc="-37" dirty="0">
                <a:solidFill>
                  <a:srgbClr val="0E4D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Sprint 2 progress: Network Influence (WP3)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1066800" y="2720429"/>
            <a:ext cx="8034337" cy="4589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70000"/>
              </a:lnSpc>
              <a:buNone/>
            </a:pPr>
            <a:r>
              <a:rPr lang="en-US" sz="1950" b="1" dirty="0">
                <a:solidFill>
                  <a:srgbClr val="24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Granger causality analysis </a:t>
            </a:r>
            <a:r>
              <a:rPr lang="en-US" sz="1950" dirty="0">
                <a:solidFill>
                  <a:srgbClr val="24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pitch tracks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1066800" y="3331815"/>
            <a:ext cx="8034337" cy="4589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70000"/>
              </a:lnSpc>
              <a:buNone/>
            </a:pPr>
            <a:r>
              <a:rPr lang="en-US" sz="1950" dirty="0">
                <a:solidFill>
                  <a:srgbClr val="24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Directed acyclic graph: who leads, who follows</a:t>
            </a:r>
            <a:endParaRPr lang="en-US" sz="1950" dirty="0"/>
          </a:p>
        </p:txBody>
      </p:sp>
      <p:sp>
        <p:nvSpPr>
          <p:cNvPr id="5" name="Text 3"/>
          <p:cNvSpPr/>
          <p:nvPr/>
        </p:nvSpPr>
        <p:spPr>
          <a:xfrm>
            <a:off x="1066800" y="3943201"/>
            <a:ext cx="8034337" cy="4589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70000"/>
              </a:lnSpc>
              <a:buNone/>
            </a:pPr>
            <a:r>
              <a:rPr lang="en-US" sz="1950" b="1" dirty="0">
                <a:solidFill>
                  <a:srgbClr val="24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Soprano is central hub </a:t>
            </a:r>
            <a:r>
              <a:rPr lang="en-US" sz="1950" dirty="0">
                <a:solidFill>
                  <a:srgbClr val="24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(eigenvector centrality 0.53)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1066800" y="4554587"/>
            <a:ext cx="8034337" cy="4589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70000"/>
              </a:lnSpc>
              <a:buNone/>
            </a:pPr>
            <a:r>
              <a:rPr lang="en-US" sz="1950" dirty="0">
                <a:solidFill>
                  <a:srgbClr val="24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of 12 possible edges significant (p &lt; 0.05)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1066800" y="5165973"/>
            <a:ext cx="8034337" cy="4589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70000"/>
              </a:lnSpc>
              <a:buNone/>
            </a:pPr>
            <a:r>
              <a:rPr lang="en-US" sz="1950" dirty="0">
                <a:solidFill>
                  <a:srgbClr val="24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Lag-1 temporal coupling across voices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1066800" y="5777359"/>
            <a:ext cx="8034337" cy="4589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70000"/>
              </a:lnSpc>
              <a:buNone/>
            </a:pPr>
            <a:r>
              <a:rPr lang="en-US" sz="1950" dirty="0">
                <a:solidFill>
                  <a:srgbClr val="24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Dataset: Dagstuhl ChoirSet, Locus Iste Quartet A, Take 02</a:t>
            </a:r>
            <a:endParaRPr lang="en-US" sz="1950" dirty="0"/>
          </a:p>
        </p:txBody>
      </p:sp>
      <p:sp>
        <p:nvSpPr>
          <p:cNvPr id="9" name="Shape 7"/>
          <p:cNvSpPr/>
          <p:nvPr/>
        </p:nvSpPr>
        <p:spPr>
          <a:xfrm>
            <a:off x="10144125" y="1571625"/>
            <a:ext cx="6667500" cy="5775424"/>
          </a:xfrm>
          <a:prstGeom prst="roundRect">
            <a:avLst>
              <a:gd name="adj" fmla="val 1319"/>
            </a:avLst>
          </a:prstGeom>
          <a:solidFill>
            <a:srgbClr val="FFFFFF"/>
          </a:solidFill>
          <a:ln w="9525">
            <a:solidFill>
              <a:srgbClr val="E8E5DC"/>
            </a:solidFill>
            <a:prstDash val="solid"/>
          </a:ln>
          <a:effectLst>
            <a:outerShdw blurRad="76200" dist="1905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169859" y="1571625"/>
            <a:ext cx="7641766" cy="661933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6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71500"/>
            <a:ext cx="17266920" cy="561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3600" b="1" kern="0" spc="-37" dirty="0">
                <a:solidFill>
                  <a:srgbClr val="0E4D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Sprint 2 progress: Dashboard (WP4)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2000250" y="1998762"/>
            <a:ext cx="14287500" cy="5498753"/>
          </a:xfrm>
          <a:prstGeom prst="roundRect">
            <a:avLst>
              <a:gd name="adj" fmla="val 1386"/>
            </a:avLst>
          </a:prstGeom>
          <a:solidFill>
            <a:srgbClr val="FFFFFF"/>
          </a:solidFill>
          <a:ln w="9525">
            <a:solidFill>
              <a:srgbClr val="E8E5DC"/>
            </a:solidFill>
            <a:prstDash val="solid"/>
          </a:ln>
          <a:effectLst>
            <a:outerShdw blurRad="76200" dist="1905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461752" y="1941760"/>
            <a:ext cx="15364496" cy="591325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66800" y="8305800"/>
            <a:ext cx="8132445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24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Nigredo: </a:t>
            </a:r>
            <a:r>
              <a:rPr lang="en-US" sz="1800" dirty="0">
                <a:solidFill>
                  <a:srgbClr val="24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Raw choir files (YouTube, Dagstuhl)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9639300" y="8305800"/>
            <a:ext cx="8132445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24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Albedo: </a:t>
            </a:r>
            <a:r>
              <a:rPr lang="en-US" sz="1800" dirty="0">
                <a:solidFill>
                  <a:srgbClr val="24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extraction (F0, pose, parquet schemas)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1066800" y="8839200"/>
            <a:ext cx="8132445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24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Citrinitas: </a:t>
            </a:r>
            <a:r>
              <a:rPr lang="en-US" sz="1800" dirty="0">
                <a:solidFill>
                  <a:srgbClr val="24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Cross-singer patterns (A(t), V(t), N(t) metrics)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9639300" y="8839200"/>
            <a:ext cx="8132445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24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Rubedo: </a:t>
            </a:r>
            <a:r>
              <a:rPr lang="en-US" sz="1800" dirty="0">
                <a:solidFill>
                  <a:srgbClr val="24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Entanglement quantification (E(t) = (A+V+N)/3)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1066800" y="9372600"/>
            <a:ext cx="8132445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dirty="0">
                <a:solidFill>
                  <a:srgbClr val="24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Honest Signals applied to networked choir performance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9639300" y="9372600"/>
            <a:ext cx="8132445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dirty="0">
                <a:solidFill>
                  <a:srgbClr val="24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Regime contrast: Zoom vs. SoundJack latency profiles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6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71500"/>
            <a:ext cx="17266920" cy="561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3600" b="1" kern="0" spc="-37" dirty="0">
                <a:solidFill>
                  <a:srgbClr val="0E4D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Sprint 2 progress: Data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62000" y="1571625"/>
            <a:ext cx="8388191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24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Tier-2: Dagstuhl ChoirSet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601980" y="2057400"/>
            <a:ext cx="8380095" cy="19579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>
              <a:lnSpc>
                <a:spcPct val="160000"/>
              </a:lnSpc>
            </a:pPr>
            <a:r>
              <a:rPr lang="en-US" dirty="0">
                <a:solidFill>
                  <a:srgbClr val="24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5.1 GB multitrack (SATB + mix)</a:t>
            </a:r>
            <a:endParaRPr lang="en-US" dirty="0"/>
          </a:p>
          <a:p>
            <a:pPr>
              <a:lnSpc>
                <a:spcPct val="160000"/>
              </a:lnSpc>
            </a:pPr>
            <a:r>
              <a:rPr lang="en-US" dirty="0">
                <a:solidFill>
                  <a:srgbClr val="24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MD5 verified vs. </a:t>
            </a:r>
            <a:r>
              <a:rPr lang="en-US" dirty="0" err="1">
                <a:solidFill>
                  <a:srgbClr val="24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Zenodo</a:t>
            </a:r>
            <a:endParaRPr lang="en-US" dirty="0"/>
          </a:p>
          <a:p>
            <a:pPr>
              <a:lnSpc>
                <a:spcPct val="160000"/>
              </a:lnSpc>
            </a:pPr>
            <a:r>
              <a:rPr lang="en-US" dirty="0">
                <a:solidFill>
                  <a:srgbClr val="24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singers, SATB sections + full choir + quartet groupings</a:t>
            </a:r>
            <a:endParaRPr lang="en-US" dirty="0"/>
          </a:p>
          <a:p>
            <a:pPr>
              <a:lnSpc>
                <a:spcPct val="160000"/>
              </a:lnSpc>
            </a:pPr>
            <a:r>
              <a:rPr lang="en-US" dirty="0">
                <a:solidFill>
                  <a:srgbClr val="24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Latency-free ground truth for validation</a:t>
            </a: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9382125" y="1571625"/>
            <a:ext cx="8388191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24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Tier-1: YouTube Corpus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9222105" y="2057400"/>
            <a:ext cx="8380095" cy="19579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>
              <a:lnSpc>
                <a:spcPct val="160000"/>
              </a:lnSpc>
            </a:pPr>
            <a:r>
              <a:rPr lang="en-US" dirty="0">
                <a:solidFill>
                  <a:srgbClr val="24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 videos verified &amp; hashed</a:t>
            </a:r>
            <a:endParaRPr lang="en-US" dirty="0"/>
          </a:p>
          <a:p>
            <a:pPr>
              <a:lnSpc>
                <a:spcPct val="160000"/>
              </a:lnSpc>
            </a:pPr>
            <a:r>
              <a:rPr lang="en-US" dirty="0">
                <a:solidFill>
                  <a:srgbClr val="24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1.3 GB on disk (SHA-256)</a:t>
            </a:r>
            <a:endParaRPr lang="en-US" dirty="0"/>
          </a:p>
          <a:p>
            <a:pPr>
              <a:lnSpc>
                <a:spcPct val="160000"/>
              </a:lnSpc>
            </a:pPr>
            <a:r>
              <a:rPr lang="en-US" dirty="0">
                <a:solidFill>
                  <a:srgbClr val="24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~4 hours of total duration across 29 videos</a:t>
            </a:r>
            <a:endParaRPr lang="en-US" dirty="0"/>
          </a:p>
          <a:p>
            <a:pPr>
              <a:lnSpc>
                <a:spcPct val="160000"/>
              </a:lnSpc>
            </a:pPr>
            <a:r>
              <a:rPr lang="en-US" dirty="0">
                <a:solidFill>
                  <a:srgbClr val="24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metadata in manifest.csv</a:t>
            </a: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762000" y="4453533"/>
            <a:ext cx="1726692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24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 Stratification by Latency Regime (n=29)</a:t>
            </a:r>
            <a:endParaRPr lang="en-US" sz="1950" dirty="0"/>
          </a:p>
        </p:txBody>
      </p:sp>
      <p:sp>
        <p:nvSpPr>
          <p:cNvPr id="8" name="Shape 6"/>
          <p:cNvSpPr/>
          <p:nvPr/>
        </p:nvSpPr>
        <p:spPr>
          <a:xfrm>
            <a:off x="762000" y="4977408"/>
            <a:ext cx="4048125" cy="1666875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9050">
            <a:solidFill>
              <a:srgbClr val="328095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9" name="Text 7"/>
          <p:cNvSpPr/>
          <p:nvPr/>
        </p:nvSpPr>
        <p:spPr>
          <a:xfrm>
            <a:off x="956358" y="5232648"/>
            <a:ext cx="3659410" cy="561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C49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2431256" y="5899398"/>
            <a:ext cx="785664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20000"/>
          </a:bodyPr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500" dirty="0">
                <a:solidFill>
                  <a:srgbClr val="24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Jamulus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956358" y="6175623"/>
            <a:ext cx="3659410" cy="2513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200" dirty="0">
                <a:solidFill>
                  <a:srgbClr val="6E6A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&lt;50ms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000625" y="4977408"/>
            <a:ext cx="4048125" cy="1666875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9050">
            <a:solidFill>
              <a:srgbClr val="328095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13" name="Text 11"/>
          <p:cNvSpPr/>
          <p:nvPr/>
        </p:nvSpPr>
        <p:spPr>
          <a:xfrm>
            <a:off x="5194983" y="5225058"/>
            <a:ext cx="3659410" cy="561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C49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5194983" y="5863233"/>
            <a:ext cx="3659410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500" dirty="0">
                <a:solidFill>
                  <a:srgbClr val="24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Jamulus + Zoom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9239250" y="4977408"/>
            <a:ext cx="4048125" cy="1666875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9050">
            <a:solidFill>
              <a:srgbClr val="328095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16" name="Text 14"/>
          <p:cNvSpPr/>
          <p:nvPr/>
        </p:nvSpPr>
        <p:spPr>
          <a:xfrm>
            <a:off x="9433608" y="5232648"/>
            <a:ext cx="3659410" cy="561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C49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10791974" y="5899398"/>
            <a:ext cx="1018877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20000"/>
          </a:bodyPr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500" dirty="0">
                <a:solidFill>
                  <a:srgbClr val="24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SoundJack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9433608" y="6175623"/>
            <a:ext cx="3659410" cy="2513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200" dirty="0">
                <a:solidFill>
                  <a:srgbClr val="6E6A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&lt;100ms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13477875" y="4977408"/>
            <a:ext cx="4048125" cy="1666875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9050">
            <a:solidFill>
              <a:srgbClr val="328095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20" name="Text 18"/>
          <p:cNvSpPr/>
          <p:nvPr/>
        </p:nvSpPr>
        <p:spPr>
          <a:xfrm>
            <a:off x="13672233" y="5232648"/>
            <a:ext cx="3659410" cy="561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C49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3600" dirty="0"/>
          </a:p>
        </p:txBody>
      </p:sp>
      <p:sp>
        <p:nvSpPr>
          <p:cNvPr id="21" name="Text 19"/>
          <p:cNvSpPr/>
          <p:nvPr/>
        </p:nvSpPr>
        <p:spPr>
          <a:xfrm>
            <a:off x="15051881" y="5899398"/>
            <a:ext cx="976164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20000"/>
          </a:bodyPr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500" dirty="0">
                <a:solidFill>
                  <a:srgbClr val="24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Zoom-only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3672233" y="6175623"/>
            <a:ext cx="3659410" cy="2513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200" dirty="0">
                <a:solidFill>
                  <a:srgbClr val="6E6A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&gt;150ms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762000" y="6930033"/>
            <a:ext cx="16764000" cy="2224683"/>
          </a:xfrm>
          <a:prstGeom prst="roundRect">
            <a:avLst>
              <a:gd name="adj" fmla="val 2569"/>
            </a:avLst>
          </a:prstGeom>
          <a:solidFill>
            <a:srgbClr val="D4AF37">
              <a:alpha val="8000"/>
            </a:srgbClr>
          </a:solidFill>
          <a:ln/>
        </p:spPr>
        <p:txBody>
          <a:bodyPr/>
          <a:lstStyle/>
          <a:p>
            <a:endParaRPr lang="en-DE" dirty="0"/>
          </a:p>
        </p:txBody>
      </p:sp>
      <p:sp>
        <p:nvSpPr>
          <p:cNvPr id="24" name="Shape 22"/>
          <p:cNvSpPr/>
          <p:nvPr/>
        </p:nvSpPr>
        <p:spPr>
          <a:xfrm>
            <a:off x="762000" y="6930033"/>
            <a:ext cx="38100" cy="2224683"/>
          </a:xfrm>
          <a:prstGeom prst="rect">
            <a:avLst/>
          </a:prstGeom>
          <a:solidFill>
            <a:srgbClr val="C4902A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25" name="Text 23"/>
          <p:cNvSpPr/>
          <p:nvPr/>
        </p:nvSpPr>
        <p:spPr>
          <a:xfrm>
            <a:off x="1066800" y="7196733"/>
            <a:ext cx="1667827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24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Insights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333500" y="7615833"/>
            <a:ext cx="16411575" cy="3732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>
              <a:lnSpc>
                <a:spcPct val="160000"/>
              </a:lnSpc>
            </a:pPr>
            <a:r>
              <a:rPr lang="en-US" sz="1650" b="1" dirty="0">
                <a:solidFill>
                  <a:srgbClr val="24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H1 contrast enabled: </a:t>
            </a:r>
            <a:r>
              <a:rPr lang="en-US" sz="1650" dirty="0">
                <a:solidFill>
                  <a:srgbClr val="24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 low-latency (</a:t>
            </a:r>
            <a:r>
              <a:rPr lang="en-US" sz="1650" dirty="0" err="1">
                <a:solidFill>
                  <a:srgbClr val="24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Jamulus</a:t>
            </a:r>
            <a:r>
              <a:rPr lang="en-US" sz="1650" dirty="0">
                <a:solidFill>
                  <a:srgbClr val="24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</a:t>
            </a:r>
            <a:r>
              <a:rPr lang="en-US" sz="1650" dirty="0" err="1">
                <a:solidFill>
                  <a:srgbClr val="24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SoundJack</a:t>
            </a:r>
            <a:r>
              <a:rPr lang="en-US" sz="1650" dirty="0">
                <a:solidFill>
                  <a:srgbClr val="24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 vs. 9 high-latency (Zoom) provides statistical power to test entanglement degradation</a:t>
            </a:r>
            <a:endParaRPr lang="en-US" sz="1650" dirty="0"/>
          </a:p>
        </p:txBody>
      </p:sp>
      <p:sp>
        <p:nvSpPr>
          <p:cNvPr id="27" name="Text 25"/>
          <p:cNvSpPr/>
          <p:nvPr/>
        </p:nvSpPr>
        <p:spPr>
          <a:xfrm>
            <a:off x="1333500" y="8084344"/>
            <a:ext cx="16411575" cy="3732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>
              <a:lnSpc>
                <a:spcPct val="160000"/>
              </a:lnSpc>
            </a:pPr>
            <a:r>
              <a:rPr lang="en-US" sz="1650" b="1" dirty="0">
                <a:solidFill>
                  <a:srgbClr val="24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Authenticity verified: </a:t>
            </a:r>
            <a:r>
              <a:rPr lang="en-US" sz="1650" dirty="0">
                <a:solidFill>
                  <a:srgbClr val="24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29 videos curated via deliberate unedited framing (no vocal comping possible); technical glitches document real-time transmission</a:t>
            </a:r>
            <a:endParaRPr lang="en-US" sz="1650" dirty="0"/>
          </a:p>
        </p:txBody>
      </p:sp>
      <p:sp>
        <p:nvSpPr>
          <p:cNvPr id="28" name="Text 26"/>
          <p:cNvSpPr/>
          <p:nvPr/>
        </p:nvSpPr>
        <p:spPr>
          <a:xfrm>
            <a:off x="1333500" y="8552855"/>
            <a:ext cx="16411575" cy="3732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>
              <a:lnSpc>
                <a:spcPct val="160000"/>
              </a:lnSpc>
            </a:pPr>
            <a:r>
              <a:rPr lang="en-US" sz="1650" b="1" dirty="0">
                <a:solidFill>
                  <a:srgbClr val="24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 achieved: </a:t>
            </a:r>
            <a:r>
              <a:rPr lang="en-US" sz="1650" dirty="0">
                <a:solidFill>
                  <a:srgbClr val="24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4 Hacker-confirmed Tier-0 seeds to 29 Tier-1 videos in 6 weeks; ready for WP1-3 feature extraction in Sprint 3</a:t>
            </a:r>
            <a:endParaRPr lang="en-US" sz="1650" dirty="0"/>
          </a:p>
        </p:txBody>
      </p:sp>
      <p:sp>
        <p:nvSpPr>
          <p:cNvPr id="29" name="Shape 27"/>
          <p:cNvSpPr/>
          <p:nvPr/>
        </p:nvSpPr>
        <p:spPr>
          <a:xfrm>
            <a:off x="762000" y="9591675"/>
            <a:ext cx="16764000" cy="695325"/>
          </a:xfrm>
          <a:prstGeom prst="roundRect">
            <a:avLst>
              <a:gd name="adj" fmla="val 5479"/>
            </a:avLst>
          </a:prstGeom>
          <a:solidFill>
            <a:srgbClr val="338095">
              <a:alpha val="6000"/>
            </a:srgbClr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30" name="Shape 28"/>
          <p:cNvSpPr/>
          <p:nvPr/>
        </p:nvSpPr>
        <p:spPr>
          <a:xfrm>
            <a:off x="762000" y="9619938"/>
            <a:ext cx="38100" cy="695325"/>
          </a:xfrm>
          <a:prstGeom prst="rect">
            <a:avLst/>
          </a:prstGeom>
          <a:solidFill>
            <a:srgbClr val="328095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31" name="Text 29"/>
          <p:cNvSpPr/>
          <p:nvPr/>
        </p:nvSpPr>
        <p:spPr>
          <a:xfrm>
            <a:off x="1074919" y="9763124"/>
            <a:ext cx="1684782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50" i="1" dirty="0">
                <a:solidFill>
                  <a:srgbClr val="24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extraction on all 29 runs in Sprint 3 against signed DPIA (filed today)</a:t>
            </a:r>
            <a:endParaRPr lang="en-US" sz="16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6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71500"/>
            <a:ext cx="17266920" cy="561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3600" b="1" kern="0" spc="-37" dirty="0">
                <a:solidFill>
                  <a:srgbClr val="0E4D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Sprint 3: May 21 → Jun 11 (3 weeks)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1398984" y="1571625"/>
            <a:ext cx="3643908" cy="3162300"/>
          </a:xfrm>
          <a:prstGeom prst="roundRect">
            <a:avLst>
              <a:gd name="adj" fmla="val 3012"/>
            </a:avLst>
          </a:prstGeom>
          <a:solidFill>
            <a:srgbClr val="FFFFFF"/>
          </a:solidFill>
          <a:ln w="28575">
            <a:solidFill>
              <a:srgbClr val="E8E5DC"/>
            </a:solidFill>
            <a:prstDash val="solid"/>
          </a:ln>
          <a:effectLst>
            <a:outerShdw blurRad="114300" dist="1905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4" name="Shape 2"/>
          <p:cNvSpPr/>
          <p:nvPr/>
        </p:nvSpPr>
        <p:spPr>
          <a:xfrm>
            <a:off x="1427559" y="1600200"/>
            <a:ext cx="3586758" cy="647700"/>
          </a:xfrm>
          <a:prstGeom prst="rect">
            <a:avLst/>
          </a:prstGeom>
          <a:solidFill>
            <a:srgbClr val="D97757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5" name="Text 3"/>
          <p:cNvSpPr/>
          <p:nvPr/>
        </p:nvSpPr>
        <p:spPr>
          <a:xfrm>
            <a:off x="1526158" y="1790700"/>
            <a:ext cx="3389561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WP1: Audio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1427559" y="2876550"/>
            <a:ext cx="3586758" cy="9525"/>
          </a:xfrm>
          <a:prstGeom prst="rect">
            <a:avLst/>
          </a:prstGeom>
          <a:solidFill>
            <a:srgbClr val="E8E5DC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7" name="Text 5"/>
          <p:cNvSpPr/>
          <p:nvPr/>
        </p:nvSpPr>
        <p:spPr>
          <a:xfrm>
            <a:off x="1579959" y="2419350"/>
            <a:ext cx="3389561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500" b="1" dirty="0">
                <a:solidFill>
                  <a:srgbClr val="24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 pipeline to all Dagstuhl pieces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459944" y="3038475"/>
            <a:ext cx="3478173" cy="1038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50" dirty="0">
                <a:solidFill>
                  <a:srgbClr val="6E6A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 A(t) per piece</a:t>
            </a:r>
            <a:endParaRPr lang="en-US" sz="135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350" dirty="0">
                <a:solidFill>
                  <a:srgbClr val="6E6A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Output: parquet format</a:t>
            </a:r>
            <a:endParaRPr lang="en-US" sz="135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350" dirty="0">
                <a:solidFill>
                  <a:srgbClr val="6E6A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Dagstuhl coverage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1427559" y="4191000"/>
            <a:ext cx="3586758" cy="514350"/>
          </a:xfrm>
          <a:prstGeom prst="rect">
            <a:avLst/>
          </a:prstGeom>
          <a:solidFill>
            <a:srgbClr val="E8E5DC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10" name="Shape 8"/>
          <p:cNvSpPr/>
          <p:nvPr/>
        </p:nvSpPr>
        <p:spPr>
          <a:xfrm>
            <a:off x="1427559" y="4191000"/>
            <a:ext cx="3586758" cy="9525"/>
          </a:xfrm>
          <a:prstGeom prst="rect">
            <a:avLst/>
          </a:prstGeom>
          <a:solidFill>
            <a:srgbClr val="E8E5DC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11" name="Text 9"/>
          <p:cNvSpPr/>
          <p:nvPr/>
        </p:nvSpPr>
        <p:spPr>
          <a:xfrm>
            <a:off x="1507108" y="4352925"/>
            <a:ext cx="3427661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24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Due: Jun 4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347692" y="1571625"/>
            <a:ext cx="3643908" cy="3162300"/>
          </a:xfrm>
          <a:prstGeom prst="roundRect">
            <a:avLst>
              <a:gd name="adj" fmla="val 3012"/>
            </a:avLst>
          </a:prstGeom>
          <a:solidFill>
            <a:srgbClr val="FFFFFF"/>
          </a:solidFill>
          <a:ln w="28575">
            <a:solidFill>
              <a:srgbClr val="E8E5DC"/>
            </a:solidFill>
            <a:prstDash val="solid"/>
          </a:ln>
          <a:effectLst>
            <a:outerShdw blurRad="114300" dist="1905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13" name="Shape 11"/>
          <p:cNvSpPr/>
          <p:nvPr/>
        </p:nvSpPr>
        <p:spPr>
          <a:xfrm>
            <a:off x="5376267" y="1600200"/>
            <a:ext cx="3586758" cy="647700"/>
          </a:xfrm>
          <a:prstGeom prst="rect">
            <a:avLst/>
          </a:prstGeom>
          <a:solidFill>
            <a:srgbClr val="2A6FDB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14" name="Text 12"/>
          <p:cNvSpPr/>
          <p:nvPr/>
        </p:nvSpPr>
        <p:spPr>
          <a:xfrm>
            <a:off x="5474866" y="1790700"/>
            <a:ext cx="3389561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WP2: Video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5376267" y="2876550"/>
            <a:ext cx="3586758" cy="9525"/>
          </a:xfrm>
          <a:prstGeom prst="rect">
            <a:avLst/>
          </a:prstGeom>
          <a:solidFill>
            <a:srgbClr val="E8E5DC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16" name="Text 14"/>
          <p:cNvSpPr/>
          <p:nvPr/>
        </p:nvSpPr>
        <p:spPr>
          <a:xfrm>
            <a:off x="5528667" y="2419350"/>
            <a:ext cx="3389561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500" b="1" dirty="0">
                <a:solidFill>
                  <a:srgbClr val="24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MediaPipe on 10 Tier-1 videos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5408652" y="3038475"/>
            <a:ext cx="3478173" cy="1038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50" dirty="0">
                <a:solidFill>
                  <a:srgbClr val="6E6A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Pose + FaceMesh extraction</a:t>
            </a:r>
            <a:endParaRPr lang="en-US" sz="135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350" dirty="0">
                <a:solidFill>
                  <a:srgbClr val="6E6A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Calibration note (1 page)</a:t>
            </a:r>
            <a:endParaRPr lang="en-US" sz="135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350" dirty="0">
                <a:solidFill>
                  <a:srgbClr val="6E6A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Per-singer parquet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5376267" y="4191000"/>
            <a:ext cx="3586758" cy="514350"/>
          </a:xfrm>
          <a:prstGeom prst="rect">
            <a:avLst/>
          </a:prstGeom>
          <a:solidFill>
            <a:srgbClr val="E8E5DC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19" name="Shape 17"/>
          <p:cNvSpPr/>
          <p:nvPr/>
        </p:nvSpPr>
        <p:spPr>
          <a:xfrm>
            <a:off x="5376267" y="4191000"/>
            <a:ext cx="3586758" cy="9525"/>
          </a:xfrm>
          <a:prstGeom prst="rect">
            <a:avLst/>
          </a:prstGeom>
          <a:solidFill>
            <a:srgbClr val="E8E5DC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20" name="Text 18"/>
          <p:cNvSpPr/>
          <p:nvPr/>
        </p:nvSpPr>
        <p:spPr>
          <a:xfrm>
            <a:off x="5455816" y="4352925"/>
            <a:ext cx="3427661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24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Due: Jun 11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9296400" y="1571625"/>
            <a:ext cx="3643908" cy="3162300"/>
          </a:xfrm>
          <a:prstGeom prst="roundRect">
            <a:avLst>
              <a:gd name="adj" fmla="val 3012"/>
            </a:avLst>
          </a:prstGeom>
          <a:solidFill>
            <a:srgbClr val="FFFFFF"/>
          </a:solidFill>
          <a:ln w="28575">
            <a:solidFill>
              <a:srgbClr val="E8E5DC"/>
            </a:solidFill>
            <a:prstDash val="solid"/>
          </a:ln>
          <a:effectLst>
            <a:outerShdw blurRad="114300" dist="1905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22" name="Shape 20"/>
          <p:cNvSpPr/>
          <p:nvPr/>
        </p:nvSpPr>
        <p:spPr>
          <a:xfrm>
            <a:off x="9324975" y="1600200"/>
            <a:ext cx="3586758" cy="647700"/>
          </a:xfrm>
          <a:prstGeom prst="rect">
            <a:avLst/>
          </a:prstGeom>
          <a:solidFill>
            <a:srgbClr val="1F8A5B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23" name="Text 21"/>
          <p:cNvSpPr/>
          <p:nvPr/>
        </p:nvSpPr>
        <p:spPr>
          <a:xfrm>
            <a:off x="9423574" y="1790700"/>
            <a:ext cx="3389561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WP3: Network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9324975" y="2876550"/>
            <a:ext cx="3586758" cy="9525"/>
          </a:xfrm>
          <a:prstGeom prst="rect">
            <a:avLst/>
          </a:prstGeom>
          <a:solidFill>
            <a:srgbClr val="E8E5DC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25" name="Text 23"/>
          <p:cNvSpPr/>
          <p:nvPr/>
        </p:nvSpPr>
        <p:spPr>
          <a:xfrm>
            <a:off x="9477375" y="2419350"/>
            <a:ext cx="3389561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500" b="1" dirty="0">
                <a:solidFill>
                  <a:srgbClr val="24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Granger causality on 5 pieces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9357360" y="3038475"/>
            <a:ext cx="3478173" cy="1038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50" dirty="0">
                <a:solidFill>
                  <a:srgbClr val="6E6A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Directed influence graphs</a:t>
            </a:r>
            <a:endParaRPr lang="en-US" sz="135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350" dirty="0">
                <a:solidFill>
                  <a:srgbClr val="6E6A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 + COP-GC variants</a:t>
            </a:r>
            <a:endParaRPr lang="en-US" sz="135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350" dirty="0">
                <a:solidFill>
                  <a:srgbClr val="6E6A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Cross-piece comparison</a:t>
            </a:r>
            <a:endParaRPr lang="en-US" sz="1350" dirty="0"/>
          </a:p>
        </p:txBody>
      </p:sp>
      <p:sp>
        <p:nvSpPr>
          <p:cNvPr id="27" name="Shape 25"/>
          <p:cNvSpPr/>
          <p:nvPr/>
        </p:nvSpPr>
        <p:spPr>
          <a:xfrm>
            <a:off x="9324975" y="4191000"/>
            <a:ext cx="3586758" cy="514350"/>
          </a:xfrm>
          <a:prstGeom prst="rect">
            <a:avLst/>
          </a:prstGeom>
          <a:solidFill>
            <a:srgbClr val="E8E5DC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28" name="Shape 26"/>
          <p:cNvSpPr/>
          <p:nvPr/>
        </p:nvSpPr>
        <p:spPr>
          <a:xfrm>
            <a:off x="9324975" y="4191000"/>
            <a:ext cx="3586758" cy="9525"/>
          </a:xfrm>
          <a:prstGeom prst="rect">
            <a:avLst/>
          </a:prstGeom>
          <a:solidFill>
            <a:srgbClr val="E8E5DC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29" name="Text 27"/>
          <p:cNvSpPr/>
          <p:nvPr/>
        </p:nvSpPr>
        <p:spPr>
          <a:xfrm>
            <a:off x="9404524" y="4352925"/>
            <a:ext cx="3427661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24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Due: Jun 11</a:t>
            </a:r>
            <a:endParaRPr lang="en-US" sz="1350" dirty="0"/>
          </a:p>
        </p:txBody>
      </p:sp>
      <p:sp>
        <p:nvSpPr>
          <p:cNvPr id="30" name="Shape 28"/>
          <p:cNvSpPr/>
          <p:nvPr/>
        </p:nvSpPr>
        <p:spPr>
          <a:xfrm>
            <a:off x="13245108" y="1571625"/>
            <a:ext cx="3643908" cy="3162300"/>
          </a:xfrm>
          <a:prstGeom prst="roundRect">
            <a:avLst>
              <a:gd name="adj" fmla="val 3012"/>
            </a:avLst>
          </a:prstGeom>
          <a:solidFill>
            <a:srgbClr val="FFFFFF"/>
          </a:solidFill>
          <a:ln w="28575">
            <a:solidFill>
              <a:srgbClr val="E8E5DC"/>
            </a:solidFill>
            <a:prstDash val="solid"/>
          </a:ln>
          <a:effectLst>
            <a:outerShdw blurRad="114300" dist="1905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31" name="Shape 29"/>
          <p:cNvSpPr/>
          <p:nvPr/>
        </p:nvSpPr>
        <p:spPr>
          <a:xfrm>
            <a:off x="13273683" y="1600200"/>
            <a:ext cx="3586758" cy="647700"/>
          </a:xfrm>
          <a:prstGeom prst="rect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32" name="Text 30"/>
          <p:cNvSpPr/>
          <p:nvPr/>
        </p:nvSpPr>
        <p:spPr>
          <a:xfrm>
            <a:off x="13372281" y="1790700"/>
            <a:ext cx="3389561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WP4: Legal</a:t>
            </a:r>
            <a:endParaRPr lang="en-US" sz="1800" dirty="0"/>
          </a:p>
        </p:txBody>
      </p:sp>
      <p:sp>
        <p:nvSpPr>
          <p:cNvPr id="33" name="Shape 31"/>
          <p:cNvSpPr/>
          <p:nvPr/>
        </p:nvSpPr>
        <p:spPr>
          <a:xfrm>
            <a:off x="13273683" y="2876550"/>
            <a:ext cx="3586758" cy="9525"/>
          </a:xfrm>
          <a:prstGeom prst="rect">
            <a:avLst/>
          </a:prstGeom>
          <a:solidFill>
            <a:srgbClr val="E8E5DC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34" name="Text 32"/>
          <p:cNvSpPr/>
          <p:nvPr/>
        </p:nvSpPr>
        <p:spPr>
          <a:xfrm>
            <a:off x="13426083" y="2419350"/>
            <a:ext cx="3389561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500" b="1" dirty="0">
                <a:solidFill>
                  <a:srgbClr val="24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DPIA sign-off from Bamberg DPO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13306068" y="3038475"/>
            <a:ext cx="3478173" cy="1038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50" dirty="0">
                <a:solidFill>
                  <a:srgbClr val="6E6A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DPIA document</a:t>
            </a:r>
            <a:endParaRPr lang="en-US" sz="135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350" dirty="0">
                <a:solidFill>
                  <a:srgbClr val="6E6A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Cleared for large-scale extraction</a:t>
            </a:r>
            <a:endParaRPr lang="en-US" sz="135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350" dirty="0">
                <a:solidFill>
                  <a:srgbClr val="6E6A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Blocks Tier-3 injection</a:t>
            </a:r>
            <a:endParaRPr lang="en-US" sz="1350" dirty="0"/>
          </a:p>
        </p:txBody>
      </p:sp>
      <p:sp>
        <p:nvSpPr>
          <p:cNvPr id="36" name="Shape 34"/>
          <p:cNvSpPr/>
          <p:nvPr/>
        </p:nvSpPr>
        <p:spPr>
          <a:xfrm>
            <a:off x="13273683" y="4191000"/>
            <a:ext cx="3586758" cy="514350"/>
          </a:xfrm>
          <a:prstGeom prst="rect">
            <a:avLst/>
          </a:prstGeom>
          <a:solidFill>
            <a:srgbClr val="E8E5DC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37" name="Shape 35"/>
          <p:cNvSpPr/>
          <p:nvPr/>
        </p:nvSpPr>
        <p:spPr>
          <a:xfrm>
            <a:off x="13273683" y="4191000"/>
            <a:ext cx="3586758" cy="9525"/>
          </a:xfrm>
          <a:prstGeom prst="rect">
            <a:avLst/>
          </a:prstGeom>
          <a:solidFill>
            <a:srgbClr val="E8E5DC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38" name="Text 36"/>
          <p:cNvSpPr/>
          <p:nvPr/>
        </p:nvSpPr>
        <p:spPr>
          <a:xfrm>
            <a:off x="13353231" y="4352925"/>
            <a:ext cx="3427661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24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Due: Jun 11</a:t>
            </a:r>
            <a:endParaRPr lang="en-US" sz="1350" dirty="0"/>
          </a:p>
        </p:txBody>
      </p:sp>
      <p:sp>
        <p:nvSpPr>
          <p:cNvPr id="39" name="Shape 37"/>
          <p:cNvSpPr/>
          <p:nvPr/>
        </p:nvSpPr>
        <p:spPr>
          <a:xfrm>
            <a:off x="785812" y="5362575"/>
            <a:ext cx="16764000" cy="2468612"/>
          </a:xfrm>
          <a:prstGeom prst="roundRect">
            <a:avLst>
              <a:gd name="adj" fmla="val 3087"/>
            </a:avLst>
          </a:prstGeom>
          <a:solidFill>
            <a:srgbClr val="338095">
              <a:alpha val="8000"/>
            </a:srgbClr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40" name="Shape 38"/>
          <p:cNvSpPr/>
          <p:nvPr/>
        </p:nvSpPr>
        <p:spPr>
          <a:xfrm>
            <a:off x="762000" y="5210175"/>
            <a:ext cx="47625" cy="2468612"/>
          </a:xfrm>
          <a:prstGeom prst="rect">
            <a:avLst/>
          </a:prstGeom>
          <a:solidFill>
            <a:srgbClr val="328095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41" name="Text 39"/>
          <p:cNvSpPr/>
          <p:nvPr/>
        </p:nvSpPr>
        <p:spPr>
          <a:xfrm>
            <a:off x="1114425" y="5514975"/>
            <a:ext cx="16589978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24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Critical Path</a:t>
            </a:r>
            <a:endParaRPr lang="en-US" sz="1950" dirty="0"/>
          </a:p>
        </p:txBody>
      </p:sp>
      <p:sp>
        <p:nvSpPr>
          <p:cNvPr id="42" name="Text 40"/>
          <p:cNvSpPr/>
          <p:nvPr/>
        </p:nvSpPr>
        <p:spPr>
          <a:xfrm>
            <a:off x="1419225" y="6000750"/>
            <a:ext cx="16285178" cy="3942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70000"/>
              </a:lnSpc>
              <a:buNone/>
            </a:pPr>
            <a:r>
              <a:rPr lang="en-US" sz="1650" b="1" dirty="0">
                <a:solidFill>
                  <a:srgbClr val="24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Jun 14: </a:t>
            </a:r>
            <a:r>
              <a:rPr lang="en-US" sz="1650" dirty="0">
                <a:solidFill>
                  <a:srgbClr val="24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Tier-3 controlled latency injection </a:t>
            </a:r>
            <a:r>
              <a:rPr lang="en-US" sz="1650" b="1" i="1" dirty="0">
                <a:solidFill>
                  <a:srgbClr val="3280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</a:t>
            </a:r>
            <a:r>
              <a:rPr lang="en-US" sz="1650" dirty="0">
                <a:solidFill>
                  <a:srgbClr val="24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 WP1 + WP3 land (audio features + influence graphs required)</a:t>
            </a:r>
            <a:endParaRPr lang="en-US" sz="1650" dirty="0"/>
          </a:p>
        </p:txBody>
      </p:sp>
      <p:sp>
        <p:nvSpPr>
          <p:cNvPr id="43" name="Text 41"/>
          <p:cNvSpPr/>
          <p:nvPr/>
        </p:nvSpPr>
        <p:spPr>
          <a:xfrm>
            <a:off x="1419225" y="6509296"/>
            <a:ext cx="16285178" cy="3942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70000"/>
              </a:lnSpc>
              <a:buNone/>
            </a:pPr>
            <a:r>
              <a:rPr lang="en-US" sz="1650" b="1" dirty="0">
                <a:solidFill>
                  <a:srgbClr val="24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Apr-17 DSP blocker: </a:t>
            </a:r>
            <a:r>
              <a:rPr lang="en-US" sz="1650" dirty="0">
                <a:solidFill>
                  <a:srgbClr val="24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Tier-1 YouTube remains visual-only; no per-singer audio features attempted on mixed-stereo</a:t>
            </a:r>
            <a:endParaRPr lang="en-US" sz="1650" dirty="0"/>
          </a:p>
        </p:txBody>
      </p:sp>
      <p:sp>
        <p:nvSpPr>
          <p:cNvPr id="44" name="Text 42"/>
          <p:cNvSpPr/>
          <p:nvPr/>
        </p:nvSpPr>
        <p:spPr>
          <a:xfrm>
            <a:off x="1419225" y="7017841"/>
            <a:ext cx="16285178" cy="3942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70000"/>
              </a:lnSpc>
              <a:buNone/>
            </a:pPr>
            <a:r>
              <a:rPr lang="en-US" sz="1650" b="1" dirty="0">
                <a:solidFill>
                  <a:srgbClr val="24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Depends on: </a:t>
            </a:r>
            <a:r>
              <a:rPr lang="en-US" sz="1650" dirty="0">
                <a:solidFill>
                  <a:srgbClr val="24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DPIA sign-off (WP4) before large-scale extraction can proceed</a:t>
            </a:r>
            <a:endParaRPr lang="en-US" sz="16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6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71500"/>
            <a:ext cx="17266920" cy="561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3600" b="1" kern="0" spc="-37" dirty="0">
                <a:solidFill>
                  <a:srgbClr val="0E4D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Sprint 2 retrospective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62000" y="1571625"/>
            <a:ext cx="9512201" cy="3159919"/>
          </a:xfrm>
          <a:prstGeom prst="roundRect">
            <a:avLst>
              <a:gd name="adj" fmla="val 3014"/>
            </a:avLst>
          </a:prstGeom>
          <a:solidFill>
            <a:srgbClr val="FFFFFF"/>
          </a:solidFill>
          <a:ln w="28575">
            <a:solidFill>
              <a:srgbClr val="E8E5DC"/>
            </a:solidFill>
            <a:prstDash val="solid"/>
          </a:ln>
          <a:effectLst>
            <a:outerShdw blurRad="114300" dist="1905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4" name="Shape 2"/>
          <p:cNvSpPr/>
          <p:nvPr/>
        </p:nvSpPr>
        <p:spPr>
          <a:xfrm>
            <a:off x="790575" y="1600200"/>
            <a:ext cx="9455051" cy="790575"/>
          </a:xfrm>
          <a:prstGeom prst="rect">
            <a:avLst/>
          </a:prstGeom>
          <a:solidFill>
            <a:srgbClr val="1F8A5B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5" name="Shape 3"/>
          <p:cNvSpPr/>
          <p:nvPr/>
        </p:nvSpPr>
        <p:spPr>
          <a:xfrm>
            <a:off x="790575" y="2362200"/>
            <a:ext cx="9455051" cy="28575"/>
          </a:xfrm>
          <a:prstGeom prst="rect">
            <a:avLst/>
          </a:prstGeom>
          <a:solidFill>
            <a:srgbClr val="E8E5DC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6" name="Shape 4"/>
          <p:cNvSpPr/>
          <p:nvPr/>
        </p:nvSpPr>
        <p:spPr>
          <a:xfrm>
            <a:off x="1019175" y="1885950"/>
            <a:ext cx="190500" cy="19050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7" name="Text 5"/>
          <p:cNvSpPr/>
          <p:nvPr/>
        </p:nvSpPr>
        <p:spPr>
          <a:xfrm>
            <a:off x="1362075" y="1828800"/>
            <a:ext cx="1735782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worked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872490" y="2619375"/>
            <a:ext cx="9220736" cy="18930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650" dirty="0">
                <a:solidFill>
                  <a:srgbClr val="24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Tier-1 corpus criteria re-discovered 4 of 5 supervisor URLs</a:t>
            </a:r>
            <a:endParaRPr lang="en-US" sz="1650" dirty="0"/>
          </a:p>
          <a:p>
            <a:pPr marL="0" indent="0" algn="l">
              <a:lnSpc>
                <a:spcPct val="160000"/>
              </a:lnSpc>
              <a:buNone/>
            </a:pPr>
            <a:r>
              <a:rPr lang="en-US" sz="1650" dirty="0">
                <a:solidFill>
                  <a:srgbClr val="24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4 WPs shipped Sprint-2 milestones with flagship figures</a:t>
            </a:r>
            <a:endParaRPr lang="en-US" sz="1650" dirty="0"/>
          </a:p>
          <a:p>
            <a:pPr marL="0" indent="0" algn="l">
              <a:lnSpc>
                <a:spcPct val="160000"/>
              </a:lnSpc>
              <a:buNone/>
            </a:pPr>
            <a:r>
              <a:rPr lang="en-US" sz="1650" dirty="0">
                <a:solidFill>
                  <a:srgbClr val="24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Cross-WP communication on Slack improved velocity</a:t>
            </a:r>
            <a:endParaRPr lang="en-US" sz="1650" dirty="0"/>
          </a:p>
          <a:p>
            <a:pPr marL="0" indent="0" algn="l">
              <a:lnSpc>
                <a:spcPct val="160000"/>
              </a:lnSpc>
              <a:buNone/>
            </a:pPr>
            <a:r>
              <a:rPr lang="en-US" sz="1650" dirty="0">
                <a:solidFill>
                  <a:srgbClr val="24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authenticity audits (no vocal comping detected)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10731401" y="1571625"/>
            <a:ext cx="6794450" cy="3159919"/>
          </a:xfrm>
          <a:prstGeom prst="roundRect">
            <a:avLst>
              <a:gd name="adj" fmla="val 3014"/>
            </a:avLst>
          </a:prstGeom>
          <a:solidFill>
            <a:srgbClr val="FFFFFF"/>
          </a:solidFill>
          <a:ln w="28575">
            <a:solidFill>
              <a:srgbClr val="E8E5DC"/>
            </a:solidFill>
            <a:prstDash val="solid"/>
          </a:ln>
          <a:effectLst>
            <a:outerShdw blurRad="114300" dist="1905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10" name="Shape 8"/>
          <p:cNvSpPr/>
          <p:nvPr/>
        </p:nvSpPr>
        <p:spPr>
          <a:xfrm>
            <a:off x="10759976" y="1600200"/>
            <a:ext cx="6737300" cy="790575"/>
          </a:xfrm>
          <a:prstGeom prst="rect">
            <a:avLst/>
          </a:prstGeom>
          <a:solidFill>
            <a:srgbClr val="D97757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11" name="Shape 9"/>
          <p:cNvSpPr/>
          <p:nvPr/>
        </p:nvSpPr>
        <p:spPr>
          <a:xfrm>
            <a:off x="10759976" y="2362200"/>
            <a:ext cx="6737300" cy="28575"/>
          </a:xfrm>
          <a:prstGeom prst="rect">
            <a:avLst/>
          </a:prstGeom>
          <a:solidFill>
            <a:srgbClr val="E8E5DC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12" name="Shape 10"/>
          <p:cNvSpPr/>
          <p:nvPr/>
        </p:nvSpPr>
        <p:spPr>
          <a:xfrm>
            <a:off x="10988576" y="1885950"/>
            <a:ext cx="190500" cy="19050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13" name="Text 11"/>
          <p:cNvSpPr/>
          <p:nvPr/>
        </p:nvSpPr>
        <p:spPr>
          <a:xfrm>
            <a:off x="11331476" y="1828800"/>
            <a:ext cx="1735782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slipped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10841891" y="2619375"/>
            <a:ext cx="6502985" cy="18930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650" dirty="0">
                <a:solidFill>
                  <a:srgbClr val="24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Intermediate dates slipped 9–17 days (Zenodo bandwidth)</a:t>
            </a:r>
            <a:endParaRPr lang="en-US" sz="1650" dirty="0"/>
          </a:p>
          <a:p>
            <a:pPr marL="0" indent="0" algn="l">
              <a:lnSpc>
                <a:spcPct val="160000"/>
              </a:lnSpc>
              <a:buNone/>
            </a:pPr>
            <a:r>
              <a:rPr lang="en-US" sz="1650" dirty="0">
                <a:solidFill>
                  <a:srgbClr val="24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Audio pipeline blocked on Tier-2 download (May 1 → May 17)</a:t>
            </a:r>
            <a:endParaRPr lang="en-US" sz="1650" dirty="0"/>
          </a:p>
          <a:p>
            <a:pPr marL="0" indent="0" algn="l">
              <a:lnSpc>
                <a:spcPct val="160000"/>
              </a:lnSpc>
              <a:buNone/>
            </a:pPr>
            <a:r>
              <a:rPr lang="en-US" sz="1650" dirty="0">
                <a:solidFill>
                  <a:srgbClr val="24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Coordination is task-heavy, bond-light</a:t>
            </a:r>
            <a:endParaRPr lang="en-US" sz="1650" dirty="0"/>
          </a:p>
          <a:p>
            <a:pPr marL="0" indent="0" algn="l">
              <a:lnSpc>
                <a:spcPct val="160000"/>
              </a:lnSpc>
              <a:buNone/>
            </a:pPr>
            <a:r>
              <a:rPr lang="en-US" sz="1650" dirty="0">
                <a:solidFill>
                  <a:srgbClr val="24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WP2/3 brought forward to avoid total slip</a:t>
            </a:r>
            <a:endParaRPr lang="en-US" sz="1650" dirty="0"/>
          </a:p>
        </p:txBody>
      </p:sp>
      <p:sp>
        <p:nvSpPr>
          <p:cNvPr id="15" name="Shape 13"/>
          <p:cNvSpPr/>
          <p:nvPr/>
        </p:nvSpPr>
        <p:spPr>
          <a:xfrm>
            <a:off x="762000" y="5188744"/>
            <a:ext cx="9512201" cy="3159919"/>
          </a:xfrm>
          <a:prstGeom prst="roundRect">
            <a:avLst>
              <a:gd name="adj" fmla="val 3014"/>
            </a:avLst>
          </a:prstGeom>
          <a:solidFill>
            <a:srgbClr val="FFFFFF"/>
          </a:solidFill>
          <a:ln w="28575">
            <a:solidFill>
              <a:srgbClr val="E8E5DC"/>
            </a:solidFill>
            <a:prstDash val="solid"/>
          </a:ln>
          <a:effectLst>
            <a:outerShdw blurRad="114300" dist="1905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16" name="Shape 14"/>
          <p:cNvSpPr/>
          <p:nvPr/>
        </p:nvSpPr>
        <p:spPr>
          <a:xfrm>
            <a:off x="790575" y="5217319"/>
            <a:ext cx="9455051" cy="790575"/>
          </a:xfrm>
          <a:prstGeom prst="rect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17" name="Shape 15"/>
          <p:cNvSpPr/>
          <p:nvPr/>
        </p:nvSpPr>
        <p:spPr>
          <a:xfrm>
            <a:off x="790575" y="5979319"/>
            <a:ext cx="9455051" cy="28575"/>
          </a:xfrm>
          <a:prstGeom prst="rect">
            <a:avLst/>
          </a:prstGeom>
          <a:solidFill>
            <a:srgbClr val="E8E5DC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18" name="Shape 16"/>
          <p:cNvSpPr/>
          <p:nvPr/>
        </p:nvSpPr>
        <p:spPr>
          <a:xfrm>
            <a:off x="1019175" y="5503069"/>
            <a:ext cx="190500" cy="19050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19" name="Text 17"/>
          <p:cNvSpPr/>
          <p:nvPr/>
        </p:nvSpPr>
        <p:spPr>
          <a:xfrm>
            <a:off x="1362075" y="5445919"/>
            <a:ext cx="1499443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 fix</a:t>
            </a:r>
            <a:endParaRPr lang="en-US" sz="2100" dirty="0"/>
          </a:p>
        </p:txBody>
      </p:sp>
      <p:sp>
        <p:nvSpPr>
          <p:cNvPr id="20" name="Text 18"/>
          <p:cNvSpPr/>
          <p:nvPr/>
        </p:nvSpPr>
        <p:spPr>
          <a:xfrm>
            <a:off x="1285875" y="6236494"/>
            <a:ext cx="9001086" cy="3732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650" b="1" dirty="0">
                <a:solidFill>
                  <a:srgbClr val="24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Weekly 15-min Monday async check-in</a:t>
            </a:r>
            <a:endParaRPr lang="en-US" sz="1650" dirty="0"/>
          </a:p>
        </p:txBody>
      </p:sp>
      <p:sp>
        <p:nvSpPr>
          <p:cNvPr id="21" name="Text 19"/>
          <p:cNvSpPr/>
          <p:nvPr/>
        </p:nvSpPr>
        <p:spPr>
          <a:xfrm>
            <a:off x="1285875" y="6743105"/>
            <a:ext cx="9001086" cy="3732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650" dirty="0">
                <a:solidFill>
                  <a:srgbClr val="24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WP posts: shipping / stuck / need</a:t>
            </a:r>
            <a:endParaRPr lang="en-US" sz="1650" dirty="0"/>
          </a:p>
        </p:txBody>
      </p:sp>
      <p:sp>
        <p:nvSpPr>
          <p:cNvPr id="22" name="Text 20"/>
          <p:cNvSpPr/>
          <p:nvPr/>
        </p:nvSpPr>
        <p:spPr>
          <a:xfrm>
            <a:off x="1285875" y="7249716"/>
            <a:ext cx="9001086" cy="3732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650" dirty="0">
                <a:solidFill>
                  <a:srgbClr val="24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Dependency graph reviewed for blockers</a:t>
            </a:r>
            <a:endParaRPr lang="en-US" sz="1650" dirty="0"/>
          </a:p>
        </p:txBody>
      </p:sp>
      <p:sp>
        <p:nvSpPr>
          <p:cNvPr id="23" name="Text 21"/>
          <p:cNvSpPr/>
          <p:nvPr/>
        </p:nvSpPr>
        <p:spPr>
          <a:xfrm>
            <a:off x="1285875" y="7756327"/>
            <a:ext cx="9001086" cy="3732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650" dirty="0">
                <a:solidFill>
                  <a:srgbClr val="24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slides drafted by Thu EOD for Friday review</a:t>
            </a:r>
            <a:endParaRPr lang="en-US" sz="16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6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33375" y="238125"/>
            <a:ext cx="18149888" cy="561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3600" b="1" kern="0" spc="-37" dirty="0">
                <a:solidFill>
                  <a:srgbClr val="0E4D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Virtual Mirror: Team dynamics &amp; communication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333375" y="2566839"/>
            <a:ext cx="2943225" cy="3752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7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coordinate around </a:t>
            </a:r>
            <a:r>
              <a:rPr lang="en-US" sz="33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tasks </a:t>
            </a:r>
            <a:r>
              <a:rPr lang="en-US" sz="21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Sprint-3 fix: </a:t>
            </a:r>
            <a:r>
              <a:rPr lang="en-US" sz="2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weekly 15-min async check-in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667500" y="1876574"/>
            <a:ext cx="4000500" cy="4750743"/>
          </a:xfrm>
          <a:prstGeom prst="roundRect">
            <a:avLst>
              <a:gd name="adj" fmla="val 1905"/>
            </a:avLst>
          </a:prstGeom>
          <a:ln w="9525">
            <a:solidFill>
              <a:srgbClr val="DDDDDD"/>
            </a:solidFill>
            <a:prstDash val="solid"/>
          </a:ln>
          <a:effectLst>
            <a:outerShdw blurRad="76200" dist="1905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98524" y="1876574"/>
            <a:ext cx="4769476" cy="475074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607493" y="6798766"/>
            <a:ext cx="4120515" cy="2113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975" i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Activity: Zuraiz drives volume; Hassaan responds fastest</a:t>
            </a:r>
            <a:endParaRPr lang="en-US" sz="975" dirty="0"/>
          </a:p>
        </p:txBody>
      </p:sp>
      <p:sp>
        <p:nvSpPr>
          <p:cNvPr id="7" name="Shape 4"/>
          <p:cNvSpPr/>
          <p:nvPr/>
        </p:nvSpPr>
        <p:spPr>
          <a:xfrm>
            <a:off x="11049000" y="3059460"/>
            <a:ext cx="4000500" cy="2384822"/>
          </a:xfrm>
          <a:prstGeom prst="roundRect">
            <a:avLst>
              <a:gd name="adj" fmla="val 3195"/>
            </a:avLst>
          </a:prstGeom>
          <a:ln w="9525">
            <a:solidFill>
              <a:srgbClr val="DDDDDD"/>
            </a:solidFill>
            <a:prstDash val="solid"/>
          </a:ln>
          <a:effectLst>
            <a:outerShdw blurRad="76200" dist="1905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49000" y="1876575"/>
            <a:ext cx="5984772" cy="356770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0988993" y="5615732"/>
            <a:ext cx="4120515" cy="2113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975" i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 character: HIGH Meaning, LOW Emotion, MEDIUM Relationship</a:t>
            </a:r>
            <a:endParaRPr lang="en-US" sz="975" dirty="0"/>
          </a:p>
        </p:txBody>
      </p:sp>
      <p:sp>
        <p:nvSpPr>
          <p:cNvPr id="10" name="Shape 6"/>
          <p:cNvSpPr/>
          <p:nvPr/>
        </p:nvSpPr>
        <p:spPr>
          <a:xfrm>
            <a:off x="333375" y="7353002"/>
            <a:ext cx="17621250" cy="9525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11" name="Text 7"/>
          <p:cNvSpPr/>
          <p:nvPr/>
        </p:nvSpPr>
        <p:spPr>
          <a:xfrm>
            <a:off x="333375" y="7600652"/>
            <a:ext cx="882967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E4D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Activity metrics</a:t>
            </a:r>
            <a:endParaRPr lang="en-US" sz="1800" dirty="0"/>
          </a:p>
        </p:txBody>
      </p:sp>
      <p:sp>
        <p:nvSpPr>
          <p:cNvPr id="12" name="Text 8"/>
          <p:cNvSpPr/>
          <p:nvPr/>
        </p:nvSpPr>
        <p:spPr>
          <a:xfrm>
            <a:off x="428625" y="8019752"/>
            <a:ext cx="8727567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133350" indent="-133350" algn="l">
              <a:lnSpc>
                <a:spcPct val="210000"/>
              </a:lnSpc>
              <a:buSzPct val="100000"/>
              <a:buChar char="•"/>
            </a:pPr>
            <a:r>
              <a:rPr lang="en-US" sz="15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Zuraiz: </a:t>
            </a: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 messages (42% of team)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428625" y="8419802"/>
            <a:ext cx="8727567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133350" indent="-133350" algn="l">
              <a:lnSpc>
                <a:spcPct val="210000"/>
              </a:lnSpc>
              <a:buSzPct val="100000"/>
              <a:buChar char="•"/>
            </a:pPr>
            <a:r>
              <a:rPr lang="en-US" sz="15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Hassaan: </a:t>
            </a: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2.62 min response (fastest)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428625" y="8819852"/>
            <a:ext cx="8727567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133350" indent="-133350" algn="l">
              <a:lnSpc>
                <a:spcPct val="210000"/>
              </a:lnSpc>
              <a:buSzPct val="100000"/>
              <a:buChar char="•"/>
            </a:pPr>
            <a:r>
              <a:rPr lang="en-US" sz="15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Response range: </a:t>
            </a: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2.62 min – 1.41 hrs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9382125" y="7600652"/>
            <a:ext cx="882967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E4D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Communication profile</a:t>
            </a:r>
            <a:endParaRPr lang="en-US" sz="1800" dirty="0"/>
          </a:p>
        </p:txBody>
      </p:sp>
      <p:sp>
        <p:nvSpPr>
          <p:cNvPr id="16" name="Text 12"/>
          <p:cNvSpPr/>
          <p:nvPr/>
        </p:nvSpPr>
        <p:spPr>
          <a:xfrm>
            <a:off x="9477375" y="8019752"/>
            <a:ext cx="8727567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133350" indent="-133350" algn="l">
              <a:lnSpc>
                <a:spcPct val="210000"/>
              </a:lnSpc>
              <a:buSzPct val="100000"/>
              <a:buChar char="•"/>
            </a:pPr>
            <a:r>
              <a:rPr lang="en-US" sz="15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Meaning: </a:t>
            </a: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task-focused exchanges</a:t>
            </a:r>
            <a:endParaRPr lang="en-US" sz="1500" dirty="0"/>
          </a:p>
        </p:txBody>
      </p:sp>
      <p:sp>
        <p:nvSpPr>
          <p:cNvPr id="17" name="Text 13"/>
          <p:cNvSpPr/>
          <p:nvPr/>
        </p:nvSpPr>
        <p:spPr>
          <a:xfrm>
            <a:off x="9477375" y="8419802"/>
            <a:ext cx="8727567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133350" indent="-133350" algn="l">
              <a:lnSpc>
                <a:spcPct val="210000"/>
              </a:lnSpc>
              <a:buSzPct val="100000"/>
              <a:buChar char="•"/>
            </a:pPr>
            <a:r>
              <a:rPr lang="en-US" sz="15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 Emotion: </a:t>
            </a: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professional tone</a:t>
            </a:r>
            <a:endParaRPr lang="en-US" sz="1500" dirty="0"/>
          </a:p>
        </p:txBody>
      </p:sp>
      <p:sp>
        <p:nvSpPr>
          <p:cNvPr id="18" name="Text 14"/>
          <p:cNvSpPr/>
          <p:nvPr/>
        </p:nvSpPr>
        <p:spPr>
          <a:xfrm>
            <a:off x="9477375" y="8819852"/>
            <a:ext cx="8727567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133350" indent="-133350" algn="l">
              <a:lnSpc>
                <a:spcPct val="210000"/>
              </a:lnSpc>
              <a:buSzPct val="100000"/>
              <a:buChar char="•"/>
            </a:pPr>
            <a:r>
              <a:rPr lang="en-US" sz="15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MEDIUM Relationship: </a:t>
            </a: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structured interaction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6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571500"/>
            <a:ext cx="16764000" cy="3971925"/>
          </a:xfrm>
          <a:prstGeom prst="rect">
            <a:avLst/>
          </a:prstGeom>
          <a:solidFill>
            <a:srgbClr val="FAF6EC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3" name="Text 1"/>
          <p:cNvSpPr/>
          <p:nvPr/>
        </p:nvSpPr>
        <p:spPr>
          <a:xfrm>
            <a:off x="1524000" y="1143000"/>
            <a:ext cx="15697200" cy="561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3600" b="1" kern="0" spc="-37" dirty="0">
                <a:solidFill>
                  <a:srgbClr val="0E4D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are tracking, what we need from the room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1524000" y="2143125"/>
            <a:ext cx="78486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24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 risks (with plan)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1524000" y="2771775"/>
            <a:ext cx="133350" cy="133350"/>
          </a:xfrm>
          <a:prstGeom prst="ellipse">
            <a:avLst/>
          </a:prstGeom>
          <a:solidFill>
            <a:srgbClr val="C98A23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6" name="Text 4"/>
          <p:cNvSpPr/>
          <p:nvPr/>
        </p:nvSpPr>
        <p:spPr>
          <a:xfrm>
            <a:off x="1809750" y="2714625"/>
            <a:ext cx="5676285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dirty="0">
                <a:solidFill>
                  <a:srgbClr val="24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DPO sign-off pending; following up weekly until Jun 14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1524000" y="3343275"/>
            <a:ext cx="133350" cy="133350"/>
          </a:xfrm>
          <a:prstGeom prst="ellipse">
            <a:avLst/>
          </a:prstGeom>
          <a:solidFill>
            <a:srgbClr val="C98A23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8" name="Text 6"/>
          <p:cNvSpPr/>
          <p:nvPr/>
        </p:nvSpPr>
        <p:spPr>
          <a:xfrm>
            <a:off x="1809750" y="3286125"/>
            <a:ext cx="7554278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dirty="0">
                <a:solidFill>
                  <a:srgbClr val="24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MediaPipe pose accuracy unvalidated; Sprint-3 OpenPose comparison planned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377761" y="5495925"/>
            <a:ext cx="3532330" cy="7923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5400" b="1" dirty="0">
                <a:solidFill>
                  <a:srgbClr val="24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5400" dirty="0"/>
          </a:p>
        </p:txBody>
      </p:sp>
      <p:sp>
        <p:nvSpPr>
          <p:cNvPr id="11" name="Text 9"/>
          <p:cNvSpPr/>
          <p:nvPr/>
        </p:nvSpPr>
        <p:spPr>
          <a:xfrm>
            <a:off x="7377761" y="6440686"/>
            <a:ext cx="3532330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2400" dirty="0">
                <a:latin typeface="Arial" pitchFamily="34" charset="0"/>
                <a:ea typeface="Arial" pitchFamily="34" charset="-122"/>
                <a:cs typeface="Arial" pitchFamily="34" charset="-120"/>
              </a:rPr>
              <a:t>Questions</a:t>
            </a: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7725221" y="8126611"/>
            <a:ext cx="2837557" cy="9525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en-DE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900</Words>
  <Application>Microsoft Office PowerPoint</Application>
  <PresentationFormat>Custom</PresentationFormat>
  <Paragraphs>136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- - - Zuraiz</cp:lastModifiedBy>
  <cp:revision>10</cp:revision>
  <dcterms:created xsi:type="dcterms:W3CDTF">2026-05-20T22:44:51Z</dcterms:created>
  <dcterms:modified xsi:type="dcterms:W3CDTF">2026-05-21T01:44:59Z</dcterms:modified>
</cp:coreProperties>
</file>