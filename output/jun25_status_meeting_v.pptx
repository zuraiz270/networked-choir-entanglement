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3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554480"/>
            <a:ext cx="11185855" cy="8229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4800" b="1">
                <a:solidFill>
                  <a:srgbClr val="FDFBF5"/>
                </a:solidFill>
                <a:latin typeface="Segoe UI"/>
              </a:rPr>
              <a:t>Status Meeting 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560320"/>
            <a:ext cx="11185855" cy="6400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2600" b="0">
                <a:solidFill>
                  <a:srgbClr val="E6C670"/>
                </a:solidFill>
                <a:latin typeface="Segoe UI"/>
              </a:rPr>
              <a:t>Project 8: Entanglement in Online Choir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657600"/>
            <a:ext cx="11185855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500" b="0">
                <a:solidFill>
                  <a:srgbClr val="CBD9DD"/>
                </a:solidFill>
                <a:latin typeface="Segoe UI"/>
              </a:rPr>
              <a:t>SNA-OSN-M Summer 2026  ·  Uni Bamberg × Uni Köln × HSLU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480560"/>
            <a:ext cx="11185855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500" b="1">
                <a:solidFill>
                  <a:srgbClr val="FDFBF5"/>
                </a:solidFill>
                <a:latin typeface="Segoe UI"/>
              </a:rPr>
              <a:t>Presented by Zuraiz and Kumaran Vasu, on behalf of the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029200"/>
            <a:ext cx="11185855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300" b="0">
                <a:solidFill>
                  <a:srgbClr val="CBD9DD"/>
                </a:solidFill>
                <a:latin typeface="Segoe UI"/>
              </a:rPr>
              <a:t>Supervisors: Prof. Janine Hacker · Prof. Peter Gloor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852160"/>
            <a:ext cx="11185855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400" b="0">
                <a:solidFill>
                  <a:srgbClr val="E6C670"/>
                </a:solidFill>
                <a:latin typeface="Segoe UI"/>
              </a:rPr>
              <a:t>2026-06-25 · 14:00 CET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Goals and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2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11185855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600" b="1">
                <a:solidFill>
                  <a:srgbClr val="0E4D5E"/>
                </a:solidFill>
                <a:latin typeface="Segoe UI"/>
              </a:rPr>
              <a:t>E(t) = mean( A audio, V visual, N network ): one coordination score per moment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1168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H1 · Latency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Lower latency → higher coordination. (This iteration's focus.)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01752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H2 · Topology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Influence network shifts democratic → leader-dominated as latency rises.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02336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H3 · Visual signals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Body sway + breathing add information over audio (still data-blocked).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212080"/>
            <a:ext cx="11185855" cy="6400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300" b="0">
                <a:solidFill>
                  <a:srgbClr val="0E4D5E"/>
                </a:solidFill>
                <a:latin typeface="Segoe UI"/>
              </a:rPr>
              <a:t>Status meeting 5 of 6. Jun 11: E(t) operational. Today: first test of H1 via latency injection.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This iteration: we found the latency signal, and learned exactly where it lives.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PROGRESS · LAST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We found the H1 latency signal (in attack timing)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3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1 · Constant delay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No E(t) effect. Our coupling is lag-tolerant; it absorbs a constant shift.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2316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2 · Realistic jitter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Still flat. 10s loudness envelopes are robust to tens-of-ms timing noise.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747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3 · Onset synchrony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Zero-lag attack timing, the quantity latency breaks. The signal appears.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63440"/>
            <a:ext cx="11185855" cy="11887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400" b="0">
                <a:solidFill>
                  <a:srgbClr val="0E4D5E"/>
                </a:solidFill>
                <a:latin typeface="Segoe UI"/>
              </a:rPr>
              <a:t>Result: attack-timing synchrony falls 57-76% (clean → Zoom) across 28 pieces; loudness coupling barely moves. A loudness-only metric would have said 'latency doesn't matter', and been wrong.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Latency degrades attack timing, not loudness coupling. The dissociation is the finding.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PROGRESS · LAST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The dissociation, in one figure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4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pic>
        <p:nvPicPr>
          <p:cNvPr id="6" name="Picture 5" descr="tier3_corpus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596" y="1280160"/>
            <a:ext cx="10578502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486400"/>
            <a:ext cx="11185855" cy="6400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0">
                <a:solidFill>
                  <a:srgbClr val="0E4D5E"/>
                </a:solidFill>
                <a:latin typeface="Segoe UI"/>
              </a:rPr>
              <a:t>Left: onset synchrony falls with jitter (all 3 datasets). Right: envelope E(t) flat. Jitter SDs are measured, not tuned; the constant-delay dead end is reported, not hidden.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Same recordings, two measures, opposite verdicts.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PROGRESS · LAST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It replicates across 3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5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3108960" cy="13716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−57%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Dagstuhl (real human, 5)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94760" y="1463040"/>
            <a:ext cx="3108960" cy="13716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−66%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ESMUC (real human, 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86600" y="1463040"/>
            <a:ext cx="3108960" cy="13716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−76%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ChoralSynth (synthetic, 20)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00400"/>
            <a:ext cx="11185855" cy="10972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400" b="0">
                <a:solidFill>
                  <a:srgbClr val="0E4D5E"/>
                </a:solidFill>
                <a:latin typeface="Segoe UI"/>
              </a:rPr>
              <a:t>Onset-synchrony drop clean → Zoom. 28 pieces, two independent human datasets plus synthetic, all monotonic. Both Tier-2 datasets added this iteration via one unified data adapter (downloaded + MD5-verified vs Zenodo).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The effect holds across real and synthetic choirs, not a single-dataset artifact.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PROGRESS · LAST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Dashboard alpha, on real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6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pic>
        <p:nvPicPr>
          <p:cNvPr id="6" name="Picture 5" descr="wp4_dashboard_real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3409" y="1280160"/>
            <a:ext cx="4637101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463040"/>
            <a:ext cx="3474720" cy="40233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300" b="0">
                <a:solidFill>
                  <a:srgbClr val="0E4D5E"/>
                </a:solidFill>
                <a:latin typeface="Segoe UI"/>
              </a:rPr>
              <a:t>Now on real outputs:
• Timeline = real E(t)
• Graph = real Granger
  who-leads-whom
• Video + 33-point pose
  overlay synced to play
• Each piece shows the
  signals it has
Meets the Jun-21 alpha
milestone.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The dashboard runs on the pipeline's real outputs, not mock 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NEXT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Plan: Jun 26 → Jul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7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Integration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Fold onset synchrony into E(t) as its timing-sensitive component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04288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WP3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Per-window time-varying networks; cleaner H2 topology measure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145536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Paper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Draft report methods + results (the latency finding)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986784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WP2 / H3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First visual-onset V(t): pair pose onsets with audio onsets on the 18 usable Tier-1 videos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From 'found the signal' to 'written up and corpus-complete'.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RETROSPECTIVE · OPEN PROBLEMS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Retrospective and open problems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8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3611880" cy="310896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What worked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A wrong first method (constant delay) was caught by its own control and became a sharper one.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/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Every dataset claim traces to a verified file.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1371600"/>
            <a:ext cx="3611880" cy="310896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What we fixed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The stale 'ESMUC proprietary' note: it is open on Zenodo, and we used it.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/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Curation now filters on singer visibility, not just NMP regime.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55864" y="1371600"/>
            <a:ext cx="3611880" cy="310896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Open problems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H1 rests on simulated latency (transmission delay, not live adaptation); real latency-varied recordings would test it directly.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/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H3 visual still data-blocked; H2 topology not cleanly measured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46320"/>
            <a:ext cx="11185855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2000" b="1">
                <a:solidFill>
                  <a:srgbClr val="0E4D5E"/>
                </a:solidFill>
                <a:latin typeface="Segoe UI"/>
              </a:rPr>
              <a:t>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