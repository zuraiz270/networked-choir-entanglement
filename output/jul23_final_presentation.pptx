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17320"/>
            <a:ext cx="11185855" cy="8229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4800" b="1">
                <a:solidFill>
                  <a:srgbClr val="FDFBF5"/>
                </a:solidFill>
                <a:latin typeface="Segoe UI"/>
              </a:rPr>
              <a:t>Final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423160"/>
            <a:ext cx="11185855" cy="640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2600" b="0">
                <a:solidFill>
                  <a:srgbClr val="E6C670"/>
                </a:solidFill>
                <a:latin typeface="Segoe UI"/>
              </a:rPr>
              <a:t>Project 8: Entanglement in Online Choir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29000"/>
            <a:ext cx="11185855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1500" b="0">
                <a:solidFill>
                  <a:srgbClr val="CBD9DD"/>
                </a:solidFill>
                <a:latin typeface="Segoe UI"/>
              </a:rPr>
              <a:t>SNA-OSN-M Summer 2026  -  Uni Bamberg x Uni Koeln x HSLU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51960"/>
            <a:ext cx="11185855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1600" b="1">
                <a:solidFill>
                  <a:srgbClr val="FDFBF5"/>
                </a:solidFill>
                <a:latin typeface="Segoe UI"/>
              </a:rPr>
              <a:t>Team: Zuraiz - Hammad Anwar - Hassan Ahmed - Kumaran Vasu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92040"/>
            <a:ext cx="11185855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1300" b="0">
                <a:solidFill>
                  <a:srgbClr val="CBD9DD"/>
                </a:solidFill>
                <a:latin typeface="Segoe UI"/>
              </a:rPr>
              <a:t>Supervisors: Prof. Janine Hacker - Prof. Peter Gloor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15000"/>
            <a:ext cx="11185855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1400" b="0">
                <a:solidFill>
                  <a:srgbClr val="E6C670"/>
                </a:solidFill>
                <a:latin typeface="Segoe UI"/>
              </a:rPr>
              <a:t>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The network is part of the instrument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5855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900" b="1">
                <a:solidFill>
                  <a:srgbClr val="0E4D5E"/>
                </a:solidFill>
                <a:latin typeface="Segoe UI"/>
              </a:rPr>
              <a:t>We measured what latency does to choir togetherness, with one score over time: E(t).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1185855" cy="86868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H1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Higher latency reduces coordination. Metric: zero-lag onset synchrony; predicted to fall.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54680"/>
            <a:ext cx="11185855" cy="86868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H2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Influence networks show leadership structure. Metric: out-degree Gini vs a matched random null; predicted above null.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11185855" cy="86868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H3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Visual body signals add information beyond audio. Metric: first visual-onset coupling; the full test needs paired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Three testable claims, each with a metric and a direction fixed in advance.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Three tiers, one honest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85855" cy="86868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Tier 1 - video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29 YouTube virtual-choir videos, 18 pose-usable. Visual signals: sway and breathing gestures.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11185855" cy="86868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Tier 2 - multitrack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Dagstuhl (5 pieces), ESMUC (3), ChoralSynth (20, synthetic). Per-singer audio and influence networks.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83280"/>
            <a:ext cx="11185855" cy="86868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Tier 3 - injection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Controlled latency injection on Tier 2: ground-truth latency variation, each piece its own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72000"/>
            <a:ext cx="11185855" cy="10972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500" b="1">
                <a:solidFill>
                  <a:srgbClr val="0E4D5E"/>
                </a:solidFill>
                <a:latin typeface="Segoe UI"/>
              </a:rPr>
              <a:t>The constraint: no piece has audio, video, and network signals together. Tier 2 has audio without video; Tier 1 has video without per-singer audio. Every claim respects that boundary.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Two real corpora, one synthetic control, one visual corpus, each used for what it is good for.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E(t) and the latency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500" b="1">
                <a:solidFill>
                  <a:srgbClr val="0E4D5E"/>
                </a:solidFill>
                <a:latin typeface="Segoe UI"/>
              </a:rPr>
              <a:t>Each clean piece is degraded through five regimes; every metric is recomputed per piece and regime.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121408" cy="123444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600" b="1">
                <a:solidFill>
                  <a:srgbClr val="0E4D5E"/>
                </a:solidFill>
                <a:latin typeface="Segoe UI Semibold"/>
              </a:rPr>
              <a:t>clean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0 ms - 0 ms - 0%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4056" y="1920240"/>
            <a:ext cx="2121408" cy="123444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600" b="1">
                <a:solidFill>
                  <a:srgbClr val="0E4D5E"/>
                </a:solidFill>
                <a:latin typeface="Segoe UI Semibold"/>
              </a:rPr>
              <a:t>in-person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25 ms - 10 ms - 0%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65192" y="1920240"/>
            <a:ext cx="2121408" cy="123444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600" b="1">
                <a:solidFill>
                  <a:srgbClr val="0E4D5E"/>
                </a:solidFill>
                <a:latin typeface="Segoe UI Semibold"/>
              </a:rPr>
              <a:t>Jamulus LAN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47 ms - 46 ms - 1%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96328" y="1920240"/>
            <a:ext cx="2121408" cy="123444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600" b="1">
                <a:solidFill>
                  <a:srgbClr val="0E4D5E"/>
                </a:solidFill>
                <a:latin typeface="Segoe UI Semibold"/>
              </a:rPr>
              <a:t>Jamulus WAN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83 ms - 57 ms - 3%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27464" y="1920240"/>
            <a:ext cx="2121408" cy="123444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600" b="1">
                <a:solidFill>
                  <a:srgbClr val="0E4D5E"/>
                </a:solidFill>
                <a:latin typeface="Segoe UI Semibold"/>
              </a:rPr>
              <a:t>Zoom-class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150 ms - 80 ms - 8%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83280"/>
            <a:ext cx="11185855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0">
                <a:solidFill>
                  <a:srgbClr val="6E6A60"/>
                </a:solidFill>
                <a:latin typeface="Segoe UI"/>
              </a:rPr>
              <a:t>Regime columns: delay - jitter SD - dropout.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86200"/>
            <a:ext cx="11185855" cy="169164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Statistical floor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Envelope and influence-network results use a circular-shift null that preserves each stream's own autocorrelation.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Final grid: 2000 shuffles per cell, rerun as 140 SLURM array tasks on the NHR@FAU cluster (2026-07-14).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Known degradation by construction; each piece is its own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The pipeline is 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85855" cy="896112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One command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`make reproduce` regenerates the headline results from committed data summaries.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04871"/>
            <a:ext cx="11185855" cy="896112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48 tests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Audio, video, network, latency, entanglement, H3, and report generation run in the automated 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38142"/>
            <a:ext cx="11185855" cy="896112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Cluster protocol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The 2000-shuffle grid ran as 140 SLURM array tasks; the submission script is committed and cluster-validated.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471413"/>
            <a:ext cx="11185855" cy="896112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Audit trail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Every deck number traces to a committed CSV.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The numbers can be regenerated without us in the 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H1: latency breaks timing, not loudness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3000" b="1">
                <a:solidFill>
                  <a:srgbClr val="0E4D5E"/>
                </a:solidFill>
                <a:latin typeface="Segoe UI Semibold"/>
              </a:rPr>
              <a:t>-56.5%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Dagstuhl (real)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37160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3000" b="1">
                <a:solidFill>
                  <a:srgbClr val="0E4D5E"/>
                </a:solidFill>
                <a:latin typeface="Segoe UI Semibold"/>
              </a:rPr>
              <a:t>-65.1%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ESMUC (real)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7160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3000" b="1">
                <a:solidFill>
                  <a:srgbClr val="0E4D5E"/>
                </a:solidFill>
                <a:latin typeface="Segoe UI Semibold"/>
              </a:rPr>
              <a:t>-75.1%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ChoralSynth (synthetic)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37160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3000" b="1">
                <a:solidFill>
                  <a:srgbClr val="0E4D5E"/>
                </a:solidFill>
                <a:latin typeface="Segoe UI Semibold"/>
              </a:rPr>
              <a:t>-70.7%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Corpus; 28/28 decrease</a:t>
            </a:r>
          </a:p>
        </p:txBody>
      </p:sp>
      <p:pic>
        <p:nvPicPr>
          <p:cNvPr id="10" name="Picture 9" descr="tier3_corpu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401" y="2788920"/>
            <a:ext cx="7818892" cy="3108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All 28 pieces decrease (paired p = 3.73 x 10^-9); envelope coupling stays flat.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Why the dissociation is the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85855" cy="896112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The null we kept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Constant delay + envelope coupling showed no effect; the control caught the confound (envelope coupling is lag-tolerant).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04871"/>
            <a:ext cx="11185855" cy="896112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The a-priori fix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Zero-lag onset synchrony is the physical quantity jitter should break. It recovered the effect in every piece.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38142"/>
            <a:ext cx="11185855" cy="896112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The claim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Timing collapses while loudness holds. An envelope-only study would have called latency harmless.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471413"/>
            <a:ext cx="11185855" cy="896112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Replication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Two real corpora and one independent synthetic corpus agree.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The method audit trail is part of the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H2: limited leadership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5943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400" b="1">
                <a:solidFill>
                  <a:srgbClr val="0E4D5E"/>
                </a:solidFill>
                <a:latin typeface="Segoe UI"/>
              </a:rPr>
              <a:t>Leader dominance = Gini of out-degree in the Granger influence graph (0 democratic, 1 single driver), vs 1000 density-matched random graphs.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2600" b="1">
                <a:solidFill>
                  <a:srgbClr val="0E4D5E"/>
                </a:solidFill>
                <a:latin typeface="Segoe UI Semibold"/>
              </a:rPr>
              <a:t>0.162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Observed corpus mean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05740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2600" b="1">
                <a:solidFill>
                  <a:srgbClr val="0E4D5E"/>
                </a:solidFill>
                <a:latin typeface="Segoe UI Semibold"/>
              </a:rPr>
              <a:t>0.155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Matched random null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05740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2600" b="1">
                <a:solidFill>
                  <a:srgbClr val="0E4D5E"/>
                </a:solidFill>
                <a:latin typeface="Segoe UI Semibold"/>
              </a:rPr>
              <a:t>1/5 - 1/3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Dagstuhl - ESMUC significant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05740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2600" b="1">
                <a:solidFill>
                  <a:srgbClr val="0E4D5E"/>
                </a:solidFill>
                <a:latin typeface="Segoe UI Semibold"/>
              </a:rPr>
              <a:t>0/20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ChoralSynth significant</a:t>
            </a:r>
          </a:p>
        </p:txBody>
      </p:sp>
      <p:pic>
        <p:nvPicPr>
          <p:cNvPr id="11" name="Picture 10" descr="wp3_flagship_LI_QuartetA_Take02_stand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63" y="3474720"/>
            <a:ext cx="2620968" cy="2423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Limited support: two human pieces are centralized; no synthetic piece 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H3: an honest null, and what it teaches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2600" b="1">
                <a:solidFill>
                  <a:srgbClr val="0E4D5E"/>
                </a:solidFill>
                <a:latin typeface="Segoe UI Semibold"/>
              </a:rPr>
              <a:t>17 / 18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videos analyzable (one silent window)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37160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2600" b="1">
                <a:solidFill>
                  <a:srgbClr val="0E4D5E"/>
                </a:solidFill>
                <a:latin typeface="Segoe UI Semibold"/>
              </a:rPr>
              <a:t>1 / 17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significant at p &lt; 0.05 = chance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998" y="137160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2600" b="1">
                <a:solidFill>
                  <a:srgbClr val="0E4D5E"/>
                </a:solidFill>
                <a:latin typeface="Segoe UI Semibold"/>
              </a:rPr>
              <a:t>0.068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median max-lag r</a:t>
            </a:r>
          </a:p>
        </p:txBody>
      </p:sp>
      <p:pic>
        <p:nvPicPr>
          <p:cNvPr id="9" name="Picture 8" descr="h3_visual_on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218" y="2743200"/>
            <a:ext cx="4069964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79" y="2834640"/>
            <a:ext cx="4114800" cy="2926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350" b="0">
                <a:solidFill>
                  <a:srgbClr val="0E4D5E"/>
                </a:solidFill>
                <a:latin typeface="Segoe UI"/>
              </a:rPr>
              <a:t>The estimator recovers known lags on synthetic coupled signals (tested in CI), so the null is informative: ensemble motion of one tracked stream does not couple to a mixed audio envelope. H3's full test still needs per-singer audio + video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We ran the promised experiment, it said no, and we report that.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Live: E(t) on real recordings (60 seconds)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1. Audio/network piece</a:t>
            </a:r>
          </a:p>
          <a:p>
            <a:pPr algn="l" latinLnBrk="0">
              <a:spcAft>
                <a:spcPts val="400"/>
              </a:spcAft>
            </a:pPr>
            <a:r>
              <a:rPr sz="1400" b="0">
                <a:solidFill>
                  <a:srgbClr val="24262E"/>
                </a:solidFill>
                <a:latin typeface="Segoe UI"/>
              </a:rPr>
              <a:t>Dagstuhl quartet: E(t) timeline updating with the influence graph.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3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2. Video/pose piece</a:t>
            </a:r>
          </a:p>
          <a:p>
            <a:pPr algn="l" latinLnBrk="0">
              <a:spcAft>
                <a:spcPts val="400"/>
              </a:spcAft>
            </a:pPr>
            <a:r>
              <a:rPr sz="1400" b="0">
                <a:solidFill>
                  <a:srgbClr val="24262E"/>
                </a:solidFill>
                <a:latin typeface="Segoe UI"/>
              </a:rPr>
              <a:t>Tier-1 video playback with the live pose overlay.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Honesty layer</a:t>
            </a:r>
          </a:p>
          <a:p>
            <a:pPr algn="l" latinLnBrk="0">
              <a:spcAft>
                <a:spcPts val="400"/>
              </a:spcAft>
            </a:pPr>
            <a:r>
              <a:rPr sz="1400" b="0">
                <a:solidFill>
                  <a:srgbClr val="24262E"/>
                </a:solidFill>
                <a:latin typeface="Segoe UI"/>
              </a:rPr>
              <a:t>The metadata panel shows which signals each piece really has; no piece pretends to have all three.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Real local data on the presentation laptop, no mock content.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Fallback: dashboard on real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pic>
        <p:nvPicPr>
          <p:cNvPr id="6" name="Picture 5" descr="wp4_dashboard_real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635" y="1371600"/>
            <a:ext cx="4834425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Backup frame in case the live demo cannot run; same content, one frame.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Limitations, stated plainly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85855" cy="786384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Simulated latency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Injection models transmission, not live behavioural adaptation of singers.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31136"/>
            <a:ext cx="11185855" cy="786384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Signal split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No piece carries audio + video + network together; full E(t) has never run with all three channels.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36392"/>
            <a:ext cx="11185855" cy="786384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H3 window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Pose covers one tracked stream over each video's first minute.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041648"/>
            <a:ext cx="11185855" cy="786384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Null caveats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A minority of individual grid cells are not significant; corpus-level trends carry the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946904"/>
            <a:ext cx="11185855" cy="786384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Domain transfer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The entanglement formula was validated on email networks; this is its first music-domain 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Registered, owned, and either mitigated or explicitly left as future 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85855" cy="896112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Latency signature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Timing collapses 56 to 75 percent while loudness holds; 28/28 pieces decrease (paired p = 3.73 x 10^-9).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04871"/>
            <a:ext cx="11185855" cy="896112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Leadership measure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Limited evidence in two human pieces and none of 20 synthetic pieces.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38142"/>
            <a:ext cx="11185855" cy="896112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Visual requirement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The first visual-onset experiment, honestly null: the paired-corpus requirement is demonstrated, not assumed.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471413"/>
            <a:ext cx="11185855" cy="896112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Open pipeline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One command, 48 tests, cluster-validated protocol, every report claim traceable to a committed artifact.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Supported, partially supported, honestly null, and all reproducible.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What comes next, and 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1185855" cy="91440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Real latency sessions</a:t>
            </a:r>
          </a:p>
          <a:p>
            <a:pPr algn="l" latinLnBrk="0">
              <a:spcAft>
                <a:spcPts val="400"/>
              </a:spcAft>
            </a:pPr>
            <a:r>
              <a:rPr sz="1400" b="0">
                <a:solidFill>
                  <a:srgbClr val="24262E"/>
                </a:solidFill>
                <a:latin typeface="Segoe UI"/>
              </a:rPr>
              <a:t>Record live latency-varied sessions: the only way to test H1 without simulation and H2's latency 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11185855" cy="91440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Paired corpus</a:t>
            </a:r>
          </a:p>
          <a:p>
            <a:pPr algn="l" latinLnBrk="0">
              <a:spcAft>
                <a:spcPts val="400"/>
              </a:spcAft>
            </a:pPr>
            <a:r>
              <a:rPr sz="1400" b="0">
                <a:solidFill>
                  <a:srgbClr val="24262E"/>
                </a:solidFill>
                <a:latin typeface="Segoe UI"/>
              </a:rPr>
              <a:t>A small per-singer audio + video corpus unlocks the H3 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66160"/>
            <a:ext cx="11185855" cy="91440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Report</a:t>
            </a:r>
          </a:p>
          <a:p>
            <a:pPr algn="l" latinLnBrk="0">
              <a:spcAft>
                <a:spcPts val="400"/>
              </a:spcAft>
            </a:pPr>
            <a:r>
              <a:rPr sz="1400" b="0">
                <a:solidFill>
                  <a:srgbClr val="24262E"/>
                </a:solidFill>
                <a:latin typeface="Segoe UI"/>
              </a:rPr>
              <a:t>Final report ready as Markdown and a 10-page PDF.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11185855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2200" b="1">
                <a:solidFill>
                  <a:srgbClr val="0E4D5E"/>
                </a:solidFill>
                <a:latin typeface="Segoe UI"/>
              </a:rPr>
              <a:t>Thank you. Questions welcome.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Reproducibility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15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85855" cy="896112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Regenerate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`make reproduce` rebuilds report results and PDF from committed artifacts.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04871"/>
            <a:ext cx="11185855" cy="896112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Grid protocol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`scripts/hpc/tier3_2000.sbatch`: 140 array tasks (28 pieces x 5 levels), merged and completeness-checked by `scripts/tier3_merge_shards.py`.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38142"/>
            <a:ext cx="11185855" cy="896112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H3 experiment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`uv run python -m scripts.h3_visual_onset` (deterministic seeds).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471413"/>
            <a:ext cx="11185855" cy="896112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Environment</a:t>
            </a:r>
          </a:p>
          <a:p>
            <a:pPr algn="l" latinLnBrk="0">
              <a:spcAft>
                <a:spcPts val="400"/>
              </a:spcAft>
            </a:pPr>
            <a:r>
              <a:rPr sz="1350" b="0">
                <a:solidFill>
                  <a:srgbClr val="24262E"/>
                </a:solidFill>
                <a:latin typeface="Segoe UI"/>
              </a:rPr>
              <a:t>Python 3.11.9 pinned, locked dependencies, `uv sync --extra all`.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