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1097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400" b="1">
                <a:solidFill>
                  <a:srgbClr val="FDFBF5"/>
                </a:solidFill>
                <a:latin typeface="Segoe UI"/>
              </a:rPr>
              <a:t>Measuring Coordination in Online Choirs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697480"/>
            <a:ext cx="11185855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5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947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>
                <a:solidFill>
                  <a:srgbClr val="FDFBF5"/>
                </a:solidFill>
                <a:latin typeface="Segoe UI"/>
              </a:rPr>
              <a:t>Zuraiz - Hammad Anwar - Hassan Ahmed - Kumaran Vasu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6636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we set out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85855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800" b="1">
                <a:solidFill>
                  <a:srgbClr val="0E4D5E"/>
                </a:solidFill>
                <a:latin typeface="Segoe UI"/>
              </a:rPr>
              <a:t>Measure network effects on choir coordination and deliver an auditable analysis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H1 - latency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Higher latency reduces coordination; primary outcome: zero-lag onset synchrony.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H2 - leadership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Influence networks show leadership structure; outcome: out-degree Gini versus matched random graphs.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690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H3 - visual information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Visual signals add information beyond audio; the full test compares audio-only with audio-plus-visual prediction.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Directions were declared at project start; metric revisions are dated and documented.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Three foundations, one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Entanglement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Temporal alignment has been measured in organizational communication networks.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Honest Signals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Activity, consistency, influence, and mimicry can reveal group coordination.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Choir and NMP research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Multitrack corpora and latency studies provide audio evidence, but no integrated acoustic, visual, and influence measure.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Research gap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Adapt these ideas to singing, test them against controlled degradation, and state where the data cannot support a claim.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Whole-project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projec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08982"/>
            <a:ext cx="11185855" cy="254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Every result has a visible path from source data to tested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Three tiers and one multimodal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1 - video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29 virtual-choir videos; 18 pose-usable. Mixed audio plus visual features for exploratory H3.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2 - multitrack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Dagstuhl 5, ESMUC 3, ChoralSynth 20. Per-singer audio and influence networks.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Tier 3 - controlled degradation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Five regimes applied to all 28 Tier-2 pieces for the H1 latency experiment.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No item has synchronized per-singer audio and per-singer video. Tier 1 has mixed audio; Tier 2 has no video.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Each dataset is used only for the claims it can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and the controlled latency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E(t) combines available acoustic A(t), visual V(t), and network N(t) coordination.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Clean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0 / 0 /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34056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In-person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25 / 10 / 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LAN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47 / 46 / 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96328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Jamulus WAN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83 / 57 / 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27464" y="1874519"/>
            <a:ext cx="2121408" cy="123444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600" b="1">
                <a:solidFill>
                  <a:srgbClr val="0E4D5E"/>
                </a:solidFill>
                <a:latin typeface="Segoe UI Semibold"/>
              </a:rPr>
              <a:t>Zoom-class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150 / 80 /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Delay ms / jitter SD ms / dropout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185855" cy="150876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Inference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Envelope and network analyses use 2,000 circular shifts per cell. H1 onset inference uses a paired clean-to-Zoom sign test across pieces.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same piece is evaluated in every regime and serves as its own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WORK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How the team organized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Four work packages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Acoustic/integration, visual extraction, influence networks, and dashboard/report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Iteration outputs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iteration ended in a schema, result table, test, figure, or presentation artifact.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290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Review gates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Seeded scripts, committed summaries, and independent audits connected implementation to claims.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Virtual Mirror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High shared meaning, low emotional exchange, medium relationship intensity; a weekly asynchronous check-in was adopted.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Reproducibility is part of 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One command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`make reproduce` regenerates report-stage statistics, figures, and the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50 tests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Scientific pipelines, dashboard consistency, figure definitions, H3 controls, and report generation are covered.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Complete grid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140 final cells from the committed 2,000-shuffle SLURM protocol.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Claim provenance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Every numerical statement in the deck traces to a committed CSV.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results can be audited without relying on the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H1: latency breaks note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-56.5%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-65.1%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-75.1%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-70.7%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Corpus; 28/28 decrease</a:t>
            </a:r>
          </a:p>
        </p:txBody>
      </p:sp>
      <p:pic>
        <p:nvPicPr>
          <p:cNvPr id="10" name="Picture 9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5656"/>
            <a:ext cx="6858000" cy="272688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43800" y="2697480"/>
            <a:ext cx="4069080" cy="29718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Channel comparison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Pure envelope A(t): -7.9% Dagstuhl, -11.9% corpus. The envelope-plus-network E(t) composite can rise because network density offsets the envelope decline.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28 pieces decrease; exact one-sided sign-test p = 3.73 x 10^-9.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Why the measurement revision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10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Initial null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Constant delay plus lag-tolerant envelope coupling showed little effect.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Control diagnosis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The metric could absorb the lag, so it did not measure simultaneous note attacks.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290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Operational revision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Zero-lag onset synchrony directly measures whether singers land attacks together.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Dissociation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Timing falls 56% to 75%; pure envelope coupling falls roughly 6% to 14% across corpora.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hypothesis stayed fixed; the dated metric revision is part of the audit trail.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H2: limited leadership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11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0.162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0.155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Matched null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1/5 - 1/3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- ESMUC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23444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</a:t>
            </a:r>
          </a:p>
        </p:txBody>
      </p:sp>
      <p:pic>
        <p:nvPicPr>
          <p:cNvPr id="10" name="Picture 9" descr="wp3_flagship_LI_QuartetA_Take02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745" y="2606040"/>
            <a:ext cx="3412204" cy="3154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Two human pieces are significant; corpus-level evidence is not significant.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H3: an informative exploratory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12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17 / 18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analyzable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23444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1 / 17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significant, consistent with chance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0998" y="1234440"/>
            <a:ext cx="36118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0.068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median maximum-lag r</a:t>
            </a:r>
          </a:p>
        </p:txBody>
      </p:sp>
      <p:pic>
        <p:nvPicPr>
          <p:cNvPr id="9" name="Picture 8" descr="h3_visual_on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65" y="2606040"/>
            <a:ext cx="4128949" cy="3200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2697480"/>
            <a:ext cx="4160520" cy="29260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was tested</a:t>
            </a:r>
          </a:p>
          <a:p>
            <a:pPr algn="l" latinLnBrk="0">
              <a:spcAft>
                <a:spcPts val="400"/>
              </a:spcAft>
            </a:pPr>
            <a:r>
              <a:rPr sz="1320" b="0">
                <a:solidFill>
                  <a:srgbClr val="24262E"/>
                </a:solidFill>
                <a:latin typeface="Segoe UI"/>
              </a:rPr>
              <a:t>Maximum signed correlation within 2 s over the first 60-72 s pose window, with 1,000 circular-shift nulls. Full H3 still needs synchronized per-singer audio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mixed-audio substitute is null; the paired-data requirement is demonstrated.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Live dashboard demonstration - 60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13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1185855" cy="1005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1. Audio and network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Dagstuhl piece: E(t) timeline and influence 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15768"/>
            <a:ext cx="11185855" cy="1005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2. Video and pose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Tier-1 video: playback with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22776"/>
            <a:ext cx="11185855" cy="1005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3. Signal availability</a:t>
            </a:r>
          </a:p>
          <a:p>
            <a:pPr algn="l" latinLnBrk="0">
              <a:spcAft>
                <a:spcPts val="400"/>
              </a:spcAft>
            </a:pPr>
            <a:r>
              <a:rPr sz="1400" b="0">
                <a:solidFill>
                  <a:srgbClr val="24262E"/>
                </a:solidFill>
                <a:latin typeface="Segoe UI"/>
              </a:rPr>
              <a:t>Metadata shows which channels each piece actually contains.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dashboard uses the same envelope-only E(t) definition as the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Weaknesses of the current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Simulated latency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Models transmission, not live singer adaptation.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Co-varying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Delay, jitter, and dropout change together; individual effects are not isolated.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08376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Multimodal gap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 synchronized per-singer audio and video item exists.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95344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strength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Two individual results, but no corpus-level significance.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82312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External validity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E(t) is not yet validated against perceived performance quality.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Main results and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15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supported for timing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28 pieces lose onset synchrony; corpus mean drop 70.7%.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limited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Two human pieces show significant centralization; overall evidence remains weak.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exploratory null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Mixed audio plus one pose stream does not substitute for paired per-singer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System delivered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Reproducible pipelines, tested dashboard, figures, report, and presentation package.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EXTENSIONS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the next study should 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16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Live latency sessions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Measure behavioral adaptation and latency-driven leadership.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Paired audio-video corpus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Unlock the planned H3 incremental-validity 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Factorial network experiment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Separate delay, jitter, and dropout effects.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5855" cy="914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External validation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Compare E(t) with expert ratings, singer experience, and score-alignment errors.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What worked and what could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17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worked well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Controls exposed the first metric mismatch.
Seeded scripts, tests, and audits kept claims traceable.
Instructor questions improved definitions and limitation framing.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25880"/>
            <a:ext cx="5349240" cy="41605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could improve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Secure paired multimodal data earlier.
Resolve work-package dependencies before parallel implementation.
Confirm final format and metric expectations earlier.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1500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 Questions are welcome.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Dashboard on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18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642" y="1280160"/>
            <a:ext cx="5130410" cy="47548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Use only if the live dashboard cannot 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Reproducibility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19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Regenerate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`make reproduce` rebuilds report-stage results and the final PDF.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Exact paired sign test plus seeded bootstrap.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08376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1,000 matched random graphs per piece with plus-one p-values.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95344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1,000 circular shifts per video with deterministic seeds.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82312"/>
            <a:ext cx="11185855" cy="7772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Environment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Python 3.11.9 and locked dependencies.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