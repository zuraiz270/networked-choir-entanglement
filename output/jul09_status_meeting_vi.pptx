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3" d="100"/>
          <a:sy n="83" d="100"/>
        </p:scale>
        <p:origin x="408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ad Anwar" userId="895f82935b6f72c7" providerId="LiveId" clId="{CB245C93-BFC3-42DE-907C-BC8C402E9DA4}"/>
    <pc:docChg chg="custSel modSld">
      <pc:chgData name="Saad Anwar" userId="895f82935b6f72c7" providerId="LiveId" clId="{CB245C93-BFC3-42DE-907C-BC8C402E9DA4}" dt="2026-07-08T19:13:09.752" v="241" actId="1035"/>
      <pc:docMkLst>
        <pc:docMk/>
      </pc:docMkLst>
      <pc:sldChg chg="modSp mod">
        <pc:chgData name="Saad Anwar" userId="895f82935b6f72c7" providerId="LiveId" clId="{CB245C93-BFC3-42DE-907C-BC8C402E9DA4}" dt="2026-07-08T14:35:02.955" v="78" actId="20577"/>
        <pc:sldMkLst>
          <pc:docMk/>
          <pc:sldMk cId="0" sldId="256"/>
        </pc:sldMkLst>
        <pc:spChg chg="mod">
          <ac:chgData name="Saad Anwar" userId="895f82935b6f72c7" providerId="LiveId" clId="{CB245C93-BFC3-42DE-907C-BC8C402E9DA4}" dt="2026-07-08T14:35:02.955" v="78" actId="20577"/>
          <ac:spMkLst>
            <pc:docMk/>
            <pc:sldMk cId="0" sldId="256"/>
            <ac:spMk id="5" creationId="{00000000-0000-0000-0000-000000000000}"/>
          </ac:spMkLst>
        </pc:spChg>
      </pc:sldChg>
      <pc:sldChg chg="modSp mod">
        <pc:chgData name="Saad Anwar" userId="895f82935b6f72c7" providerId="LiveId" clId="{CB245C93-BFC3-42DE-907C-BC8C402E9DA4}" dt="2026-07-08T19:12:35.982" v="231" actId="1036"/>
        <pc:sldMkLst>
          <pc:docMk/>
          <pc:sldMk cId="0" sldId="257"/>
        </pc:sldMkLst>
        <pc:spChg chg="mod">
          <ac:chgData name="Saad Anwar" userId="895f82935b6f72c7" providerId="LiveId" clId="{CB245C93-BFC3-42DE-907C-BC8C402E9DA4}" dt="2026-07-08T19:12:35.982" v="231" actId="1036"/>
          <ac:spMkLst>
            <pc:docMk/>
            <pc:sldMk cId="0" sldId="257"/>
            <ac:spMk id="11" creationId="{00000000-0000-0000-0000-000000000000}"/>
          </ac:spMkLst>
        </pc:spChg>
      </pc:sldChg>
      <pc:sldChg chg="delSp modSp mod">
        <pc:chgData name="Saad Anwar" userId="895f82935b6f72c7" providerId="LiveId" clId="{CB245C93-BFC3-42DE-907C-BC8C402E9DA4}" dt="2026-07-08T14:35:26.759" v="101" actId="1035"/>
        <pc:sldMkLst>
          <pc:docMk/>
          <pc:sldMk cId="0" sldId="258"/>
        </pc:sldMkLst>
        <pc:spChg chg="mod">
          <ac:chgData name="Saad Anwar" userId="895f82935b6f72c7" providerId="LiveId" clId="{CB245C93-BFC3-42DE-907C-BC8C402E9DA4}" dt="2026-07-03T13:41:55.405" v="33" actId="14100"/>
          <ac:spMkLst>
            <pc:docMk/>
            <pc:sldMk cId="0" sldId="258"/>
            <ac:spMk id="7" creationId="{00000000-0000-0000-0000-000000000000}"/>
          </ac:spMkLst>
        </pc:spChg>
        <pc:spChg chg="mod">
          <ac:chgData name="Saad Anwar" userId="895f82935b6f72c7" providerId="LiveId" clId="{CB245C93-BFC3-42DE-907C-BC8C402E9DA4}" dt="2026-07-03T13:42:07.633" v="57" actId="1036"/>
          <ac:spMkLst>
            <pc:docMk/>
            <pc:sldMk cId="0" sldId="258"/>
            <ac:spMk id="8" creationId="{00000000-0000-0000-0000-000000000000}"/>
          </ac:spMkLst>
        </pc:spChg>
        <pc:spChg chg="mod">
          <ac:chgData name="Saad Anwar" userId="895f82935b6f72c7" providerId="LiveId" clId="{CB245C93-BFC3-42DE-907C-BC8C402E9DA4}" dt="2026-07-03T13:42:03.723" v="48" actId="1035"/>
          <ac:spMkLst>
            <pc:docMk/>
            <pc:sldMk cId="0" sldId="258"/>
            <ac:spMk id="9" creationId="{00000000-0000-0000-0000-000000000000}"/>
          </ac:spMkLst>
        </pc:spChg>
        <pc:spChg chg="mod">
          <ac:chgData name="Saad Anwar" userId="895f82935b6f72c7" providerId="LiveId" clId="{CB245C93-BFC3-42DE-907C-BC8C402E9DA4}" dt="2026-07-03T13:42:14.131" v="62" actId="1037"/>
          <ac:spMkLst>
            <pc:docMk/>
            <pc:sldMk cId="0" sldId="258"/>
            <ac:spMk id="10" creationId="{00000000-0000-0000-0000-000000000000}"/>
          </ac:spMkLst>
        </pc:spChg>
        <pc:spChg chg="mod">
          <ac:chgData name="Saad Anwar" userId="895f82935b6f72c7" providerId="LiveId" clId="{CB245C93-BFC3-42DE-907C-BC8C402E9DA4}" dt="2026-07-08T14:35:26.759" v="101" actId="1035"/>
          <ac:spMkLst>
            <pc:docMk/>
            <pc:sldMk cId="0" sldId="258"/>
            <ac:spMk id="12" creationId="{00000000-0000-0000-0000-000000000000}"/>
          </ac:spMkLst>
        </pc:spChg>
      </pc:sldChg>
      <pc:sldChg chg="modSp mod">
        <pc:chgData name="Saad Anwar" userId="895f82935b6f72c7" providerId="LiveId" clId="{CB245C93-BFC3-42DE-907C-BC8C402E9DA4}" dt="2026-07-08T14:35:39.668" v="121" actId="1035"/>
        <pc:sldMkLst>
          <pc:docMk/>
          <pc:sldMk cId="0" sldId="259"/>
        </pc:sldMkLst>
        <pc:spChg chg="mod">
          <ac:chgData name="Saad Anwar" userId="895f82935b6f72c7" providerId="LiveId" clId="{CB245C93-BFC3-42DE-907C-BC8C402E9DA4}" dt="2026-07-08T14:35:39.668" v="121" actId="1035"/>
          <ac:spMkLst>
            <pc:docMk/>
            <pc:sldMk cId="0" sldId="259"/>
            <ac:spMk id="11" creationId="{00000000-0000-0000-0000-000000000000}"/>
          </ac:spMkLst>
        </pc:spChg>
      </pc:sldChg>
      <pc:sldChg chg="modSp mod">
        <pc:chgData name="Saad Anwar" userId="895f82935b6f72c7" providerId="LiveId" clId="{CB245C93-BFC3-42DE-907C-BC8C402E9DA4}" dt="2026-07-08T14:35:47.971" v="141" actId="1035"/>
        <pc:sldMkLst>
          <pc:docMk/>
          <pc:sldMk cId="0" sldId="260"/>
        </pc:sldMkLst>
        <pc:spChg chg="mod">
          <ac:chgData name="Saad Anwar" userId="895f82935b6f72c7" providerId="LiveId" clId="{CB245C93-BFC3-42DE-907C-BC8C402E9DA4}" dt="2026-07-08T14:35:47.971" v="141" actId="1035"/>
          <ac:spMkLst>
            <pc:docMk/>
            <pc:sldMk cId="0" sldId="260"/>
            <ac:spMk id="8" creationId="{00000000-0000-0000-0000-000000000000}"/>
          </ac:spMkLst>
        </pc:spChg>
      </pc:sldChg>
      <pc:sldChg chg="modSp mod">
        <pc:chgData name="Saad Anwar" userId="895f82935b6f72c7" providerId="LiveId" clId="{CB245C93-BFC3-42DE-907C-BC8C402E9DA4}" dt="2026-07-08T19:13:09.752" v="241" actId="1035"/>
        <pc:sldMkLst>
          <pc:docMk/>
          <pc:sldMk cId="0" sldId="261"/>
        </pc:sldMkLst>
        <pc:spChg chg="mod">
          <ac:chgData name="Saad Anwar" userId="895f82935b6f72c7" providerId="LiveId" clId="{CB245C93-BFC3-42DE-907C-BC8C402E9DA4}" dt="2026-07-08T19:13:09.752" v="241" actId="1035"/>
          <ac:spMkLst>
            <pc:docMk/>
            <pc:sldMk cId="0" sldId="261"/>
            <ac:spMk id="13" creationId="{00000000-0000-0000-0000-000000000000}"/>
          </ac:spMkLst>
        </pc:spChg>
      </pc:sldChg>
      <pc:sldChg chg="modSp mod">
        <pc:chgData name="Saad Anwar" userId="895f82935b6f72c7" providerId="LiveId" clId="{CB245C93-BFC3-42DE-907C-BC8C402E9DA4}" dt="2026-07-08T14:36:06.831" v="170" actId="1035"/>
        <pc:sldMkLst>
          <pc:docMk/>
          <pc:sldMk cId="0" sldId="262"/>
        </pc:sldMkLst>
        <pc:spChg chg="mod">
          <ac:chgData name="Saad Anwar" userId="895f82935b6f72c7" providerId="LiveId" clId="{CB245C93-BFC3-42DE-907C-BC8C402E9DA4}" dt="2026-07-08T14:36:06.831" v="170" actId="1035"/>
          <ac:spMkLst>
            <pc:docMk/>
            <pc:sldMk cId="0" sldId="262"/>
            <ac:spMk id="8" creationId="{00000000-0000-0000-0000-000000000000}"/>
          </ac:spMkLst>
        </pc:spChg>
      </pc:sldChg>
      <pc:sldChg chg="modSp mod">
        <pc:chgData name="Saad Anwar" userId="895f82935b6f72c7" providerId="LiveId" clId="{CB245C93-BFC3-42DE-907C-BC8C402E9DA4}" dt="2026-07-08T19:12:04.620" v="221" actId="1036"/>
        <pc:sldMkLst>
          <pc:docMk/>
          <pc:sldMk cId="0" sldId="263"/>
        </pc:sldMkLst>
        <pc:spChg chg="mod">
          <ac:chgData name="Saad Anwar" userId="895f82935b6f72c7" providerId="LiveId" clId="{CB245C93-BFC3-42DE-907C-BC8C402E9DA4}" dt="2026-07-08T19:11:50.284" v="217" actId="20577"/>
          <ac:spMkLst>
            <pc:docMk/>
            <pc:sldMk cId="0" sldId="263"/>
            <ac:spMk id="10" creationId="{00000000-0000-0000-0000-000000000000}"/>
          </ac:spMkLst>
        </pc:spChg>
        <pc:spChg chg="mod">
          <ac:chgData name="Saad Anwar" userId="895f82935b6f72c7" providerId="LiveId" clId="{CB245C93-BFC3-42DE-907C-BC8C402E9DA4}" dt="2026-07-08T19:12:04.620" v="221" actId="1036"/>
          <ac:spMkLst>
            <pc:docMk/>
            <pc:sldMk cId="0" sldId="263"/>
            <ac:spMk id="12" creationId="{00000000-0000-0000-0000-000000000000}"/>
          </ac:spMkLst>
        </pc:spChg>
      </pc:sldChg>
      <pc:sldChg chg="modSp mod">
        <pc:chgData name="Saad Anwar" userId="895f82935b6f72c7" providerId="LiveId" clId="{CB245C93-BFC3-42DE-907C-BC8C402E9DA4}" dt="2026-07-03T13:45:44.126" v="69" actId="20577"/>
        <pc:sldMkLst>
          <pc:docMk/>
          <pc:sldMk cId="0" sldId="264"/>
        </pc:sldMkLst>
        <pc:spChg chg="mod">
          <ac:chgData name="Saad Anwar" userId="895f82935b6f72c7" providerId="LiveId" clId="{CB245C93-BFC3-42DE-907C-BC8C402E9DA4}" dt="2026-07-03T13:45:44.126" v="69" actId="20577"/>
          <ac:spMkLst>
            <pc:docMk/>
            <pc:sldMk cId="0" sldId="264"/>
            <ac:spMk id="8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33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1508760"/>
            <a:ext cx="11185855" cy="8229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4800" b="1">
                <a:solidFill>
                  <a:srgbClr val="FDFBF5"/>
                </a:solidFill>
                <a:latin typeface="Segoe UI"/>
              </a:rPr>
              <a:t>Status Meeting VI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514600"/>
            <a:ext cx="11185855" cy="6400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2600" b="0">
                <a:solidFill>
                  <a:srgbClr val="E6C670"/>
                </a:solidFill>
                <a:latin typeface="Segoe UI"/>
              </a:rPr>
              <a:t>Project 8: Entanglement in Online Choir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520440"/>
            <a:ext cx="11185855" cy="4114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500" b="0">
                <a:solidFill>
                  <a:srgbClr val="CBD9DD"/>
                </a:solidFill>
                <a:latin typeface="Segoe UI"/>
              </a:rPr>
              <a:t>SNA-OSN-M Summer 2026  -  Uni Bamberg x Uni Koeln x HSLU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434840"/>
            <a:ext cx="11185855" cy="283154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600" b="1" dirty="0">
                <a:solidFill>
                  <a:srgbClr val="FDFBF5"/>
                </a:solidFill>
                <a:latin typeface="Segoe UI"/>
              </a:rPr>
              <a:t>Presented by </a:t>
            </a:r>
            <a:r>
              <a:rPr lang="en-US" sz="1600" b="1" dirty="0">
                <a:solidFill>
                  <a:srgbClr val="FDFBF5"/>
                </a:solidFill>
                <a:latin typeface="Segoe UI"/>
              </a:rPr>
              <a:t>Hammad &amp; </a:t>
            </a:r>
            <a:r>
              <a:rPr sz="1600" b="1" dirty="0" err="1">
                <a:solidFill>
                  <a:srgbClr val="FDFBF5"/>
                </a:solidFill>
                <a:latin typeface="Segoe UI"/>
              </a:rPr>
              <a:t>Zuraiz</a:t>
            </a:r>
            <a:r>
              <a:rPr sz="1600" b="1" dirty="0">
                <a:solidFill>
                  <a:srgbClr val="FDFBF5"/>
                </a:solidFill>
                <a:latin typeface="Segoe UI"/>
              </a:rPr>
              <a:t>, on behalf of the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983480"/>
            <a:ext cx="11185855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300" b="0">
                <a:solidFill>
                  <a:srgbClr val="CBD9DD"/>
                </a:solidFill>
                <a:latin typeface="Segoe UI"/>
              </a:rPr>
              <a:t>Supervisors: Prof. Janine Hacker - Prof. Peter Gloor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806440"/>
            <a:ext cx="11185855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400" b="0">
                <a:solidFill>
                  <a:srgbClr val="E6C670"/>
                </a:solidFill>
                <a:latin typeface="Segoe UI"/>
              </a:rPr>
              <a:t>2026-07-09 - 14:00 CET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"/>
              </a:rPr>
              <a:t>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"/>
              </a:rPr>
              <a:t>Goals and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2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11185855" cy="5486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900" b="1">
                <a:solidFill>
                  <a:srgbClr val="0E4D5E"/>
                </a:solidFill>
                <a:latin typeface="Segoe UI"/>
              </a:rPr>
              <a:t>We are measuring how well online choirs coordinate when singers are not in the same room.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57400"/>
            <a:ext cx="11185855" cy="74980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E(t)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One coordination score over time from audio, network, and visual signals.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07792"/>
            <a:ext cx="11185855" cy="74980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H1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Does higher latency reduce choir coordination?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758184"/>
            <a:ext cx="11185855" cy="74980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H2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Do influence networks show leadership structure?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608576"/>
            <a:ext cx="11185855" cy="74980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H3 and plan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Test visual/body signals when data exists; prepare the report and final dashboard demo.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64534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Today we connect the project goal to the latest results and the final-presentation plan.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"/>
              </a:rPr>
              <a:t>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"/>
              </a:rPr>
              <a:t>Progress during the last iteration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3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11185855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700" b="1">
                <a:solidFill>
                  <a:srgbClr val="0E4D5E"/>
                </a:solidFill>
                <a:latin typeface="Segoe UI"/>
              </a:rPr>
              <a:t>Since Status Meeting V, we completed the Jul-9 report checkpoint.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8"/>
            <a:ext cx="11185855" cy="764759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Report draft v1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Now writes up the H1 result.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773852"/>
            <a:ext cx="11185855" cy="764759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H1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Ready to use in the report as the main timing result.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072" y="3681034"/>
            <a:ext cx="11185855" cy="798865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H2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Cleaner interpretation: weak leadership signal in human choir networks.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632" y="4616570"/>
            <a:ext cx="11185855" cy="798865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 dirty="0">
                <a:solidFill>
                  <a:srgbClr val="0E4D5E"/>
                </a:solidFill>
                <a:latin typeface="Segoe UI Semibold"/>
              </a:rPr>
              <a:t>H3</a:t>
            </a:r>
          </a:p>
          <a:p>
            <a:pPr algn="l" latinLnBrk="0">
              <a:spcAft>
                <a:spcPts val="400"/>
              </a:spcAft>
            </a:pPr>
            <a:r>
              <a:rPr sz="1250" b="0" dirty="0">
                <a:solidFill>
                  <a:srgbClr val="24262E"/>
                </a:solidFill>
                <a:latin typeface="Segoe UI"/>
              </a:rPr>
              <a:t>Open because the needed paired audio-video data is unavailable.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977989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The work moved from finding results to preparing the final presentation and report.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"/>
              </a:rPr>
              <a:t>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"/>
              </a:rPr>
              <a:t>Report draft v1 is ready for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4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5394960" cy="329184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What is in the draft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Abstract, hypotheses, data, methods, results, limitations, conclusion.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H1 presented as the headline result.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H2 presented as a measured leadership signal in human datasets.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H3 presented as an open data-availability limitation.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1828800" cy="11430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800" b="1">
                <a:solidFill>
                  <a:srgbClr val="0E4D5E"/>
                </a:solidFill>
                <a:latin typeface="Segoe UI Semibold"/>
              </a:rPr>
              <a:t>H1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Supported in onset timing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58200" y="1463040"/>
            <a:ext cx="1828800" cy="11430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800" b="1">
                <a:solidFill>
                  <a:srgbClr val="0E4D5E"/>
                </a:solidFill>
                <a:latin typeface="Segoe UI Semibold"/>
              </a:rPr>
              <a:t>H2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Partially supported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0" y="1463040"/>
            <a:ext cx="1188720" cy="11430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500" b="1">
                <a:solidFill>
                  <a:srgbClr val="0E4D5E"/>
                </a:solidFill>
                <a:latin typeface="Segoe UI Semibold"/>
              </a:rPr>
              <a:t>H3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Open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971800"/>
            <a:ext cx="5303520" cy="1463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500" b="0">
                <a:solidFill>
                  <a:srgbClr val="0E4D5E"/>
                </a:solidFill>
                <a:latin typeface="Segoe UI"/>
              </a:rPr>
              <a:t>The Jul-9 hard milestone from Status Meeting V is met: the latency result is in prose, with methods and limitations already stated.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77989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The Jul-9 report milestone from Status Meeting V is met.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"/>
              </a:rPr>
              <a:t>H1: latency breaks attack timing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5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pic>
        <p:nvPicPr>
          <p:cNvPr id="6" name="Picture 5" descr="tier3_corpus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15441"/>
            <a:ext cx="7498079" cy="298139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66760" y="1417320"/>
            <a:ext cx="3337560" cy="3931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300" b="0">
                <a:solidFill>
                  <a:srgbClr val="0E4D5E"/>
                </a:solidFill>
                <a:latin typeface="Segoe UI"/>
              </a:rPr>
              <a:t>Result summary:
- Onset synchrony falls strongly as jitter rises.
- Loudness-envelope coupling stays almost flat.
- Latency breaks when singers land notes, not how loud they are.
Clean -&gt; Zoom drop:
Dagstuhl 57%
ESMUC 66%
ChoralSynth 76%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977989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An envelope-only metric would have missed the real latency effect.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"/>
              </a:rPr>
              <a:t>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"/>
              </a:rPr>
              <a:t>H2: leadership appears in human choir networks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6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5394960" cy="205740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What the original H2 asked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Original: networks become leader-dominated as latency rises.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Current data cannot test that cleanly because injected delay on pre-recorded audio cannot create a behavioral leader.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611880"/>
            <a:ext cx="5394960" cy="155448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Current H2 result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Clean human choir influence networks carry weak leadership structure above a density-matched random null.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508760"/>
            <a:ext cx="1554480" cy="11430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800" b="1">
                <a:solidFill>
                  <a:srgbClr val="0E4D5E"/>
                </a:solidFill>
                <a:latin typeface="Segoe UI Semibold"/>
              </a:rPr>
              <a:t>3/5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Dagstuhl significant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508760"/>
            <a:ext cx="1554480" cy="11430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800" b="1">
                <a:solidFill>
                  <a:srgbClr val="0E4D5E"/>
                </a:solidFill>
                <a:latin typeface="Segoe UI Semibold"/>
              </a:rPr>
              <a:t>2/3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ESMUC significant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0" y="1508760"/>
            <a:ext cx="1554480" cy="11430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500" b="1">
                <a:solidFill>
                  <a:srgbClr val="0E4D5E"/>
                </a:solidFill>
                <a:latin typeface="Segoe UI Semibold"/>
              </a:rPr>
              <a:t>2/20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ChoralSynth, approx. chance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063240"/>
            <a:ext cx="5212080" cy="1371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400" b="0">
                <a:solidFill>
                  <a:srgbClr val="0E4D5E"/>
                </a:solidFill>
                <a:latin typeface="Segoe UI"/>
              </a:rPr>
              <a:t>Interpretation: leadership appears as a weak human coordination signal, not as a synthetic-rendering artifact. We do not claim strong hierarchy.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321808"/>
            <a:ext cx="5486400" cy="4114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100" b="0">
                <a:solidFill>
                  <a:srgbClr val="6E6A60"/>
                </a:solidFill>
                <a:latin typeface="Segoe UI"/>
              </a:rPr>
              <a:t>Note: leader-dominated means influence is concentrated around one singer or section instead of shared across the choir.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983740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Leadership appears as a human coordination signal, not a synthetic-rendering artifact.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"/>
              </a:rPr>
              <a:t>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"/>
              </a:rPr>
              <a:t>Dashboard alpha uses real outputs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7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pic>
        <p:nvPicPr>
          <p:cNvPr id="6" name="Picture 5" descr="wp4_dashboard_real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8743" y="1234440"/>
            <a:ext cx="4686432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21040" y="1417320"/>
            <a:ext cx="3383280" cy="3886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0">
                <a:solidFill>
                  <a:srgbClr val="0E4D5E"/>
                </a:solidFill>
                <a:latin typeface="Segoe UI"/>
              </a:rPr>
              <a:t>Real alpha:
- E(t) from the real pipeline
- Graph from real Granger GEXF
- Pose overlay from real parquet
- Metadata shows available signals
This screenshot shows the current real-data alpha used for demo planning.
Demo structure:
One audio/network example shows E(t) and the influence graph. One video/pose example shows playback and pose overlay.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983740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The final demo can be clear and honest even though no current piece has all three signals.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"/>
              </a:rPr>
              <a:t>Plan for the next iteration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8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70432"/>
            <a:ext cx="11185855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600" b="1">
                <a:solidFill>
                  <a:srgbClr val="0E4D5E"/>
                </a:solidFill>
                <a:latin typeface="Segoe UI"/>
              </a:rPr>
              <a:t>The next iteration is the final presentation and report phase.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27632"/>
            <a:ext cx="11185855" cy="74980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Final presentation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Build the 20-minute Jul-23 deck and demo narration.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478024"/>
            <a:ext cx="11185855" cy="74980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Report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Convert draft v1 into the final 10-20 page seminar report.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328416"/>
            <a:ext cx="11185855" cy="74980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Reproducibility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Run final checks and regenerate headline figures from committed outputs.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178808"/>
            <a:ext cx="11185855" cy="74980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 dirty="0">
                <a:solidFill>
                  <a:srgbClr val="0E4D5E"/>
                </a:solidFill>
                <a:latin typeface="Segoe UI Semibold"/>
              </a:rPr>
              <a:t>Dashboard</a:t>
            </a:r>
          </a:p>
          <a:p>
            <a:pPr algn="l" latinLnBrk="0">
              <a:spcAft>
                <a:spcPts val="400"/>
              </a:spcAft>
            </a:pPr>
            <a:r>
              <a:rPr sz="1250" b="0" dirty="0">
                <a:solidFill>
                  <a:srgbClr val="24262E"/>
                </a:solidFill>
                <a:latin typeface="Segoe UI"/>
              </a:rPr>
              <a:t>Prepare</a:t>
            </a:r>
            <a:r>
              <a:rPr lang="en-US" sz="1250" b="0" dirty="0">
                <a:solidFill>
                  <a:srgbClr val="24262E"/>
                </a:solidFill>
                <a:latin typeface="Segoe UI"/>
              </a:rPr>
              <a:t> for</a:t>
            </a:r>
            <a:r>
              <a:rPr sz="1250" b="0" dirty="0">
                <a:solidFill>
                  <a:srgbClr val="24262E"/>
                </a:solidFill>
                <a:latin typeface="Segoe UI"/>
              </a:rPr>
              <a:t> the presentation and </a:t>
            </a:r>
            <a:r>
              <a:rPr lang="en-US" sz="1250" b="0" dirty="0">
                <a:solidFill>
                  <a:srgbClr val="24262E"/>
                </a:solidFill>
                <a:latin typeface="Segoe UI"/>
              </a:rPr>
              <a:t>final few test for</a:t>
            </a:r>
            <a:r>
              <a:rPr sz="1250" b="0" dirty="0">
                <a:solidFill>
                  <a:srgbClr val="24262E"/>
                </a:solidFill>
                <a:latin typeface="Segoe UI"/>
              </a:rPr>
              <a:t> the dem</a:t>
            </a:r>
            <a:r>
              <a:rPr lang="en-US" sz="1250" b="0" dirty="0">
                <a:solidFill>
                  <a:srgbClr val="24262E"/>
                </a:solidFill>
                <a:latin typeface="Segoe UI"/>
              </a:rPr>
              <a:t>o</a:t>
            </a:r>
            <a:r>
              <a:rPr sz="1250" b="0" dirty="0">
                <a:solidFill>
                  <a:srgbClr val="24262E"/>
                </a:solidFill>
                <a:latin typeface="Segoe UI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029200"/>
            <a:ext cx="11185855" cy="749808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Limitations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Present H3 and latency-driven H2 as open questions for future data.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977989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The remaining work is final packaging, verification, and rehearsal.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"/>
              </a:rPr>
              <a:t>ALIGNMENT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"/>
              </a:rPr>
              <a:t>What we need to align before the final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9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8 -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3611880" cy="347472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Retrospective output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Null results were kept and explained.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Constant-delay failure led to the stronger jitter/onset result.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Dataset claims now trace to files and generated outputs.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1325880"/>
            <a:ext cx="3611880" cy="347472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What we fixed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The first latency method was replaced after the control check.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Dataset selection now uses verified availability, not memory.</a:t>
            </a:r>
          </a:p>
          <a:p>
            <a:pPr algn="l" latinLnBrk="0">
              <a:spcAft>
                <a:spcPts val="400"/>
              </a:spcAft>
            </a:pPr>
            <a:r>
              <a:rPr sz="1300" b="0">
                <a:solidFill>
                  <a:srgbClr val="24262E"/>
                </a:solidFill>
                <a:latin typeface="Segoe UI"/>
              </a:rPr>
              <a:t>Dashboard wording now separates current results from final-demo planning.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55864" y="1325880"/>
            <a:ext cx="3611880" cy="347472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 dirty="0">
                <a:solidFill>
                  <a:srgbClr val="0E4D5E"/>
                </a:solidFill>
                <a:latin typeface="Segoe UI Semibold"/>
              </a:rPr>
              <a:t>Questions for feedback</a:t>
            </a:r>
          </a:p>
          <a:p>
            <a:pPr>
              <a:spcAft>
                <a:spcPts val="400"/>
              </a:spcAft>
            </a:pPr>
            <a:r>
              <a:rPr lang="en-US" sz="1300" dirty="0">
                <a:solidFill>
                  <a:srgbClr val="24262E"/>
                </a:solidFill>
                <a:latin typeface="Segoe UI"/>
              </a:rPr>
              <a:t>What should the final presentation structure be?</a:t>
            </a:r>
            <a:endParaRPr sz="1300" b="0" dirty="0">
              <a:solidFill>
                <a:srgbClr val="24262E"/>
              </a:solidFill>
              <a:latin typeface="Segoe UI"/>
            </a:endParaRPr>
          </a:p>
          <a:p>
            <a:pPr algn="l" latinLnBrk="0">
              <a:spcAft>
                <a:spcPts val="400"/>
              </a:spcAft>
            </a:pPr>
            <a:r>
              <a:rPr sz="1300" b="0" dirty="0">
                <a:solidFill>
                  <a:srgbClr val="24262E"/>
                </a:solidFill>
                <a:latin typeface="Segoe UI"/>
              </a:rPr>
              <a:t>Main focus: what should receive the most attention in the final presentation?</a:t>
            </a:r>
          </a:p>
          <a:p>
            <a:pPr algn="l" latinLnBrk="0">
              <a:spcAft>
                <a:spcPts val="400"/>
              </a:spcAft>
            </a:pPr>
            <a:r>
              <a:rPr sz="1300" b="0" dirty="0">
                <a:solidFill>
                  <a:srgbClr val="24262E"/>
                </a:solidFill>
                <a:latin typeface="Segoe UI"/>
              </a:rPr>
              <a:t>Dashboard format: is a screenshot enough, or should we show it live?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257800"/>
            <a:ext cx="11185855" cy="4114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2200" b="1">
                <a:solidFill>
                  <a:srgbClr val="C4902A"/>
                </a:solidFill>
                <a:latin typeface="Segoe UI"/>
              </a:rPr>
              <a:t>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284</TotalTime>
  <Words>907</Words>
  <Application>Microsoft Office PowerPoint</Application>
  <PresentationFormat>Widescreen</PresentationFormat>
  <Paragraphs>114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Saad Anwar</cp:lastModifiedBy>
  <cp:revision>1</cp:revision>
  <dcterms:created xsi:type="dcterms:W3CDTF">2013-01-27T09:14:16Z</dcterms:created>
  <dcterms:modified xsi:type="dcterms:W3CDTF">2026-07-08T19:13:10Z</dcterms:modified>
  <cp:category/>
</cp:coreProperties>
</file>