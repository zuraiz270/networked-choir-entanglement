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508760"/>
            <a:ext cx="11185855" cy="8229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4800" b="1">
                <a:solidFill>
                  <a:srgbClr val="FDFBF5"/>
                </a:solidFill>
                <a:latin typeface="Segoe UI"/>
              </a:rPr>
              <a:t>Status Meeting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14600"/>
            <a:ext cx="11185855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2600" b="0">
                <a:solidFill>
                  <a:srgbClr val="E6C670"/>
                </a:solidFill>
                <a:latin typeface="Segoe UI"/>
              </a:rPr>
              <a:t>Project 8: Entanglement in Online Choir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20440"/>
            <a:ext cx="11185855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500" b="0">
                <a:solidFill>
                  <a:srgbClr val="CBD9DD"/>
                </a:solidFill>
                <a:latin typeface="Segoe UI"/>
              </a:rPr>
              <a:t>SNA-OSN-M Summer 2026  -  Uni Bamberg x Uni Koeln x HSLU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43484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600" b="1">
                <a:solidFill>
                  <a:srgbClr val="FDFBF5"/>
                </a:solidFill>
                <a:latin typeface="Segoe UI"/>
              </a:rPr>
              <a:t>Presented by Zuraiz, on behalf of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98348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300" b="0">
                <a:solidFill>
                  <a:srgbClr val="CBD9DD"/>
                </a:solidFill>
                <a:latin typeface="Segoe UI"/>
              </a:rPr>
              <a:t>Supervisors: Prof. Janine Hacker - Prof. Peter Gloor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1400" b="0">
                <a:solidFill>
                  <a:srgbClr val="E6C670"/>
                </a:solidFill>
                <a:latin typeface="Segoe UI"/>
              </a:rPr>
              <a:t>2026-07-09 - 14:00 CET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Goals and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5486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900" b="1">
                <a:solidFill>
                  <a:srgbClr val="0E4D5E"/>
                </a:solidFill>
                <a:latin typeface="Segoe UI"/>
              </a:rPr>
              <a:t>We are measuring how well online choirs coordinate when singers are not in the same room.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E(t)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One coordination score over time from audio, network, and visual signals.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07792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H1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Does higher latency reduce choir coordination?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58184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H2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Do influence networks show leadership structure?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608576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H3 and plan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Test visual/body signals when data exists; prepare the report and final dashboard demo.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Today we connect the project goal to the latest results and the final-presentation plan.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Progress during the last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700" b="1">
                <a:solidFill>
                  <a:srgbClr val="0E4D5E"/>
                </a:solidFill>
                <a:latin typeface="Segoe UI"/>
              </a:rPr>
              <a:t>Since Status Meeting V, we completed the Jul-9 report checkpoint.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85855" cy="65836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Report draft v1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Now writes up the H1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24327"/>
            <a:ext cx="11185855" cy="65836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H1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Ready to use in the report as the main timing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74135"/>
            <a:ext cx="11185855" cy="65836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H2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Cleaner interpretation: weak leadership signal in human choir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23943"/>
            <a:ext cx="11185855" cy="65836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H3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Open because the needed paired audio-video data is unavailable.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73751"/>
            <a:ext cx="11185855" cy="65836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Status VI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Slides, script, and Q&amp;A notes are prepared.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work moved from finding results to preparing the final presentation and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Report draft v1 is ready for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94960" cy="329184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What is in the draft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Abstract, hypotheses, data, methods, results, limitations, conclusion.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H1 presented as the headline result.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H2 presented as a measured leadership signal in human datasets.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H3 presented as an open data-availability limitation.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800" b="1">
                <a:solidFill>
                  <a:srgbClr val="0E4D5E"/>
                </a:solidFill>
                <a:latin typeface="Segoe UI Semibold"/>
              </a:rPr>
              <a:t>H1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Supported in onset timing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463040"/>
            <a:ext cx="1828800" cy="11430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800" b="1">
                <a:solidFill>
                  <a:srgbClr val="0E4D5E"/>
                </a:solidFill>
                <a:latin typeface="Segoe UI Semibold"/>
              </a:rPr>
              <a:t>H2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Partially 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0" y="1463040"/>
            <a:ext cx="1188720" cy="11430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500" b="1">
                <a:solidFill>
                  <a:srgbClr val="0E4D5E"/>
                </a:solidFill>
                <a:latin typeface="Segoe UI Semibold"/>
              </a:rPr>
              <a:t>H3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5303520" cy="1463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500" b="0">
                <a:solidFill>
                  <a:srgbClr val="0E4D5E"/>
                </a:solidFill>
                <a:latin typeface="Segoe UI"/>
              </a:rPr>
              <a:t>The Jul-9 hard milestone from Status Meeting V is met: the latency result is in prose, with methods and limitations already stated.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Jul-9 report milestone from Status Meeting V is met.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H1: latency breaks attack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pic>
        <p:nvPicPr>
          <p:cNvPr id="6" name="Picture 5" descr="tier3_cor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15441"/>
            <a:ext cx="7498079" cy="29813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66760" y="1417320"/>
            <a:ext cx="3337560" cy="3931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300" b="0">
                <a:solidFill>
                  <a:srgbClr val="0E4D5E"/>
                </a:solidFill>
                <a:latin typeface="Segoe UI"/>
              </a:rPr>
              <a:t>Result summary:
- Onset synchrony falls strongly as jitter rises.
- Loudness-envelope coupling stays almost flat.
- Latency breaks when singers land notes, not how loud they are.
Clean -&gt; Zoom drop:
Dagstuhl 57%
ESMUC 66%
ChoralSynth 76%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An envelope-only metric would have missed the real latency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H2: leadership appears in human choir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What the original H2 asked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Original: networks become leader-dominated as latency rises.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Current data cannot test that cleanly because injected delay on pre-recorded audio cannot create a behavioral leader.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611880"/>
            <a:ext cx="5394960" cy="155448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Current H2 result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Clean human choir influence networks carry weak leadership structure above a density-matched random null.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1554480" cy="11430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800" b="1">
                <a:solidFill>
                  <a:srgbClr val="0E4D5E"/>
                </a:solidFill>
                <a:latin typeface="Segoe UI Semibold"/>
              </a:rPr>
              <a:t>3/5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Dagstuhl significant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508760"/>
            <a:ext cx="1554480" cy="11430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800" b="1">
                <a:solidFill>
                  <a:srgbClr val="0E4D5E"/>
                </a:solidFill>
                <a:latin typeface="Segoe UI Semibold"/>
              </a:rPr>
              <a:t>2/3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ESMUC significant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508760"/>
            <a:ext cx="1554480" cy="1143000"/>
          </a:xfrm>
          <a:prstGeom prst="roundRect">
            <a:avLst>
              <a:gd name="adj" fmla="val 6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2500" b="1">
                <a:solidFill>
                  <a:srgbClr val="0E4D5E"/>
                </a:solidFill>
                <a:latin typeface="Segoe UI Semibold"/>
              </a:rPr>
              <a:t>2/20</a:t>
            </a:r>
          </a:p>
          <a:p>
            <a:pPr algn="ctr" latinLnBrk="0"/>
            <a:r>
              <a:rPr sz="1150" b="0">
                <a:solidFill>
                  <a:srgbClr val="6E6A60"/>
                </a:solidFill>
                <a:latin typeface="Segoe UI"/>
              </a:rPr>
              <a:t>ChoralSynth, approx. chance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5212080" cy="1371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400" b="0">
                <a:solidFill>
                  <a:srgbClr val="0E4D5E"/>
                </a:solidFill>
                <a:latin typeface="Segoe UI"/>
              </a:rPr>
              <a:t>Interpretation: leadership appears as a weak human coordination signal, not as a synthetic-rendering artifact. We do not claim strong hierarchy.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74920"/>
            <a:ext cx="11185855" cy="7772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150" b="0">
                <a:solidFill>
                  <a:srgbClr val="6E6A60"/>
                </a:solidFill>
                <a:latin typeface="Segoe UI"/>
              </a:rPr>
              <a:t>Definition (operational): leader dominance = out-degree centralization of the directed influence graph, measured as the Gini coefficient of node out-degree. 0 = every singer exerts equal outgoing influence (democratic); toward 1 = one singer Granger-causes the others without following back (a leader). Test: observed Gini vs 1000 random graphs of identical size and density. Observed corpus mean 0.154 vs null 0.139.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Leadership appears as a human coordination signal, not a synthetic-rendering artifact.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Dashboard alpha uses real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pic>
        <p:nvPicPr>
          <p:cNvPr id="6" name="Picture 5" descr="wp4_dashboard_real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743" y="1234440"/>
            <a:ext cx="4686432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417320"/>
            <a:ext cx="3383280" cy="3886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0">
                <a:solidFill>
                  <a:srgbClr val="0E4D5E"/>
                </a:solidFill>
                <a:latin typeface="Segoe UI"/>
              </a:rPr>
              <a:t>Real alpha:
- E(t) from the real pipeline
- Graph from real Granger GEXF
- Pose overlay from real parquet
- Metadata shows available signals
This screenshot shows the current real-data alpha used for demo planning.
Demo structure:
One audio/network example shows E(t) and the influence graph. One video/pose example shows playback and pose overlay.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final demo can be clear and honest even though no current piece has all three signals.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Plan for the next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85855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600" b="1">
                <a:solidFill>
                  <a:srgbClr val="0E4D5E"/>
                </a:solidFill>
                <a:latin typeface="Segoe UI"/>
              </a:rPr>
              <a:t>The next iteration is the final presentation and report phase.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27632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Final presentation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Build the 20-minute Jul-23 deck and demo narration.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78024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Report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Convert draft v1 into the final 10-20 page seminar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28416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Reproducibility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Run final checks and regenerate headline figures from committed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78808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Dashboard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Prepare the presentation laptop and rehearse the demo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29200"/>
            <a:ext cx="11185855" cy="749808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Limitations</a:t>
            </a:r>
          </a:p>
          <a:p>
            <a:pPr algn="l" latinLnBrk="0">
              <a:spcAft>
                <a:spcPts val="400"/>
              </a:spcAft>
            </a:pPr>
            <a:r>
              <a:rPr sz="1250" b="0">
                <a:solidFill>
                  <a:srgbClr val="24262E"/>
                </a:solidFill>
                <a:latin typeface="Segoe UI"/>
              </a:rPr>
              <a:t>Present H3 and latency-driven H2 as open questions for future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44768"/>
            <a:ext cx="11185855" cy="475488"/>
          </a:xfrm>
          <a:prstGeom prst="roundRect">
            <a:avLst>
              <a:gd name="adj" fmla="val 6000"/>
            </a:avLst>
          </a:prstGeom>
          <a:solidFill>
            <a:srgbClr val="0E4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latinLnBrk="0"/>
            <a:r>
              <a:rPr sz="1400" b="1">
                <a:solidFill>
                  <a:srgbClr val="FDFBF5"/>
                </a:solidFill>
                <a:latin typeface="Segoe UI Semibold"/>
              </a:rPr>
              <a:t>The remaining work is final packaging, verification, and rehearsal.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200" b="1">
                <a:solidFill>
                  <a:srgbClr val="C4902A"/>
                </a:solidFill>
                <a:latin typeface="Segoe UI"/>
              </a:rPr>
              <a:t>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6692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2700" b="1">
                <a:solidFill>
                  <a:srgbClr val="0E4D5E"/>
                </a:solidFill>
                <a:latin typeface="Segoe UI"/>
              </a:rPr>
              <a:t>What we need to align before the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510528"/>
            <a:ext cx="109728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 latinLnBrk="0">
              <a:lnSpc>
                <a:spcPct val="100000"/>
              </a:lnSpc>
            </a:pPr>
            <a:r>
              <a:rPr sz="1000" b="0">
                <a:solidFill>
                  <a:srgbClr val="6E6A60"/>
                </a:solidFill>
                <a:latin typeface="Segoe UI"/>
              </a:rPr>
              <a:t>Project 8 - Entanglement in Online Choir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11880" cy="34747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Retrospective output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Null results were kept and explained.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Constant-delay failure led to the stronger jitter/onset result.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Dataset claims now trace to files and generated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325880"/>
            <a:ext cx="3611880" cy="34747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Proposed structure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Research question and hypotheses.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Method, datasets, results, and interpretation.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Implementation, limitations, and next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55864" y="1325880"/>
            <a:ext cx="3611880" cy="3474720"/>
          </a:xfrm>
          <a:prstGeom prst="roundRect">
            <a:avLst>
              <a:gd name="adj" fmla="val 4000"/>
            </a:avLst>
          </a:prstGeom>
          <a:solidFill>
            <a:srgbClr val="FDFBF5"/>
          </a:solidFill>
          <a:ln w="12700">
            <a:solidFill>
              <a:srgbClr val="CB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46304"/>
          <a:lstStyle/>
          <a:p>
            <a:pPr algn="l" latinLnBrk="0">
              <a:spcAft>
                <a:spcPts val="600"/>
              </a:spcAft>
            </a:pPr>
            <a:r>
              <a:rPr sz="1400" b="1">
                <a:solidFill>
                  <a:srgbClr val="0E4D5E"/>
                </a:solidFill>
                <a:latin typeface="Segoe UI Semibold"/>
              </a:rPr>
              <a:t>Questions for feedback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Final structure: research question, hypotheses, method, results, implementation, limitations, next steps.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Main focus: what should receive the most attention in the final presentation?</a:t>
            </a:r>
          </a:p>
          <a:p>
            <a:pPr algn="l" latinLnBrk="0">
              <a:spcAft>
                <a:spcPts val="400"/>
              </a:spcAft>
            </a:pPr>
            <a:r>
              <a:rPr sz="1300" b="0">
                <a:solidFill>
                  <a:srgbClr val="24262E"/>
                </a:solidFill>
                <a:latin typeface="Segoe UI"/>
              </a:rPr>
              <a:t>Dashboard format: is a screenshot enough, or should we show it live?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257800"/>
            <a:ext cx="11185855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latinLnBrk="0">
              <a:lnSpc>
                <a:spcPct val="100000"/>
              </a:lnSpc>
            </a:pPr>
            <a:r>
              <a:rPr sz="2200" b="1">
                <a:solidFill>
                  <a:srgbClr val="C4902A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