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33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417320"/>
            <a:ext cx="11185855" cy="8229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 latinLnBrk="0">
              <a:lnSpc>
                <a:spcPct val="100000"/>
              </a:lnSpc>
            </a:pPr>
            <a:r>
              <a:rPr sz="4800" b="1">
                <a:solidFill>
                  <a:srgbClr val="FDFBF5"/>
                </a:solidFill>
                <a:latin typeface="Segoe UI"/>
              </a:rPr>
              <a:t>Status Meeting IV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423160"/>
            <a:ext cx="11185855" cy="6400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 latinLnBrk="0">
              <a:lnSpc>
                <a:spcPct val="100000"/>
              </a:lnSpc>
            </a:pPr>
            <a:r>
              <a:rPr sz="2700" b="0">
                <a:solidFill>
                  <a:srgbClr val="E6C670"/>
                </a:solidFill>
                <a:latin typeface="Segoe UI"/>
              </a:rPr>
              <a:t>Project 8: Entanglement in Online Choir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120640" y="3246120"/>
            <a:ext cx="1920240" cy="0"/>
          </a:xfrm>
          <a:prstGeom prst="line">
            <a:avLst/>
          </a:prstGeom>
          <a:ln w="31750">
            <a:solidFill>
              <a:srgbClr val="C490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02920" y="3520440"/>
            <a:ext cx="11185855" cy="4114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 latinLnBrk="0">
              <a:lnSpc>
                <a:spcPct val="100000"/>
              </a:lnSpc>
            </a:pPr>
            <a:r>
              <a:rPr sz="1500" b="0">
                <a:solidFill>
                  <a:srgbClr val="CBD9DD"/>
                </a:solidFill>
                <a:latin typeface="Segoe UI"/>
              </a:rPr>
              <a:t>SNA-OSN-M Summer 2026  ·  Uni Bamberg × Uni Köln × HSLU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526280"/>
            <a:ext cx="11185855" cy="45720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 latinLnBrk="0">
              <a:lnSpc>
                <a:spcPct val="100000"/>
              </a:lnSpc>
            </a:pPr>
            <a:r>
              <a:rPr sz="1800" b="1">
                <a:solidFill>
                  <a:srgbClr val="FDFBF5"/>
                </a:solidFill>
                <a:latin typeface="Segoe UI"/>
              </a:rPr>
              <a:t>Presented by Hassan Ahmed, on behalf of the team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074920"/>
            <a:ext cx="11185855" cy="3657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 latinLnBrk="0">
              <a:lnSpc>
                <a:spcPct val="100000"/>
              </a:lnSpc>
            </a:pPr>
            <a:r>
              <a:rPr sz="1300" b="0">
                <a:solidFill>
                  <a:srgbClr val="CBD9DD"/>
                </a:solidFill>
                <a:latin typeface="Segoe UI"/>
              </a:rPr>
              <a:t>Supervisors: Prof. Janine Hacker (Uni Bamberg) · Prof. Peter Gloor (MIT/Köln)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5897880"/>
            <a:ext cx="11185855" cy="3657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 latinLnBrk="0">
              <a:lnSpc>
                <a:spcPct val="100000"/>
              </a:lnSpc>
            </a:pPr>
            <a:r>
              <a:rPr sz="1400" b="0">
                <a:solidFill>
                  <a:srgbClr val="E6C670"/>
                </a:solidFill>
                <a:latin typeface="Segoe UI"/>
              </a:rPr>
              <a:t>2026-06-11 · 14:00 CET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200" b="1">
                <a:solidFill>
                  <a:srgbClr val="C4902A"/>
                </a:solidFill>
                <a:latin typeface="Segoe UI Semibold"/>
              </a:rPr>
              <a:t>RECAP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2700" b="1">
                <a:solidFill>
                  <a:srgbClr val="0E4D5E"/>
                </a:solidFill>
                <a:latin typeface="Segoe UI Semibold"/>
              </a:rPr>
              <a:t>Goals and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510528"/>
            <a:ext cx="109728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2 /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45720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Project 8 · Entanglement in Online Choir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25880"/>
            <a:ext cx="5577840" cy="960120"/>
          </a:xfrm>
          <a:prstGeom prst="roundRect">
            <a:avLst>
              <a:gd name="adj" fmla="val 8000"/>
            </a:avLst>
          </a:prstGeom>
          <a:solidFill>
            <a:srgbClr val="0E4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latinLnBrk="0"/>
            <a:r>
              <a:rPr sz="1900" b="1">
                <a:solidFill>
                  <a:srgbClr val="FDFBF5"/>
                </a:solidFill>
                <a:latin typeface="Segoe UI Semibold"/>
              </a:rPr>
              <a:t>E(t)  =  mean(  A(t) audio,  V(t) visual,  N(t) network  )</a:t>
            </a:r>
          </a:p>
          <a:p>
            <a:pPr algn="ctr" latinLnBrk="0"/>
            <a:r>
              <a:rPr sz="1200" b="0">
                <a:solidFill>
                  <a:srgbClr val="CBD9DD"/>
                </a:solidFill>
                <a:latin typeface="Segoe UI"/>
              </a:rPr>
              <a:t>a single coordination score per time window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14600"/>
            <a:ext cx="5577840" cy="896112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H1 · Latency regimes</a:t>
            </a:r>
          </a:p>
          <a:p>
            <a:pPr algn="l" latinLnBrk="0">
              <a:spcAft>
                <a:spcPts val="400"/>
              </a:spcAft>
            </a:pPr>
            <a:r>
              <a:rPr sz="1250" b="0">
                <a:solidFill>
                  <a:srgbClr val="24262E"/>
                </a:solidFill>
                <a:latin typeface="Segoe UI"/>
              </a:rPr>
              <a:t>Low-latency tools (Jamulus, SoundJack) score higher E(t) than Zoom.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520440"/>
            <a:ext cx="5577840" cy="896112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H2 · Network topology</a:t>
            </a:r>
          </a:p>
          <a:p>
            <a:pPr algn="l" latinLnBrk="0">
              <a:spcAft>
                <a:spcPts val="400"/>
              </a:spcAft>
            </a:pPr>
            <a:r>
              <a:rPr sz="1250" b="0">
                <a:solidFill>
                  <a:srgbClr val="24262E"/>
                </a:solidFill>
                <a:latin typeface="Segoe UI"/>
              </a:rPr>
              <a:t>Influence network shifts democratic → leader-dominated as latency rises.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526280"/>
            <a:ext cx="5577840" cy="896112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H3 · Honest signals</a:t>
            </a:r>
          </a:p>
          <a:p>
            <a:pPr algn="l" latinLnBrk="0">
              <a:spcAft>
                <a:spcPts val="400"/>
              </a:spcAft>
            </a:pPr>
            <a:r>
              <a:rPr sz="1250" b="0">
                <a:solidFill>
                  <a:srgbClr val="24262E"/>
                </a:solidFill>
                <a:latin typeface="Segoe UI"/>
              </a:rPr>
              <a:t>Body sway + breathing add ≥ 10 points of explained variance over audio.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325880"/>
            <a:ext cx="5029200" cy="3200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500" b="1">
                <a:solidFill>
                  <a:srgbClr val="0E4D5E"/>
                </a:solidFill>
                <a:latin typeface="Segoe UI"/>
              </a:rPr>
              <a:t>Where we are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0" y="1801368"/>
            <a:ext cx="201168" cy="201168"/>
          </a:xfrm>
          <a:prstGeom prst="ellipse">
            <a:avLst/>
          </a:prstGeom>
          <a:solidFill>
            <a:srgbClr val="4F8E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31152" y="1737360"/>
            <a:ext cx="1143000" cy="45720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150" b="1">
                <a:solidFill>
                  <a:srgbClr val="0E4D5E"/>
                </a:solidFill>
                <a:latin typeface="Segoe UI"/>
              </a:rPr>
              <a:t>Apr 15-16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0" y="1737360"/>
            <a:ext cx="3474720" cy="5029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95000"/>
              </a:lnSpc>
            </a:pPr>
            <a:r>
              <a:rPr sz="1150" b="0">
                <a:solidFill>
                  <a:srgbClr val="24262E"/>
                </a:solidFill>
                <a:latin typeface="Segoe UI"/>
              </a:rPr>
              <a:t>Block course + status #1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0" y="2368296"/>
            <a:ext cx="201168" cy="201168"/>
          </a:xfrm>
          <a:prstGeom prst="ellipse">
            <a:avLst/>
          </a:prstGeom>
          <a:solidFill>
            <a:srgbClr val="4F8E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31152" y="2304288"/>
            <a:ext cx="1143000" cy="45720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150" b="1">
                <a:solidFill>
                  <a:srgbClr val="0E4D5E"/>
                </a:solidFill>
                <a:latin typeface="Segoe UI"/>
              </a:rPr>
              <a:t>Apr 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60" y="2304288"/>
            <a:ext cx="3474720" cy="5029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95000"/>
              </a:lnSpc>
            </a:pPr>
            <a:r>
              <a:rPr sz="1150" b="0">
                <a:solidFill>
                  <a:srgbClr val="24262E"/>
                </a:solidFill>
                <a:latin typeface="Segoe UI"/>
              </a:rPr>
              <a:t>Status #2 · goals + plan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0" y="2935224"/>
            <a:ext cx="201168" cy="201168"/>
          </a:xfrm>
          <a:prstGeom prst="ellipse">
            <a:avLst/>
          </a:prstGeom>
          <a:solidFill>
            <a:srgbClr val="4F8E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31152" y="2871216"/>
            <a:ext cx="1143000" cy="45720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150" b="1">
                <a:solidFill>
                  <a:srgbClr val="0E4D5E"/>
                </a:solidFill>
                <a:latin typeface="Segoe UI"/>
              </a:rPr>
              <a:t>May 21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0" y="2871216"/>
            <a:ext cx="3474720" cy="5029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95000"/>
              </a:lnSpc>
            </a:pPr>
            <a:r>
              <a:rPr sz="1150" b="0">
                <a:solidFill>
                  <a:srgbClr val="24262E"/>
                </a:solidFill>
                <a:latin typeface="Segoe UI"/>
              </a:rPr>
              <a:t>Status #3 · all 4 WPs running + Virtual Mirror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0" y="3502152"/>
            <a:ext cx="201168" cy="201168"/>
          </a:xfrm>
          <a:prstGeom prst="ellipse">
            <a:avLst/>
          </a:prstGeom>
          <a:solidFill>
            <a:srgbClr val="C49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31152" y="3438144"/>
            <a:ext cx="1143000" cy="45720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150" b="1">
                <a:solidFill>
                  <a:srgbClr val="C4902A"/>
                </a:solidFill>
                <a:latin typeface="Segoe UI"/>
              </a:rPr>
              <a:t>Jun 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8160" y="3438144"/>
            <a:ext cx="3474720" cy="5029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95000"/>
              </a:lnSpc>
            </a:pPr>
            <a:r>
              <a:rPr sz="1150" b="0">
                <a:solidFill>
                  <a:srgbClr val="C4902A"/>
                </a:solidFill>
                <a:latin typeface="Segoe UI"/>
              </a:rPr>
              <a:t>Status #4 · TODAY: E(t) operational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0" y="4069080"/>
            <a:ext cx="201168" cy="201168"/>
          </a:xfrm>
          <a:prstGeom prst="ellipse">
            <a:avLst/>
          </a:prstGeom>
          <a:solidFill>
            <a:srgbClr val="CBD9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31152" y="4005072"/>
            <a:ext cx="1143000" cy="45720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150" b="1">
                <a:solidFill>
                  <a:srgbClr val="0E4D5E"/>
                </a:solidFill>
                <a:latin typeface="Segoe UI"/>
              </a:rPr>
              <a:t>Jun 25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38160" y="4005072"/>
            <a:ext cx="3474720" cy="5029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95000"/>
              </a:lnSpc>
            </a:pPr>
            <a:r>
              <a:rPr sz="1150" b="0">
                <a:solidFill>
                  <a:srgbClr val="24262E"/>
                </a:solidFill>
                <a:latin typeface="Segoe UI"/>
              </a:rPr>
              <a:t>Status #5 · cross-regime results</a:t>
            </a:r>
          </a:p>
        </p:txBody>
      </p:sp>
      <p:sp>
        <p:nvSpPr>
          <p:cNvPr id="26" name="Oval 25"/>
          <p:cNvSpPr/>
          <p:nvPr/>
        </p:nvSpPr>
        <p:spPr>
          <a:xfrm>
            <a:off x="6583680" y="4636008"/>
            <a:ext cx="201168" cy="201168"/>
          </a:xfrm>
          <a:prstGeom prst="ellipse">
            <a:avLst/>
          </a:prstGeom>
          <a:solidFill>
            <a:srgbClr val="CBD9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31152" y="4572000"/>
            <a:ext cx="1143000" cy="45720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150" b="1">
                <a:solidFill>
                  <a:srgbClr val="0E4D5E"/>
                </a:solidFill>
                <a:latin typeface="Segoe UI"/>
              </a:rPr>
              <a:t>Jul 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38160" y="4572000"/>
            <a:ext cx="3474720" cy="5029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95000"/>
              </a:lnSpc>
            </a:pPr>
            <a:r>
              <a:rPr sz="1150" b="0">
                <a:solidFill>
                  <a:srgbClr val="24262E"/>
                </a:solidFill>
                <a:latin typeface="Segoe UI"/>
              </a:rPr>
              <a:t>Status #6 · last check-in before final</a:t>
            </a:r>
          </a:p>
        </p:txBody>
      </p:sp>
      <p:sp>
        <p:nvSpPr>
          <p:cNvPr id="29" name="Oval 28"/>
          <p:cNvSpPr/>
          <p:nvPr/>
        </p:nvSpPr>
        <p:spPr>
          <a:xfrm>
            <a:off x="6583680" y="5202936"/>
            <a:ext cx="201168" cy="201168"/>
          </a:xfrm>
          <a:prstGeom prst="ellipse">
            <a:avLst/>
          </a:prstGeom>
          <a:solidFill>
            <a:srgbClr val="CBD9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31152" y="5138928"/>
            <a:ext cx="1143000" cy="45720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150" b="1">
                <a:solidFill>
                  <a:srgbClr val="0E4D5E"/>
                </a:solidFill>
                <a:latin typeface="Segoe UI"/>
              </a:rPr>
              <a:t>Jul 23 / 31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38160" y="5138928"/>
            <a:ext cx="3474720" cy="5029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95000"/>
              </a:lnSpc>
            </a:pPr>
            <a:r>
              <a:rPr sz="1150" b="0">
                <a:solidFill>
                  <a:srgbClr val="24262E"/>
                </a:solidFill>
                <a:latin typeface="Segoe UI"/>
              </a:rPr>
              <a:t>Final presentation / final paper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6144768"/>
            <a:ext cx="11185855" cy="475488"/>
          </a:xfrm>
          <a:prstGeom prst="roundRect">
            <a:avLst>
              <a:gd name="adj" fmla="val 6000"/>
            </a:avLst>
          </a:prstGeom>
          <a:solidFill>
            <a:srgbClr val="0E4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latinLnBrk="0"/>
            <a:r>
              <a:rPr sz="1400" b="1">
                <a:solidFill>
                  <a:srgbClr val="FDFBF5"/>
                </a:solidFill>
                <a:latin typeface="Segoe UI Semibold"/>
              </a:rPr>
              <a:t>Goals unchanged since April. This iteration delivered the first end-to-end E(t).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200" b="1">
                <a:solidFill>
                  <a:srgbClr val="C4902A"/>
                </a:solidFill>
                <a:latin typeface="Segoe UI Semibold"/>
              </a:rPr>
              <a:t>PROGRESS · LAST ITERATION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2700" b="1">
                <a:solidFill>
                  <a:srgbClr val="0E4D5E"/>
                </a:solidFill>
                <a:latin typeface="Segoe UI Semibold"/>
              </a:rPr>
              <a:t>E(t) is operational: all 5 pieces significant above the null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510528"/>
            <a:ext cx="109728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3 /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45720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Project 8 · Entanglement in Online Choir</a:t>
            </a:r>
          </a:p>
        </p:txBody>
      </p:sp>
      <p:pic>
        <p:nvPicPr>
          <p:cNvPr id="6" name="Picture 5" descr="et_corpus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476649"/>
            <a:ext cx="7863840" cy="4270461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686800" y="1371600"/>
            <a:ext cx="3017520" cy="1078992"/>
          </a:xfrm>
          <a:prstGeom prst="roundRect">
            <a:avLst>
              <a:gd name="adj" fmla="val 6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latinLnBrk="0"/>
            <a:r>
              <a:rPr sz="3000" b="1">
                <a:solidFill>
                  <a:srgbClr val="0E4D5E"/>
                </a:solidFill>
                <a:latin typeface="Segoe UI Semibold"/>
              </a:rPr>
              <a:t>5 / 5</a:t>
            </a:r>
          </a:p>
          <a:p>
            <a:pPr algn="ctr" latinLnBrk="0"/>
            <a:r>
              <a:rPr sz="1150" b="0">
                <a:solidFill>
                  <a:srgbClr val="6E6A60"/>
                </a:solidFill>
                <a:latin typeface="Segoe UI"/>
              </a:rPr>
              <a:t>pieces significantly above the null (p &lt; 0.005)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0" y="2606040"/>
            <a:ext cx="3017520" cy="1078992"/>
          </a:xfrm>
          <a:prstGeom prst="roundRect">
            <a:avLst>
              <a:gd name="adj" fmla="val 6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latinLnBrk="0"/>
            <a:r>
              <a:rPr sz="3000" b="1">
                <a:solidFill>
                  <a:srgbClr val="0E4D5E"/>
                </a:solidFill>
                <a:latin typeface="Segoe UI Semibold"/>
              </a:rPr>
              <a:t>200</a:t>
            </a:r>
          </a:p>
          <a:p>
            <a:pPr algn="ctr" latinLnBrk="0"/>
            <a:r>
              <a:rPr sz="1150" b="0">
                <a:solidFill>
                  <a:srgbClr val="6E6A60"/>
                </a:solidFill>
                <a:latin typeface="Segoe UI"/>
              </a:rPr>
              <a:t>circular-shift permutations per piece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0" y="3840480"/>
            <a:ext cx="3017520" cy="1078992"/>
          </a:xfrm>
          <a:prstGeom prst="roundRect">
            <a:avLst>
              <a:gd name="adj" fmla="val 6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latinLnBrk="0"/>
            <a:r>
              <a:rPr sz="2400" b="1">
                <a:solidFill>
                  <a:srgbClr val="0E4D5E"/>
                </a:solidFill>
                <a:latin typeface="Segoe UI Semibold"/>
              </a:rPr>
              <a:t>0.57–0.80</a:t>
            </a:r>
          </a:p>
          <a:p>
            <a:pPr algn="ctr" latinLnBrk="0"/>
            <a:r>
              <a:rPr sz="1150" b="0">
                <a:solidFill>
                  <a:srgbClr val="6E6A60"/>
                </a:solidFill>
                <a:latin typeface="Segoe UI"/>
              </a:rPr>
              <a:t>observed mean E(t) across pieces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5029200"/>
            <a:ext cx="3017520" cy="10058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5000"/>
              </a:lnSpc>
            </a:pPr>
            <a:r>
              <a:rPr sz="1200" b="0">
                <a:solidFill>
                  <a:srgbClr val="6E6A60"/>
                </a:solidFill>
                <a:latin typeface="Segoe UI"/>
              </a:rPr>
              <a:t>Split follows the music: homophonic chant scores high, polyphony lower. The metric reacts to what the choir is doing.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6144768"/>
            <a:ext cx="11185855" cy="475488"/>
          </a:xfrm>
          <a:prstGeom prst="roundRect">
            <a:avLst>
              <a:gd name="adj" fmla="val 6000"/>
            </a:avLst>
          </a:prstGeom>
          <a:solidFill>
            <a:srgbClr val="0E4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latinLnBrk="0"/>
            <a:r>
              <a:rPr sz="1400" b="1">
                <a:solidFill>
                  <a:srgbClr val="FDFBF5"/>
                </a:solidFill>
                <a:latin typeface="Segoe UI Semibold"/>
              </a:rPr>
              <a:t>E(t) is implemented, reproducible, and significant against the null on all five pieces.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200" b="1">
                <a:solidFill>
                  <a:srgbClr val="C4902A"/>
                </a:solidFill>
                <a:latin typeface="Segoe UI Semibold"/>
              </a:rPr>
              <a:t>PROGRESS · LAST ITERATION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2700" b="1">
                <a:solidFill>
                  <a:srgbClr val="0E4D5E"/>
                </a:solidFill>
                <a:latin typeface="Segoe UI Semibold"/>
              </a:rPr>
              <a:t>Audio and network pipelines behind E(t)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510528"/>
            <a:ext cx="109728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4 /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45720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Project 8 · Entanglement in Online Choir</a:t>
            </a:r>
          </a:p>
        </p:txBody>
      </p:sp>
      <p:pic>
        <p:nvPicPr>
          <p:cNvPr id="6" name="Picture 5" descr="wp3_influence_graphs_5pie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500" y="1280160"/>
            <a:ext cx="7110919" cy="46634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1325880"/>
            <a:ext cx="3383280" cy="914400"/>
          </a:xfrm>
          <a:prstGeom prst="roundRect">
            <a:avLst>
              <a:gd name="adj" fmla="val 6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latinLnBrk="0"/>
            <a:r>
              <a:rPr sz="3000" b="1">
                <a:solidFill>
                  <a:srgbClr val="0E4D5E"/>
                </a:solidFill>
                <a:latin typeface="Segoe UI Semibold"/>
              </a:rPr>
              <a:t>25</a:t>
            </a:r>
          </a:p>
          <a:p>
            <a:pPr algn="ctr" latinLnBrk="0"/>
            <a:r>
              <a:rPr sz="1150" b="0">
                <a:solidFill>
                  <a:srgbClr val="6E6A60"/>
                </a:solidFill>
                <a:latin typeface="Segoe UI"/>
              </a:rPr>
              <a:t>Dagstuhl takes processed (was 1 last sprint)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321040" y="2377440"/>
            <a:ext cx="3383280" cy="914400"/>
          </a:xfrm>
          <a:prstGeom prst="roundRect">
            <a:avLst>
              <a:gd name="adj" fmla="val 6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latinLnBrk="0"/>
            <a:r>
              <a:rPr sz="3000" b="1">
                <a:solidFill>
                  <a:srgbClr val="0E4D5E"/>
                </a:solidFill>
                <a:latin typeface="Segoe UI Semibold"/>
              </a:rPr>
              <a:t>288</a:t>
            </a:r>
          </a:p>
          <a:p>
            <a:pPr algn="ctr" latinLnBrk="0"/>
            <a:r>
              <a:rPr sz="1150" b="0">
                <a:solidFill>
                  <a:srgbClr val="6E6A60"/>
                </a:solidFill>
                <a:latin typeface="Segoe UI"/>
              </a:rPr>
              <a:t>pairwise audio couplings computed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321040" y="3429000"/>
            <a:ext cx="3383280" cy="914400"/>
          </a:xfrm>
          <a:prstGeom prst="roundRect">
            <a:avLst>
              <a:gd name="adj" fmla="val 6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latinLnBrk="0"/>
            <a:r>
              <a:rPr sz="3000" b="1">
                <a:solidFill>
                  <a:srgbClr val="0E4D5E"/>
                </a:solidFill>
                <a:latin typeface="Segoe UI Semibold"/>
              </a:rPr>
              <a:t>2</a:t>
            </a:r>
          </a:p>
          <a:p>
            <a:pPr algn="ctr" latinLnBrk="0"/>
            <a:r>
              <a:rPr sz="1150" b="0">
                <a:solidFill>
                  <a:srgbClr val="6E6A60"/>
                </a:solidFill>
                <a:latin typeface="Segoe UI"/>
              </a:rPr>
              <a:t>causality methods per piece (Granger + COP-GC)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4526280"/>
            <a:ext cx="3383280" cy="14630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5000"/>
              </a:lnSpc>
            </a:pPr>
            <a:r>
              <a:rPr sz="1200" b="0">
                <a:solidFill>
                  <a:srgbClr val="6E6A60"/>
                </a:solidFill>
                <a:latin typeface="Segoe UI"/>
              </a:rPr>
              <a:t>Methods agree on quartets, diverge on full choir (42 vs 25 of 56 edges). That gap is itself a finding: about 40% of standard edges (17 of 42) rely on linear magnitude, not pattern structure.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6144768"/>
            <a:ext cx="11185855" cy="475488"/>
          </a:xfrm>
          <a:prstGeom prst="roundRect">
            <a:avLst>
              <a:gd name="adj" fmla="val 6000"/>
            </a:avLst>
          </a:prstGeom>
          <a:solidFill>
            <a:srgbClr val="0E4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latinLnBrk="0"/>
            <a:r>
              <a:rPr sz="1400" b="1">
                <a:solidFill>
                  <a:srgbClr val="FDFBF5"/>
                </a:solidFill>
                <a:latin typeface="Segoe UI Semibold"/>
              </a:rPr>
              <a:t>Sprint-2 reference reproduces (11/12 edges, density 0.917); the pipeline now scales to the corpus.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200" b="1">
                <a:solidFill>
                  <a:srgbClr val="C4902A"/>
                </a:solidFill>
                <a:latin typeface="Segoe UI Semibold"/>
              </a:rPr>
              <a:t>PROGRESS · LAST ITERATION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2700" b="1">
                <a:solidFill>
                  <a:srgbClr val="0E4D5E"/>
                </a:solidFill>
                <a:latin typeface="Segoe UI Semibold"/>
              </a:rPr>
              <a:t>Video features and dashboard scaffold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510528"/>
            <a:ext cx="109728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5 /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45720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Project 8 · Entanglement in Online Choir</a:t>
            </a:r>
          </a:p>
        </p:txBody>
      </p:sp>
      <p:pic>
        <p:nvPicPr>
          <p:cNvPr id="6" name="Picture 5" descr="wp4_dashboard_scaff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4760" y="1280160"/>
            <a:ext cx="5008480" cy="4663440"/>
          </a:xfrm>
          <a:prstGeom prst="rect">
            <a:avLst/>
          </a:prstGeom>
        </p:spPr>
      </p:pic>
      <p:pic>
        <p:nvPicPr>
          <p:cNvPr id="7" name="Picture 6" descr="wp2_visual_features_v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62577" y="1280160"/>
            <a:ext cx="3271406" cy="20574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537960" y="3520440"/>
            <a:ext cx="1627632" cy="914400"/>
          </a:xfrm>
          <a:prstGeom prst="roundRect">
            <a:avLst>
              <a:gd name="adj" fmla="val 6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latinLnBrk="0"/>
            <a:r>
              <a:rPr sz="2400" b="1">
                <a:solidFill>
                  <a:srgbClr val="0E4D5E"/>
                </a:solidFill>
                <a:latin typeface="Segoe UI Semibold"/>
              </a:rPr>
              <a:t>10</a:t>
            </a:r>
          </a:p>
          <a:p>
            <a:pPr algn="ctr" latinLnBrk="0"/>
            <a:r>
              <a:rPr sz="1150" b="0">
                <a:solidFill>
                  <a:srgbClr val="6E6A60"/>
                </a:solidFill>
                <a:latin typeface="Segoe UI"/>
              </a:rPr>
              <a:t>videos pose-processed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84464" y="3520440"/>
            <a:ext cx="1627632" cy="914400"/>
          </a:xfrm>
          <a:prstGeom prst="roundRect">
            <a:avLst>
              <a:gd name="adj" fmla="val 6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latinLnBrk="0"/>
            <a:r>
              <a:rPr sz="2400" b="1">
                <a:solidFill>
                  <a:srgbClr val="0E4D5E"/>
                </a:solidFill>
                <a:latin typeface="Segoe UI Semibold"/>
              </a:rPr>
              <a:t>5/10</a:t>
            </a:r>
          </a:p>
          <a:p>
            <a:pPr algn="ctr" latinLnBrk="0"/>
            <a:r>
              <a:rPr sz="1150" b="0">
                <a:solidFill>
                  <a:srgbClr val="6E6A60"/>
                </a:solidFill>
                <a:latin typeface="Segoe UI"/>
              </a:rPr>
              <a:t>pass 50% detection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030968" y="3520440"/>
            <a:ext cx="1627632" cy="914400"/>
          </a:xfrm>
          <a:prstGeom prst="roundRect">
            <a:avLst>
              <a:gd name="adj" fmla="val 6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latinLnBrk="0"/>
            <a:r>
              <a:rPr sz="2400" b="1">
                <a:solidFill>
                  <a:srgbClr val="0E4D5E"/>
                </a:solidFill>
                <a:latin typeface="Segoe UI Semibold"/>
              </a:rPr>
              <a:t>23/23</a:t>
            </a:r>
          </a:p>
          <a:p>
            <a:pPr algn="ctr" latinLnBrk="0"/>
            <a:r>
              <a:rPr sz="1150" b="0">
                <a:solidFill>
                  <a:srgbClr val="6E6A60"/>
                </a:solidFill>
                <a:latin typeface="Segoe UI"/>
              </a:rPr>
              <a:t>tests green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4617720"/>
            <a:ext cx="5120640" cy="1417320"/>
          </a:xfrm>
          <a:prstGeom prst="rect">
            <a:avLst/>
          </a:prstGeom>
          <a:noFill/>
        </p:spPr>
        <p:txBody>
          <a:bodyPr wrap="square" lIns="27432">
            <a:spAutoFit/>
          </a:bodyPr>
          <a:lstStyle/>
          <a:p>
            <a:pPr algn="l" latinLnBrk="0">
              <a:spcAft>
                <a:spcPts val="500"/>
              </a:spcAft>
            </a:pPr>
            <a:r>
              <a:rPr sz="1200" b="0">
                <a:solidFill>
                  <a:srgbClr val="24262E"/>
                </a:solidFill>
                <a:latin typeface="Segoe UI"/>
              </a:rPr>
              <a:t>WP2: 5 of 10 stratified videos have usable pose tracks (best 98.5% detection); the rest are UI captures or low-res tile grids. The five passing videos form the working set.</a:t>
            </a:r>
          </a:p>
          <a:p>
            <a:pPr algn="l" latinLnBrk="0">
              <a:spcAft>
                <a:spcPts val="500"/>
              </a:spcAft>
            </a:pPr>
            <a:r>
              <a:rPr sz="1200" b="0">
                <a:solidFill>
                  <a:srgbClr val="24262E"/>
                </a:solidFill>
                <a:latin typeface="Segoe UI"/>
              </a:rPr>
              <a:t>WP4: the scaffold renders all four panels end-to-end; real-data wiring follows next iteration.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6144768"/>
            <a:ext cx="11185855" cy="475488"/>
          </a:xfrm>
          <a:prstGeom prst="roundRect">
            <a:avLst>
              <a:gd name="adj" fmla="val 6000"/>
            </a:avLst>
          </a:prstGeom>
          <a:solidFill>
            <a:srgbClr val="0E4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latinLnBrk="0"/>
            <a:r>
              <a:rPr sz="1400" b="1">
                <a:solidFill>
                  <a:srgbClr val="FDFBF5"/>
                </a:solidFill>
                <a:latin typeface="Segoe UI Semibold"/>
              </a:rPr>
              <a:t>All four work packages advanced; no blockers.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200" b="1">
                <a:solidFill>
                  <a:srgbClr val="C4902A"/>
                </a:solidFill>
                <a:latin typeface="Segoe UI Semibold"/>
              </a:rPr>
              <a:t>NEXT ITERATION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2700" b="1">
                <a:solidFill>
                  <a:srgbClr val="0E4D5E"/>
                </a:solidFill>
                <a:latin typeface="Segoe UI Semibold"/>
              </a:rPr>
              <a:t>Plan: Jun 12 → Jun 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510528"/>
            <a:ext cx="109728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6 /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45720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Project 8 · Entanglement in Online Choir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371600"/>
          <a:ext cx="1115568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8778240"/>
              </a:tblGrid>
              <a:tr h="655320">
                <a:tc>
                  <a:txBody>
                    <a:bodyPr/>
                    <a:lstStyle/>
                    <a:p>
                      <a:pPr latinLnBrk="0"/>
                      <a:r>
                        <a:rPr sz="1400" b="1">
                          <a:solidFill>
                            <a:srgbClr val="FDFBF5"/>
                          </a:solidFill>
                          <a:latin typeface="Segoe UI Semibold"/>
                        </a:rPr>
                        <a:t>Track</a:t>
                      </a:r>
                    </a:p>
                  </a:txBody>
                  <a:tcPr>
                    <a:solidFill>
                      <a:srgbClr val="0E4D5E"/>
                    </a:solidFill>
                  </a:tcPr>
                </a:tc>
                <a:tc>
                  <a:txBody>
                    <a:bodyPr/>
                    <a:lstStyle/>
                    <a:p>
                      <a:pPr latinLnBrk="0"/>
                      <a:r>
                        <a:rPr sz="1400" b="1">
                          <a:solidFill>
                            <a:srgbClr val="FDFBF5"/>
                          </a:solidFill>
                          <a:latin typeface="Segoe UI Semibold"/>
                        </a:rPr>
                        <a:t>What ships</a:t>
                      </a:r>
                    </a:p>
                  </a:txBody>
                  <a:tcPr>
                    <a:solidFill>
                      <a:srgbClr val="0E4D5E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latinLnBrk="0"/>
                      <a:r>
                        <a:rPr sz="1350" b="1">
                          <a:solidFill>
                            <a:srgbClr val="0E4D5E"/>
                          </a:solidFill>
                          <a:latin typeface="Segoe UI Semibold"/>
                        </a:rPr>
                        <a:t>WP1 audio</a:t>
                      </a:r>
                    </a:p>
                  </a:txBody>
                  <a:tcPr>
                    <a:solidFill>
                      <a:srgbClr val="FDFBF5"/>
                    </a:solidFill>
                  </a:tcPr>
                </a:tc>
                <a:tc>
                  <a:txBody>
                    <a:bodyPr/>
                    <a:lstStyle/>
                    <a:p>
                      <a:pPr latinLnBrk="0"/>
                      <a:r>
                        <a:rPr sz="1350" b="0">
                          <a:solidFill>
                            <a:srgbClr val="24262E"/>
                          </a:solidFill>
                          <a:latin typeface="Segoe UI"/>
                        </a:rPr>
                        <a:t>Per-window Granger → time-varying N(t) for the dashboard timeline</a:t>
                      </a:r>
                    </a:p>
                  </a:txBody>
                  <a:tcPr>
                    <a:solidFill>
                      <a:srgbClr val="FDFBF5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latinLnBrk="0"/>
                      <a:r>
                        <a:rPr sz="1350" b="1">
                          <a:solidFill>
                            <a:srgbClr val="0E4D5E"/>
                          </a:solidFill>
                          <a:latin typeface="Segoe UI Semibold"/>
                        </a:rPr>
                        <a:t>WP2 video</a:t>
                      </a:r>
                    </a:p>
                  </a:txBody>
                  <a:tcPr>
                    <a:solidFill>
                      <a:srgbClr val="FAF6EC"/>
                    </a:solidFill>
                  </a:tcPr>
                </a:tc>
                <a:tc>
                  <a:txBody>
                    <a:bodyPr/>
                    <a:lstStyle/>
                    <a:p>
                      <a:pPr latinLnBrk="0"/>
                      <a:r>
                        <a:rPr sz="1350" b="0">
                          <a:solidFill>
                            <a:srgbClr val="24262E"/>
                          </a:solidFill>
                          <a:latin typeface="Segoe UI"/>
                        </a:rPr>
                        <a:t>Pose on remaining Tier-1 videos, quality-first triage</a:t>
                      </a:r>
                    </a:p>
                  </a:txBody>
                  <a:tcPr>
                    <a:solidFill>
                      <a:srgbClr val="FAF6EC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latinLnBrk="0"/>
                      <a:r>
                        <a:rPr sz="1350" b="1">
                          <a:solidFill>
                            <a:srgbClr val="0E4D5E"/>
                          </a:solidFill>
                          <a:latin typeface="Segoe UI Semibold"/>
                        </a:rPr>
                        <a:t>WP3 network</a:t>
                      </a:r>
                    </a:p>
                  </a:txBody>
                  <a:tcPr>
                    <a:solidFill>
                      <a:srgbClr val="FDFBF5"/>
                    </a:solidFill>
                  </a:tcPr>
                </a:tc>
                <a:tc>
                  <a:txBody>
                    <a:bodyPr/>
                    <a:lstStyle/>
                    <a:p>
                      <a:pPr latinLnBrk="0"/>
                      <a:r>
                        <a:rPr sz="1350" b="0">
                          <a:solidFill>
                            <a:srgbClr val="24262E"/>
                          </a:solidFill>
                          <a:latin typeface="Segoe UI"/>
                        </a:rPr>
                        <a:t>Tier-3 latency injection: synthetic jitter at 4 regime levels, E(t) per level. First cross-regime test of H1 + H2.</a:t>
                      </a:r>
                    </a:p>
                  </a:txBody>
                  <a:tcPr>
                    <a:solidFill>
                      <a:srgbClr val="FDFBF5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latinLnBrk="0"/>
                      <a:r>
                        <a:rPr sz="1350" b="1">
                          <a:solidFill>
                            <a:srgbClr val="0E4D5E"/>
                          </a:solidFill>
                          <a:latin typeface="Segoe UI Semibold"/>
                        </a:rPr>
                        <a:t>WP4 dashboard</a:t>
                      </a:r>
                    </a:p>
                  </a:txBody>
                  <a:tcPr>
                    <a:solidFill>
                      <a:srgbClr val="FAF6EC"/>
                    </a:solidFill>
                  </a:tcPr>
                </a:tc>
                <a:tc>
                  <a:txBody>
                    <a:bodyPr/>
                    <a:lstStyle/>
                    <a:p>
                      <a:pPr latinLnBrk="0"/>
                      <a:r>
                        <a:rPr sz="1350" b="0">
                          <a:solidFill>
                            <a:srgbClr val="24262E"/>
                          </a:solidFill>
                          <a:latin typeface="Segoe UI"/>
                        </a:rPr>
                        <a:t>Swap mock JSON for real parquet readers + pose overlay</a:t>
                      </a:r>
                    </a:p>
                  </a:txBody>
                  <a:tcPr>
                    <a:solidFill>
                      <a:srgbClr val="FAF6EC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latinLnBrk="0"/>
                      <a:r>
                        <a:rPr sz="1350" b="1">
                          <a:solidFill>
                            <a:srgbClr val="0E4D5E"/>
                          </a:solidFill>
                          <a:latin typeface="Segoe UI Semibold"/>
                        </a:rPr>
                        <a:t>Data</a:t>
                      </a:r>
                    </a:p>
                  </a:txBody>
                  <a:tcPr>
                    <a:solidFill>
                      <a:srgbClr val="FDFBF5"/>
                    </a:solidFill>
                  </a:tcPr>
                </a:tc>
                <a:tc>
                  <a:txBody>
                    <a:bodyPr/>
                    <a:lstStyle/>
                    <a:p>
                      <a:pPr latinLnBrk="0"/>
                      <a:r>
                        <a:rPr sz="1350" b="0">
                          <a:solidFill>
                            <a:srgbClr val="24262E"/>
                          </a:solidFill>
                          <a:latin typeface="Segoe UI"/>
                        </a:rPr>
                        <a:t>Download ChoralSynth (Zenodo, research licence) · follow up ESMUC</a:t>
                      </a:r>
                    </a:p>
                  </a:txBody>
                  <a:tcPr>
                    <a:solidFill>
                      <a:srgbClr val="FDFBF5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5486400"/>
            <a:ext cx="11185855" cy="45720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500" b="1">
                <a:solidFill>
                  <a:srgbClr val="C4902A"/>
                </a:solidFill>
                <a:latin typeface="Segoe UI"/>
              </a:rPr>
              <a:t>Hard milestone before status #5: dashboard alpha on real data + first Tier-3 cross-regime result.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6144768"/>
            <a:ext cx="11185855" cy="475488"/>
          </a:xfrm>
          <a:prstGeom prst="roundRect">
            <a:avLst>
              <a:gd name="adj" fmla="val 6000"/>
            </a:avLst>
          </a:prstGeom>
          <a:solidFill>
            <a:srgbClr val="0E4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latinLnBrk="0"/>
            <a:r>
              <a:rPr sz="1400" b="1">
                <a:solidFill>
                  <a:srgbClr val="FDFBF5"/>
                </a:solidFill>
                <a:latin typeface="Segoe UI Semibold"/>
              </a:rPr>
              <a:t>Next iteration: from measuring coordination to comparing latency regimes.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200" b="1">
                <a:solidFill>
                  <a:srgbClr val="C4902A"/>
                </a:solidFill>
                <a:latin typeface="Segoe UI Semibold"/>
              </a:rPr>
              <a:t>RETROSPECTIVE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2700" b="1">
                <a:solidFill>
                  <a:srgbClr val="0E4D5E"/>
                </a:solidFill>
                <a:latin typeface="Segoe UI Semibold"/>
              </a:rPr>
              <a:t>Sprint 3 retrospective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510528"/>
            <a:ext cx="109728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7 /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45720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Project 8 · Entanglement in Online Choir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3611880" cy="3977639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4F8E5A"/>
                </a:solidFill>
                <a:latin typeface="Segoe UI Semibold"/>
              </a:rPr>
              <a:t>What worked</a:t>
            </a:r>
          </a:p>
          <a:p>
            <a:pPr algn="l" latinLnBrk="0">
              <a:spcAft>
                <a:spcPts val="400"/>
              </a:spcAft>
            </a:pPr>
            <a:r>
              <a:rPr sz="1350" b="0">
                <a:solidFill>
                  <a:srgbClr val="24262E"/>
                </a:solidFill>
                <a:latin typeface="Segoe UI"/>
              </a:rPr>
              <a:t>One reviewable artefact per work package per iteration.</a:t>
            </a:r>
          </a:p>
          <a:p>
            <a:pPr algn="l" latinLnBrk="0">
              <a:spcAft>
                <a:spcPts val="400"/>
              </a:spcAft>
            </a:pPr>
            <a:r>
              <a:rPr sz="1350" b="0">
                <a:solidFill>
                  <a:srgbClr val="24262E"/>
                </a:solidFill>
                <a:latin typeface="Segoe UI"/>
              </a:rPr>
              <a:t/>
            </a:r>
          </a:p>
          <a:p>
            <a:pPr algn="l" latinLnBrk="0">
              <a:spcAft>
                <a:spcPts val="400"/>
              </a:spcAft>
            </a:pPr>
            <a:r>
              <a:rPr sz="1350" b="0">
                <a:solidFill>
                  <a:srgbClr val="24262E"/>
                </a:solidFill>
                <a:latin typeface="Segoe UI"/>
              </a:rPr>
              <a:t>Documentation updated at every milestone; project state is readable from three files.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79392" y="1371600"/>
            <a:ext cx="3611880" cy="3977639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B55A44"/>
                </a:solidFill>
                <a:latin typeface="Segoe UI Semibold"/>
              </a:rPr>
              <a:t>What went wrong</a:t>
            </a:r>
          </a:p>
          <a:p>
            <a:pPr algn="l" latinLnBrk="0">
              <a:spcAft>
                <a:spcPts val="400"/>
              </a:spcAft>
            </a:pPr>
            <a:r>
              <a:rPr sz="1350" b="0">
                <a:solidFill>
                  <a:srgbClr val="24262E"/>
                </a:solidFill>
                <a:latin typeface="Segoe UI"/>
              </a:rPr>
              <a:t>ESMUC and ChoralSynth not yet in Tier‑2. ChoralSynth is freely available on Zenodo for research and scheduled for next iteration; ESMUC requires a license (open question).</a:t>
            </a:r>
          </a:p>
          <a:p>
            <a:pPr algn="l" latinLnBrk="0">
              <a:spcAft>
                <a:spcPts val="400"/>
              </a:spcAft>
            </a:pPr>
            <a:r>
              <a:rPr sz="1350" b="0">
                <a:solidFill>
                  <a:srgbClr val="24262E"/>
                </a:solidFill>
                <a:latin typeface="Segoe UI"/>
              </a:rPr>
              <a:t/>
            </a:r>
          </a:p>
          <a:p>
            <a:pPr algn="l" latinLnBrk="0">
              <a:spcAft>
                <a:spcPts val="400"/>
              </a:spcAft>
            </a:pPr>
            <a:r>
              <a:rPr sz="1350" b="0">
                <a:solidFill>
                  <a:srgbClr val="24262E"/>
                </a:solidFill>
                <a:latin typeface="Segoe UI"/>
              </a:rPr>
              <a:t>Half of the Tier‑1 videos are screen captures without visible singers. Future curation will filter on singer visibility, not only NMP regime.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55864" y="1371600"/>
            <a:ext cx="3611880" cy="3977639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C4902A"/>
                </a:solidFill>
                <a:latin typeface="Segoe UI Semibold"/>
              </a:rPr>
              <a:t>Known limitations</a:t>
            </a:r>
          </a:p>
          <a:p>
            <a:pPr algn="l" latinLnBrk="0">
              <a:spcAft>
                <a:spcPts val="400"/>
              </a:spcAft>
            </a:pPr>
            <a:r>
              <a:rPr sz="1350" b="0">
                <a:solidFill>
                  <a:srgbClr val="24262E"/>
                </a:solidFill>
                <a:latin typeface="Segoe UI"/>
              </a:rPr>
              <a:t>V(t) is absent from current E(t) values; Dagstuhl has no video. The composite reallocates weight until multimodal data exists.</a:t>
            </a:r>
          </a:p>
          <a:p>
            <a:pPr algn="l" latinLnBrk="0">
              <a:spcAft>
                <a:spcPts val="400"/>
              </a:spcAft>
            </a:pPr>
            <a:r>
              <a:rPr sz="1350" b="0">
                <a:solidFill>
                  <a:srgbClr val="24262E"/>
                </a:solidFill>
                <a:latin typeface="Segoe UI"/>
              </a:rPr>
              <a:t/>
            </a:r>
          </a:p>
          <a:p>
            <a:pPr algn="l" latinLnBrk="0">
              <a:spcAft>
                <a:spcPts val="400"/>
              </a:spcAft>
            </a:pPr>
            <a:r>
              <a:rPr sz="1350" b="0">
                <a:solidFill>
                  <a:srgbClr val="24262E"/>
                </a:solidFill>
                <a:latin typeface="Segoe UI"/>
              </a:rPr>
              <a:t>All five E(t) pieces are zero‑latency studio recordings. Cross‑regime variation arrives with Tier‑3.</a:t>
            </a:r>
          </a:p>
          <a:p>
            <a:pPr algn="l" latinLnBrk="0">
              <a:spcAft>
                <a:spcPts val="400"/>
              </a:spcAft>
            </a:pPr>
            <a:r>
              <a:rPr sz="1350" b="0">
                <a:solidFill>
                  <a:srgbClr val="24262E"/>
                </a:solidFill>
                <a:latin typeface="Segoe UI"/>
              </a:rPr>
              <a:t/>
            </a:r>
          </a:p>
          <a:p>
            <a:pPr algn="l" latinLnBrk="0">
              <a:spcAft>
                <a:spcPts val="400"/>
              </a:spcAft>
            </a:pPr>
            <a:r>
              <a:rPr sz="1350" b="0">
                <a:solidFill>
                  <a:srgbClr val="24262E"/>
                </a:solidFill>
                <a:latin typeface="Segoe UI"/>
              </a:rPr>
              <a:t>p &lt; 0.005 means 0 of 200 permutations exceeded the observed value.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6144768"/>
            <a:ext cx="11185855" cy="475488"/>
          </a:xfrm>
          <a:prstGeom prst="roundRect">
            <a:avLst>
              <a:gd name="adj" fmla="val 6000"/>
            </a:avLst>
          </a:prstGeom>
          <a:solidFill>
            <a:srgbClr val="0E4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latinLnBrk="0"/>
            <a:r>
              <a:rPr sz="1400" b="1">
                <a:solidFill>
                  <a:srgbClr val="FDFBF5"/>
                </a:solidFill>
                <a:latin typeface="Segoe UI Semibold"/>
              </a:rPr>
              <a:t>All retrospective items are documented in sprint3_results.md.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200" b="1">
                <a:solidFill>
                  <a:srgbClr val="C4902A"/>
                </a:solidFill>
                <a:latin typeface="Segoe UI Semibold"/>
              </a:rPr>
              <a:t>PROBLEMS / QUESTIONS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2700" b="1">
                <a:solidFill>
                  <a:srgbClr val="0E4D5E"/>
                </a:solidFill>
                <a:latin typeface="Segoe UI Semibold"/>
              </a:rPr>
              <a:t>Open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510528"/>
            <a:ext cx="109728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8 /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45720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Project 8 · Entanglement in Online Choir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645920"/>
            <a:ext cx="11185855" cy="155448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1 · Prof. Hacker: ESMUC dataset access</a:t>
            </a:r>
          </a:p>
          <a:p>
            <a:pPr algn="l" latinLnBrk="0">
              <a:spcAft>
                <a:spcPts val="400"/>
              </a:spcAft>
            </a:pPr>
            <a:r>
              <a:rPr sz="1500" b="0">
                <a:solidFill>
                  <a:srgbClr val="24262E"/>
                </a:solidFill>
                <a:latin typeface="Segoe UI"/>
              </a:rPr>
              <a:t>Do you have institutional access to the ESMUC multitrack dataset? ChoralSynth is freely available on Zenodo for research and we will download it ourselves; ESMUC is the only dataset where we need support.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520440"/>
            <a:ext cx="11185855" cy="155448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2 · Coordinators: cluster access (nice-to-have, not a blocker)</a:t>
            </a:r>
          </a:p>
          <a:p>
            <a:pPr algn="l" latinLnBrk="0">
              <a:spcAft>
                <a:spcPts val="400"/>
              </a:spcAft>
            </a:pPr>
            <a:r>
              <a:rPr sz="1500" b="0">
                <a:solidFill>
                  <a:srgbClr val="24262E"/>
                </a:solidFill>
                <a:latin typeface="Segoe UI"/>
              </a:rPr>
              <a:t>Is CPU time available on a Bamberg or HSLU cluster? The planned next-iteration scope runs overnight on our laptops. Cluster access would let us run denser jitter grids and finer analysis windows, which strengthens the H1 robustness checks.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5852160"/>
            <a:ext cx="11185855" cy="45720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 latinLnBrk="0">
              <a:lnSpc>
                <a:spcPct val="100000"/>
              </a:lnSpc>
            </a:pPr>
            <a:r>
              <a:rPr sz="2200" b="1">
                <a:solidFill>
                  <a:srgbClr val="0E4D5E"/>
                </a:solidFill>
                <a:latin typeface="Segoe UI"/>
              </a:rPr>
              <a:t>Thank you.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