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11185855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600" b="1">
                <a:solidFill>
                  <a:srgbClr val="FDFBF5"/>
                </a:solidFill>
                <a:latin typeface="Calibri"/>
              </a:rPr>
              <a:t>Status Meeting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1118585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E6C670"/>
                </a:solidFill>
                <a:latin typeface="Calibri"/>
              </a:rPr>
              <a:t>Project 8: Entanglement in Online Choir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CBD9DD"/>
                </a:solidFill>
                <a:latin typeface="Calibri"/>
              </a:rPr>
              <a:t>SNA-OSN-M Summer 2026   ·   Uni Bamberg × Uni Köln × HSLU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DFBF5"/>
                </a:solidFill>
                <a:latin typeface="Calibri"/>
              </a:rPr>
              <a:t>Presented by Hassan Ahmed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CBD9DD"/>
                </a:solidFill>
                <a:latin typeface="Calibri"/>
              </a:rPr>
              <a:t>on behalf of 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E6C670"/>
                </a:solidFill>
                <a:latin typeface="Calibri"/>
              </a:rPr>
              <a:t>2026-06-11   ·   14:00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What we said we'd do,Sprint 3 plan recap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E6A60"/>
                </a:solidFill>
                <a:latin typeface="Calibri"/>
              </a:rPr>
              <a:t>Six deliverables. Four core, two pull-forward stretch. All six shipped.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0116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286000"/>
                <a:gridCol w="2743200"/>
              </a:tblGrid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Brief target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WP1 audio on all Dagstuhl pieces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4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WP2 pose on 10 Tier-1 videos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11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WP3 Granger + COP-GC on 5 pieces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11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WP4 dashboard scaffold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11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E(t) end-to-end + null (stretch)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14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 (23 days early)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WP3 full-corpus metrics (stretch)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14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✓ done May 22 (23 days early)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Headline,E(t) works, 5/5 pieces beat null at p &lt; 0.001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6949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F8E5A"/>
                </a:solidFill>
                <a:latin typeface="Calibri"/>
              </a:rPr>
              <a:t>The Entanglement Index is operational end-to-end.</a:t>
            </a:r>
          </a:p>
        </p:txBody>
      </p:sp>
      <p:pic>
        <p:nvPicPr>
          <p:cNvPr id="5" name="Picture 4" descr="et_corpu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774557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920240"/>
            <a:ext cx="393192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All 5 Dagstuhl WP3 pieces tested.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200-shuffle circular-shift null per piece.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Observed mean E(t): 0.57 to 0.80.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Null mean: 0.48 to 0.61.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Every piece &gt; null by &gt;17 σ.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Pattern splits by piece, not size: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   LI 0.74-0.80, TP 0.57-0.68.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WP1 audio scale,25 Dagstuhl musical takes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6400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Sprint 2: 1 piece (LI Quartet A Take 02).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Sprint 3: all 25 musical takes across Locus Iste + Tu Pauper 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130 newly extracted singer parquets, 288 pairwise couplings.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Total runtime: 78 minutes.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Pipeline resumable; prefers DYN &gt; HSM &gt; LRX mic per singer.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Pattern matches musical structure: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   Within-section (LI Basses): 0.78–0.87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4262E"/>
                </a:solidFill>
                <a:latin typeface="Calibri"/>
              </a:rPr>
              <a:t>•     Full-choir polyphonic (TP): 0.40–0.53</a:t>
            </a:r>
          </a:p>
        </p:txBody>
      </p:sp>
      <p:pic>
        <p:nvPicPr>
          <p:cNvPr id="5" name="Picture 4" descr="wp1_satb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389120" cy="2768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WP3 influence graph + COP-GC,Hacker flagship v2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wp3_influence_graphs_5pie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315200" cy="4797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6576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5 pieces × 2 methods.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Standard Granger + COP-GC (Zanin 2021).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Sprint-2 reference reproduces: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11/12 edges, density 0.917, S leads.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Method divergence,TP_FullChoir: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Standard: 42/56 edges significant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COP-GC:   25/56 edges significant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Both methods carried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WP2 pose on 10 Tier-1 videos,5/10 pass detection floor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59436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Sprint 2: 1 video. Sprint 3: 10, stratified by NMP regime.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Total runtime: 2.3 minutes.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5/10 pass 50% detection: ZKthfLPWBCQ 98.5%, Z-cH7j5iB3k 94.0%,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   ouFyQKszE_Y 79.5%, w0ywMP8mOc4 78.2%, VsnvueTan4I 66.7%.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5/10 fail: software-UI captures or dense low-res tile grids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   (no body for MediaPipe to find).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Matches Status Meeting III "try and iterate" decision.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5 passing videos define WP2 inclusion set for H1.</a:t>
            </a:r>
          </a:p>
        </p:txBody>
      </p:sp>
      <p:pic>
        <p:nvPicPr>
          <p:cNvPr id="5" name="Picture 4" descr="wp2_visual_featur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4937760" cy="3105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WP4 dashboard scaffold + E(t) integration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wp4_dashboard_scaf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91027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Dashboard: React 18 + Vite 5 + TS strict + D3 + Plotly.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Backend: FastAPI 0.111, 3 mock endpoints.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4 panels render end-to-end (Playwright-verified).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Real-data wiring is the WP4 sub-plan (Jun 21).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E(t) integration module: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compute_entanglement() with NaN-safe weight reallocation.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200-shuffle circular-shift null at composite level.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4262E"/>
                </a:solidFill>
                <a:latin typeface="Calibri"/>
              </a:rPr>
              <a:t>•     Tests: 23/23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Sprint 4 plan,Jun 12 to Jun 25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Sprint 4 work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DFBF5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>
                    <a:solidFill>
                      <a:srgbClr val="0E4D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WP1 audio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Per-window Granger → time-varying N(t)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21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WP2 video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Pose on remaining 21 Tier-1 videos (triage)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30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WP3 network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Tier-3 latency injection: jitter on Dagstuhl audio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21</a:t>
                      </a:r>
                    </a:p>
                  </a:txBody>
                  <a:tcPr>
                    <a:solidFill>
                      <a:srgbClr val="FAF6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WP4 dashboard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Swap mock JSON → real parquet readers + pose overlay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262E"/>
                          </a:solidFill>
                          <a:latin typeface="Calibri"/>
                        </a:rPr>
                        <a:t>Jun 21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21208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4902A"/>
                </a:solidFill>
                <a:latin typeface="Calibri"/>
              </a:rPr>
              <a:t>Hard milestone: dashboard alpha runs on real data by Jun 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Retrospective and four honest 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5669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F8E5A"/>
                </a:solidFill>
                <a:latin typeface="Calibri"/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66928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6/6 Sprint-3 deliverables shipped.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2 stretch items 23 days early.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Doc-update discipline kept brief + guide + vault in sync after every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5669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4902A"/>
                </a:solidFill>
                <a:latin typeface="Calibri"/>
              </a:rPr>
              <a:t>What slipped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566928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ESMUC + ChoralSynth not acquired (proprietary / gate slipped May 15).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To be revisited in Sprint 4 if licensing path opens.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4D5E"/>
                </a:solidFill>
                <a:latin typeface="Calibri"/>
              </a:rPr>
              <a:t>Four honest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V(t) is NaN across all current E(t) (Dagstuhl is audio-only).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WP3 corpus is all Dagstuhl studio,no NMP-regime variation yet.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WP2 detection is 50%,the 5/10 pass rate defines our inclusion set.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4262E"/>
                </a:solidFill>
                <a:latin typeface="Calibri"/>
              </a:rPr>
              <a:t>•  p_null reports as 0.0000,correct read is "p &lt; 1/200", not literal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E4D5E"/>
                </a:solidFill>
                <a:latin typeface="Calibri"/>
              </a:rPr>
              <a:t>Open questions for the room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60120"/>
            <a:ext cx="1371600" cy="0"/>
          </a:xfrm>
          <a:prstGeom prst="line">
            <a:avLst/>
          </a:prstGeom>
          <a:ln w="31750">
            <a:solidFill>
              <a:srgbClr val="C4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55448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6E6A60"/>
                </a:solidFill>
                <a:latin typeface="Calibri"/>
              </a:rPr>
              <a:t>Three questions before we open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1185855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4262E"/>
                </a:solidFill>
                <a:latin typeface="Calibri"/>
              </a:rPr>
              <a:t>•  To Prof. Hacker,do you have access to ESMUC or ChoralSynth multitrack data we could fold into Tier-2 before Sprint 4 acquisition?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4262E"/>
                </a:solidFill>
                <a:latin typeface="Calibri"/>
              </a:rPr>
              <a:t>•  To Prof. Gloor,for the final paper figure, matplotlib-clean or Gephi/Cytoscape SVG-polished for the alchemical-stage diagram?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4262E"/>
                </a:solidFill>
                <a:latin typeface="Calibri"/>
              </a:rPr>
              <a:t>•  To everyone,is the Jul 23 final presentation in-person at Bamberg or remote? Affects how Hassan and Hammad coordinate travel.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0"/>
            <a:ext cx="1118585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0E4D5E"/>
                </a:solidFill>
                <a:latin typeface="Calibri"/>
              </a:rPr>
              <a:t>Thank you.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