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417320"/>
            <a:ext cx="11185855" cy="8229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FDFBF5"/>
                </a:solidFill>
                <a:latin typeface="Calibri"/>
              </a:rPr>
              <a:t>Status Meeting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23160"/>
            <a:ext cx="11185855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0">
                <a:solidFill>
                  <a:srgbClr val="E6C670"/>
                </a:solidFill>
                <a:latin typeface="Calibri"/>
              </a:rPr>
              <a:t>Project 8: Entanglement in Online Choir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0" y="3246120"/>
            <a:ext cx="192024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3520440"/>
            <a:ext cx="11185855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CBD9DD"/>
                </a:solidFill>
                <a:latin typeface="Calibri"/>
              </a:rPr>
              <a:t>SNA-OSN-M Summer 2026  ·  Uni Bamberg × Uni Köln × HSLU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628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DFBF5"/>
                </a:solidFill>
                <a:latin typeface="Calibri"/>
              </a:rPr>
              <a:t>Presented by Hassan Ahmed, on behalf of the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07492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CBD9DD"/>
                </a:solidFill>
                <a:latin typeface="Calibri"/>
              </a:rPr>
              <a:t>Supervisors: Prof. Janine Hacker (Uni Bamberg) · Prof. Peter Gloor (MIT/Köln)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9788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Calibri"/>
              </a:rPr>
              <a:t>2026-06-11 · 14:00 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Calibri"/>
              </a:rPr>
              <a:t>Goals and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577840" cy="960120"/>
          </a:xfrm>
          <a:prstGeom prst="roundRect">
            <a:avLst/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DFBF5"/>
                </a:solidFill>
                <a:latin typeface="Calibri"/>
              </a:rPr>
              <a:t>E(t)  =  mean(  A(t) audio,  V(t) visual,  N(t) network  )</a:t>
            </a:r>
          </a:p>
          <a:p>
            <a:pPr algn="ctr"/>
            <a:r>
              <a:rPr sz="1200">
                <a:solidFill>
                  <a:srgbClr val="CBD9DD"/>
                </a:solidFill>
                <a:latin typeface="Calibri"/>
              </a:rPr>
              <a:t>a single coordination score per time window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5577840" cy="1033271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0E4D5E"/>
                </a:solidFill>
                <a:latin typeface="Calibri"/>
              </a:rPr>
              <a:t>H1 · Latency regimes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>Low-latency tools (Jamulus, SoundJack) score higher E(t) than Zoom.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57599"/>
            <a:ext cx="5577840" cy="1033271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0E4D5E"/>
                </a:solidFill>
                <a:latin typeface="Calibri"/>
              </a:rPr>
              <a:t>H2 · Network topology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>Influence network shifts democratic → leader-dominated as latency rises.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00598"/>
            <a:ext cx="5577840" cy="1033271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0E4D5E"/>
                </a:solidFill>
                <a:latin typeface="Calibri"/>
              </a:rPr>
              <a:t>H3 · Honest signals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4262E"/>
                </a:solidFill>
                <a:latin typeface="Calibri"/>
              </a:rPr>
              <a:t>Body sway + breathing add ≥ 10 points of explained variance over audio.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325880"/>
            <a:ext cx="5029200" cy="320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E4D5E"/>
                </a:solidFill>
                <a:latin typeface="Calibri"/>
              </a:rPr>
              <a:t>Where we are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0" y="1801368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1737360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Calibri"/>
              </a:rPr>
              <a:t>Apr 15-16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737360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Calibri"/>
              </a:rPr>
              <a:t>Block course + status #1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0" y="2368296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31152" y="2304288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Calibri"/>
              </a:rPr>
              <a:t>Apr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304288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Calibri"/>
              </a:rPr>
              <a:t>Status #2 · goals + plan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0" y="2935224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2871216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Calibri"/>
              </a:rPr>
              <a:t>May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871216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Calibri"/>
              </a:rPr>
              <a:t>Status #3 · all 4 WPs running + Virtual Mirror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3502152"/>
            <a:ext cx="201168" cy="201168"/>
          </a:xfrm>
          <a:prstGeom prst="ellipse">
            <a:avLst/>
          </a:prstGeom>
          <a:solidFill>
            <a:srgbClr val="C49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3438144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C4902A"/>
                </a:solidFill>
                <a:latin typeface="Calibri"/>
              </a:rPr>
              <a:t>Jun 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438144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C4902A"/>
                </a:solidFill>
                <a:latin typeface="Calibri"/>
              </a:rPr>
              <a:t>Status #4 · TODAY: E(t) operational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4069080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4005072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Calibri"/>
              </a:rPr>
              <a:t>Jun 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005072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Calibri"/>
              </a:rPr>
              <a:t>Status #5 · cross-regime results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4636008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572000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Calibri"/>
              </a:rPr>
              <a:t>Jul 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572000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Calibri"/>
              </a:rPr>
              <a:t>Status #6 · paper draft review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5202936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5138928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Calibri"/>
              </a:rPr>
              <a:t>Jul 23 / 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138928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Calibri"/>
              </a:rPr>
              <a:t>Final presentation / final paper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12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DFBF5"/>
                </a:solidFill>
                <a:latin typeface="Calibri"/>
              </a:rPr>
              <a:t>Goals unchanged since April. This iteration delivered the first end-to-end E(t).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Calibri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Calibri"/>
              </a:rPr>
              <a:t>E(t) is operational: all 5 pieces significant above the null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3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Project 8 · Entanglement in Online Choir</a:t>
            </a:r>
          </a:p>
        </p:txBody>
      </p:sp>
      <p:pic>
        <p:nvPicPr>
          <p:cNvPr id="6" name="Picture 5" descr="et_corpu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6649"/>
            <a:ext cx="7863840" cy="4270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0" y="137160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E4D5E"/>
                </a:solidFill>
                <a:latin typeface="Calibri"/>
              </a:rPr>
              <a:t>5 / 5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pieces significantly above the null (p &lt; 0.001)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260604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E4D5E"/>
                </a:solidFill>
                <a:latin typeface="Calibri"/>
              </a:rPr>
              <a:t>200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circular-shift permutations per piece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384048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0E4D5E"/>
                </a:solidFill>
                <a:latin typeface="Calibri"/>
              </a:rPr>
              <a:t>0.57–0.80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observed mean E(t) across pieces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5029200"/>
            <a:ext cx="3017520" cy="1005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E6A60"/>
                </a:solidFill>
                <a:latin typeface="Calibri"/>
              </a:rPr>
              <a:t>Split follows the music: homophonic chant scores high, polyphony lower. The metric reacts to what the choir is doing.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12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DFBF5"/>
                </a:solidFill>
                <a:latin typeface="Calibri"/>
              </a:rPr>
              <a:t>E(t) is implemented, reproducible, and significant against the null on all five pieces.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Calibri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Calibri"/>
              </a:rPr>
              <a:t>Audio and network pipelines behind E(t)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Project 8 · Entanglement in Online Choir</a:t>
            </a:r>
          </a:p>
        </p:txBody>
      </p:sp>
      <p:pic>
        <p:nvPicPr>
          <p:cNvPr id="6" name="Picture 5" descr="wp3_influence_graphs_5pie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00" y="1280160"/>
            <a:ext cx="7110919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32588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E4D5E"/>
                </a:solidFill>
                <a:latin typeface="Calibri"/>
              </a:rPr>
              <a:t>25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Dagstuhl takes processed (was 1 last sprint)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37744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E4D5E"/>
                </a:solidFill>
                <a:latin typeface="Calibri"/>
              </a:rPr>
              <a:t>288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pairwise audio couplings computed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42900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E4D5E"/>
                </a:solidFill>
                <a:latin typeface="Calibri"/>
              </a:rPr>
              <a:t>2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causality methods per piece (Granger + COP-GC)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526280"/>
            <a:ext cx="338328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E6A60"/>
                </a:solidFill>
                <a:latin typeface="Calibri"/>
              </a:rPr>
              <a:t>Methods agree on quartets, diverge on full choir (42 vs 25 of 56 edges). That gap is itself a finding: a third of standard edges rely on linear magnitude, not pattern structure.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12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DFBF5"/>
                </a:solidFill>
                <a:latin typeface="Calibri"/>
              </a:rPr>
              <a:t>The Sprint-2 reference result reproduces exactly; the pipeline now scales to the corpus.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Calibri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Calibri"/>
              </a:rPr>
              <a:t>Video features and dashboard 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Project 8 · Entanglement in Online Choir</a:t>
            </a:r>
          </a:p>
        </p:txBody>
      </p:sp>
      <p:pic>
        <p:nvPicPr>
          <p:cNvPr id="6" name="Picture 5" descr="wp4_dashboard_scaf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760" y="1280160"/>
            <a:ext cx="5008480" cy="4663440"/>
          </a:xfrm>
          <a:prstGeom prst="rect">
            <a:avLst/>
          </a:prstGeom>
        </p:spPr>
      </p:pic>
      <p:pic>
        <p:nvPicPr>
          <p:cNvPr id="7" name="Picture 6" descr="wp2_visual_features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08382"/>
            <a:ext cx="3108960" cy="19552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829800" y="132588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E4D5E"/>
                </a:solidFill>
                <a:latin typeface="Calibri"/>
              </a:rPr>
              <a:t>10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Tier-1 videos pose-processed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237744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E4D5E"/>
                </a:solidFill>
                <a:latin typeface="Calibri"/>
              </a:rPr>
              <a:t>5/10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pass 50% detection floor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342900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E4D5E"/>
                </a:solidFill>
                <a:latin typeface="Calibri"/>
              </a:rPr>
              <a:t>23/23</a:t>
            </a:r>
          </a:p>
          <a:p>
            <a:pPr algn="ctr"/>
            <a:r>
              <a:rPr sz="1150">
                <a:solidFill>
                  <a:srgbClr val="6E6A60"/>
                </a:solidFill>
                <a:latin typeface="Calibri"/>
              </a:rPr>
              <a:t>tests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520440"/>
            <a:ext cx="5120640" cy="23774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24262E"/>
                </a:solidFill>
                <a:latin typeface="Calibri"/>
              </a:rPr>
              <a:t>WP2: half the YouTube corpus has detectable singers (best video: 98.5% detection); the other half are software-UI captures with no body in frame. Per last meeting's "try and iterate" decision, the 5 passing videos are the working set.
WP4: React + FastAPI scaffold renders all four panels end-to-end (screenshot left is the app running locally). Real-data wiring is next iteration.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12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DFBF5"/>
                </a:solidFill>
                <a:latin typeface="Calibri"/>
              </a:rPr>
              <a:t>All four work packages advanced; no blockers.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Calibri"/>
              </a:rPr>
              <a:t>NEXT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Calibri"/>
              </a:rPr>
              <a:t>Plan: Jun 12 → Jun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6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Project 8 · Entanglement in Online Choir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655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DFBF5"/>
                          </a:solidFill>
                          <a:latin typeface="Calibri"/>
                        </a:rPr>
                        <a:t>Track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DFBF5"/>
                          </a:solidFill>
                          <a:latin typeface="Calibri"/>
                        </a:rPr>
                        <a:t>What ships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E4D5E"/>
                          </a:solidFill>
                          <a:latin typeface="Calibri"/>
                        </a:rPr>
                        <a:t>WP1 audio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4262E"/>
                          </a:solidFill>
                          <a:latin typeface="Calibri"/>
                        </a:rPr>
                        <a:t>Per-window Granger → time-varying N(t) for the dashboard timeline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E4D5E"/>
                          </a:solidFill>
                          <a:latin typeface="Calibri"/>
                        </a:rPr>
                        <a:t>WP2 video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4262E"/>
                          </a:solidFill>
                          <a:latin typeface="Calibri"/>
                        </a:rPr>
                        <a:t>Pose on remaining Tier-1 videos, quality-first triage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E4D5E"/>
                          </a:solidFill>
                          <a:latin typeface="Calibri"/>
                        </a:rPr>
                        <a:t>WP3 network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4262E"/>
                          </a:solidFill>
                          <a:latin typeface="Calibri"/>
                        </a:rPr>
                        <a:t>Tier-3 latency injection: synthetic jitter at 4 regime levels, E(t) per level. First cross-regime test of H1 + H2.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E4D5E"/>
                          </a:solidFill>
                          <a:latin typeface="Calibri"/>
                        </a:rPr>
                        <a:t>WP4 dashboard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4262E"/>
                          </a:solidFill>
                          <a:latin typeface="Calibri"/>
                        </a:rPr>
                        <a:t>Swap mock JSON for real parquet readers + pose overlay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E4D5E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4262E"/>
                          </a:solidFill>
                          <a:latin typeface="Calibri"/>
                        </a:rPr>
                        <a:t>Download ChoralSynth (open license, Zenodo) · follow up ESMUC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48640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4902A"/>
                </a:solidFill>
                <a:latin typeface="Calibri"/>
              </a:rPr>
              <a:t>Hard milestone before status #5: dashboard alpha on real data + first Tier-3 cross-regime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12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DFBF5"/>
                </a:solidFill>
                <a:latin typeface="Calibri"/>
              </a:rPr>
              <a:t>Next iteration: from measuring coordination to comparing latency regimes.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Calibri"/>
              </a:rPr>
              <a:t>RETROSPECTIVE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Calibri"/>
              </a:rPr>
              <a:t>Sprint 3 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611880" cy="448056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4F8E5A"/>
                </a:solidFill>
                <a:latin typeface="Calibri"/>
              </a:rPr>
              <a:t>What worked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4262E"/>
                </a:solidFill>
                <a:latin typeface="Calibri"/>
              </a:rPr>
              <a:t>One reviewable artefact per work package per iteration.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4262E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4262E"/>
                </a:solidFill>
                <a:latin typeface="Calibri"/>
              </a:rPr>
              <a:t>Documentation updated at every milestone; project state is readable from three 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371600"/>
            <a:ext cx="3611880" cy="448056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B55A44"/>
                </a:solidFill>
                <a:latin typeface="Calibri"/>
              </a:rPr>
              <a:t>What went wrong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4262E"/>
                </a:solidFill>
                <a:latin typeface="Calibri"/>
              </a:rPr>
              <a:t>ESMUC and ChoralSynth not yet in Tier‑2. ChoralSynth is openly licensed on Zenodo and scheduled for next iteration; ESMUC requires a license (open question).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4262E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4262E"/>
                </a:solidFill>
                <a:latin typeface="Calibri"/>
              </a:rPr>
              <a:t>Half of the Tier‑1 videos are screen captures without visible singers. Future curation will filter on singer visibility, not only NMP regime.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55864" y="1371600"/>
            <a:ext cx="3611880" cy="448056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C4902A"/>
                </a:solidFill>
                <a:latin typeface="Calibri"/>
              </a:rPr>
              <a:t>Known limitations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4262E"/>
                </a:solidFill>
                <a:latin typeface="Calibri"/>
              </a:rPr>
              <a:t>V(t) is absent from current E(t) values; Dagstuhl has no video. The composite reallocates weight until multimodal data exists.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4262E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4262E"/>
                </a:solidFill>
                <a:latin typeface="Calibri"/>
              </a:rPr>
              <a:t>All five E(t) pieces are zero‑latency studio recordings. Cross‑regime variation arrives with Tier‑3.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4262E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4262E"/>
                </a:solidFill>
                <a:latin typeface="Calibri"/>
              </a:rPr>
              <a:t>p &lt; 0.001 means 0 of 200 permutations exceeded the observed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12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DFBF5"/>
                </a:solidFill>
                <a:latin typeface="Calibri"/>
              </a:rPr>
              <a:t>All retrospective items are documented in sprint3_results.md.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Calibri"/>
              </a:rPr>
              <a:t>PROBLEMS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Calibri"/>
              </a:rPr>
              <a:t>Open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Calibr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1185855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0E4D5E"/>
                </a:solidFill>
                <a:latin typeface="Calibri"/>
              </a:rPr>
              <a:t>1 · Prof. Hacker: ESMUC dataset access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4262E"/>
                </a:solidFill>
                <a:latin typeface="Calibri"/>
              </a:rPr>
              <a:t>Do you have institutional access to the ESMUC multitrack dataset? ChoralSynth is openly licensed on Zenodo and we will download it ourselves; ESMUC is the only dataset where we need support.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20440"/>
            <a:ext cx="11185855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spcAft>
                <a:spcPts val="500"/>
              </a:spcAft>
            </a:pPr>
            <a:r>
              <a:rPr sz="1350" b="1">
                <a:solidFill>
                  <a:srgbClr val="0E4D5E"/>
                </a:solidFill>
                <a:latin typeface="Calibri"/>
              </a:rPr>
              <a:t>2 · Coordinators: compute for the next iteration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4262E"/>
                </a:solidFill>
                <a:latin typeface="Calibri"/>
              </a:rPr>
              <a:t>Is there a path to CPU time on a Bamberg or HSLU cluster? Per-window Granger across the corpus is the compute bottleneck for the latency-injection runs: hundreds of hours on our laptops, roughly one day on a 32-64 core node.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5216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E4D5E"/>
                </a:solidFill>
                <a:latin typeface="Calibr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