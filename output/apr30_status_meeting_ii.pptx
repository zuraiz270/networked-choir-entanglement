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8288000" cy="10287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p:scale>
          <a:sx n="75" d="100"/>
          <a:sy n="75" d="100"/>
        </p:scale>
        <p:origin x="47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afternoon. Project 8, Entanglement in Online Choir. I am Zuraiz, presenting on behalf of the team. We are four members from Uni Bamberg. Our supervisors are Prof. Hacker on the Bamberg side and Prof. Gloor as COIN seminar lead. Thank you for the meeting slot.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team has four members, all M.Sc. students at Uni Bamberg. Three of us came from the chapter team; Kumaran joined at project signup. The archetype bars are here because the May 21 Virtual Mirror asks us to analyse our own team communication. For today, the important point is that the team is complete, role allocation is stable, and the self-analysis deliverable is planned.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research question is simple. When a choir sings together over the internet, can we put a number on how well coordinated they are? This question comes from a gap between two literatures. We are building a proposed number for that: E(t), the Entanglement Index. The formula is not copied directly from an online-choir paper; it is a domain adaptation inspired by Gloor's entanglement work and Pentland's Honest Signals. H1, H2, and H3 are the validation tests.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dataset strategy has three tiers plus one seed set. Tier 0 is five URLs from Prof. Hacker. Tier 1 is real-world but messy: public YouTube virtual choir videos for visual coordination. Tier 2 is clean but academic: multitrack recordings where each singer has a separate track. Tier 3 is controlled and experimental: we create it from Tier 2 by adding latency, jitter, and packet loss. In one sentence: Tier 0 gives seed examples, Tier 1 gives real-world video, Tier 2 gives clean per-singer audio, and Tier 3 gives controlled latency experiments.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split the 14 weeks into three phases. Phase 1 closes today with the research question, hypotheses, data tiers, and repo scaffold in place. The honest status is: we have seed URLs, but we have not yet collected the analysis corpus or extracted features. That starts in Phase 2. Zero feature code yet. The audio pipeline lands May 8. We are on schedule and there are no critical blockers.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Sprint 2 runs from April 30 to May 21. First, the audio pipeline pulls the academic multitrack datasets to disk and outputs per-singer feature parquet by May 8. Second, the video pipeline starts pose and face tracking. Third, the curated YouTube corpus and GDPR work produce the corpus manifest and DPIA outline. Fourth, the Virtual Mirror produces the team self-analysis for May 21. If asked what exactly happens next: Tier 2 on disk first, Tier 1 curated second, then Tier 3 generated from Tier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pillars: cadence, sync, and toolstack. Cadence: three-week sprints aligned to status meetings, each ending in a defined artefact. Sync: weekly team meeting, daily async status posts, WhatsApp and GitHub Issues, plus a weekly check-in with Prof. Hacker. Toolstack: Python, Git and GitHub Actions, Markdown as source of truth, and peer review through pull requests. The team WhatsApp group is also our input data for the Virtual Mirror on May 21.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That covers our team, scope, dataset strategy, project plan, next iteration, and way of working. Thank you for listening. I am happy to take your questions.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bg">
            <a:extLst>
              <a:ext uri="{FF2B5EF4-FFF2-40B4-BE49-F238E27FC236}">
                <a16:creationId xmlns:a16="http://schemas.microsoft.com/office/drawing/2014/main" id="{46882510-A976-4882-9751-9EEAA057D1C8}"/>
              </a:ext>
            </a:extLst>
          </p:cNvPr>
          <p:cNvSpPr>
            <a:spLocks noGrp="1"/>
          </p:cNvSpPr>
          <p:nvPr/>
        </p:nvSpPr>
        <p:spPr>
          <a:xfrm>
            <a:off x="0" y="0"/>
            <a:ext cx="18288000" cy="10287000"/>
          </a:xfrm>
          <a:prstGeom prst="rect">
            <a:avLst/>
          </a:prstGeom>
          <a:solidFill>
            <a:srgbClr val="F7F9F8"/>
          </a:solidFill>
        </p:spPr>
        <p:txBody>
          <a:bodyPr/>
          <a:lstStyle/>
          <a:p>
            <a:endParaRPr lang="en-DE"/>
          </a:p>
        </p:txBody>
      </p:sp>
      <p:sp>
        <p:nvSpPr>
          <p:cNvPr id="2" name="Rectangle 1">
            <a:extLst>
              <a:ext uri="{FF2B5EF4-FFF2-40B4-BE49-F238E27FC236}">
                <a16:creationId xmlns:a16="http://schemas.microsoft.com/office/drawing/2014/main" id="{3061AFA5-6524-425D-B29B-98F2F31A8AD6}"/>
              </a:ext>
            </a:extLst>
          </p:cNvPr>
          <p:cNvSpPr>
            <a:spLocks noGrp="1"/>
          </p:cNvSpPr>
          <p:nvPr/>
        </p:nvSpPr>
        <p:spPr>
          <a:xfrm>
            <a:off x="0" y="0"/>
            <a:ext cx="4572000" cy="10287000"/>
          </a:xfrm>
          <a:prstGeom prst="rect">
            <a:avLst/>
          </a:prstGeom>
          <a:solidFill>
            <a:srgbClr val="FFFFFF"/>
          </a:solidFill>
        </p:spPr>
        <p:txBody>
          <a:bodyPr/>
          <a:lstStyle/>
          <a:p>
            <a:endParaRPr lang="en-DE"/>
          </a:p>
        </p:txBody>
      </p:sp>
      <p:sp>
        <p:nvSpPr>
          <p:cNvPr id="3" name="Rectangle 2">
            <a:extLst>
              <a:ext uri="{FF2B5EF4-FFF2-40B4-BE49-F238E27FC236}">
                <a16:creationId xmlns:a16="http://schemas.microsoft.com/office/drawing/2014/main" id="{28E44EB8-3C8F-40BE-8E03-C7F53D7D6D80}"/>
              </a:ext>
            </a:extLst>
          </p:cNvPr>
          <p:cNvSpPr>
            <a:spLocks noGrp="1"/>
          </p:cNvSpPr>
          <p:nvPr/>
        </p:nvSpPr>
        <p:spPr>
          <a:xfrm>
            <a:off x="4572000" y="0"/>
            <a:ext cx="4572000" cy="10287000"/>
          </a:xfrm>
          <a:prstGeom prst="rect">
            <a:avLst/>
          </a:prstGeom>
          <a:solidFill>
            <a:srgbClr val="F3F7F7"/>
          </a:solidFill>
        </p:spPr>
        <p:txBody>
          <a:bodyPr/>
          <a:lstStyle/>
          <a:p>
            <a:endParaRPr lang="en-DE"/>
          </a:p>
        </p:txBody>
      </p:sp>
      <p:sp>
        <p:nvSpPr>
          <p:cNvPr id="4" name="Rectangle 3">
            <a:extLst>
              <a:ext uri="{FF2B5EF4-FFF2-40B4-BE49-F238E27FC236}">
                <a16:creationId xmlns:a16="http://schemas.microsoft.com/office/drawing/2014/main" id="{A9B3DA8C-3235-4054-ADBB-A26F42720B2D}"/>
              </a:ext>
            </a:extLst>
          </p:cNvPr>
          <p:cNvSpPr>
            <a:spLocks noGrp="1"/>
          </p:cNvSpPr>
          <p:nvPr/>
        </p:nvSpPr>
        <p:spPr>
          <a:xfrm>
            <a:off x="9144000" y="0"/>
            <a:ext cx="4572000" cy="10287000"/>
          </a:xfrm>
          <a:prstGeom prst="rect">
            <a:avLst/>
          </a:prstGeom>
          <a:solidFill>
            <a:srgbClr val="FAF9F4"/>
          </a:solidFill>
        </p:spPr>
        <p:txBody>
          <a:bodyPr/>
          <a:lstStyle/>
          <a:p>
            <a:endParaRPr lang="en-DE"/>
          </a:p>
        </p:txBody>
      </p:sp>
      <p:sp>
        <p:nvSpPr>
          <p:cNvPr id="5" name="Rectangle 4">
            <a:extLst>
              <a:ext uri="{FF2B5EF4-FFF2-40B4-BE49-F238E27FC236}">
                <a16:creationId xmlns:a16="http://schemas.microsoft.com/office/drawing/2014/main" id="{ED68E46B-2DAB-49DC-85BC-FC6778D98EE3}"/>
              </a:ext>
            </a:extLst>
          </p:cNvPr>
          <p:cNvSpPr>
            <a:spLocks noGrp="1"/>
          </p:cNvSpPr>
          <p:nvPr/>
        </p:nvSpPr>
        <p:spPr>
          <a:xfrm>
            <a:off x="13716000" y="0"/>
            <a:ext cx="4572000" cy="10287000"/>
          </a:xfrm>
          <a:prstGeom prst="rect">
            <a:avLst/>
          </a:prstGeom>
          <a:solidFill>
            <a:srgbClr val="F6F8FA"/>
          </a:solidFill>
        </p:spPr>
        <p:txBody>
          <a:bodyPr/>
          <a:lstStyle/>
          <a:p>
            <a:endParaRPr lang="en-DE"/>
          </a:p>
        </p:txBody>
      </p:sp>
      <p:sp>
        <p:nvSpPr>
          <p:cNvPr id="6" name="Oval 5">
            <a:extLst>
              <a:ext uri="{FF2B5EF4-FFF2-40B4-BE49-F238E27FC236}">
                <a16:creationId xmlns:a16="http://schemas.microsoft.com/office/drawing/2014/main" id="{0F2A30B7-80A6-4B56-AD85-5698B9F8D277}"/>
              </a:ext>
            </a:extLst>
          </p:cNvPr>
          <p:cNvSpPr>
            <a:spLocks noGrp="1"/>
          </p:cNvSpPr>
          <p:nvPr/>
        </p:nvSpPr>
        <p:spPr>
          <a:xfrm>
            <a:off x="819150" y="838200"/>
            <a:ext cx="114300" cy="114300"/>
          </a:xfrm>
          <a:prstGeom prst="ellipse">
            <a:avLst/>
          </a:prstGeom>
          <a:solidFill>
            <a:srgbClr val="B63A33"/>
          </a:solidFill>
        </p:spPr>
        <p:txBody>
          <a:bodyPr/>
          <a:lstStyle/>
          <a:p>
            <a:endParaRPr lang="en-DE"/>
          </a:p>
        </p:txBody>
      </p:sp>
      <p:sp>
        <p:nvSpPr>
          <p:cNvPr id="7" name="Rectangle 6">
            <a:extLst>
              <a:ext uri="{FF2B5EF4-FFF2-40B4-BE49-F238E27FC236}">
                <a16:creationId xmlns:a16="http://schemas.microsoft.com/office/drawing/2014/main" id="{FB496072-14BD-46ED-866F-5997AB250C28}"/>
              </a:ext>
            </a:extLst>
          </p:cNvPr>
          <p:cNvSpPr>
            <a:spLocks noGrp="1"/>
          </p:cNvSpPr>
          <p:nvPr/>
        </p:nvSpPr>
        <p:spPr>
          <a:xfrm>
            <a:off x="1028700" y="704850"/>
            <a:ext cx="1200150" cy="381000"/>
          </a:xfrm>
          <a:prstGeom prst="rect">
            <a:avLst/>
          </a:prstGeom>
        </p:spPr>
        <p:txBody>
          <a:bodyPr lIns="0" tIns="0" rIns="0" bIns="0"/>
          <a:lstStyle/>
          <a:p>
            <a:pPr>
              <a:defRPr sz="1200" b="1" i="0">
                <a:solidFill>
                  <a:srgbClr val="7A8793"/>
                </a:solidFill>
              </a:defRPr>
            </a:pPr>
            <a:r>
              <a:rPr sz="1200" b="1" i="0" dirty="0">
                <a:solidFill>
                  <a:srgbClr val="7A8793"/>
                </a:solidFill>
              </a:rPr>
              <a:t>STATUS MEETING II</a:t>
            </a:r>
          </a:p>
        </p:txBody>
      </p:sp>
      <p:sp>
        <p:nvSpPr>
          <p:cNvPr id="8" name="Rectangle 7">
            <a:extLst>
              <a:ext uri="{FF2B5EF4-FFF2-40B4-BE49-F238E27FC236}">
                <a16:creationId xmlns:a16="http://schemas.microsoft.com/office/drawing/2014/main" id="{9DBBEBED-74A3-41F4-800C-FF1872D0ABA3}"/>
              </a:ext>
            </a:extLst>
          </p:cNvPr>
          <p:cNvSpPr>
            <a:spLocks noGrp="1"/>
          </p:cNvSpPr>
          <p:nvPr/>
        </p:nvSpPr>
        <p:spPr>
          <a:xfrm>
            <a:off x="819150" y="1238250"/>
            <a:ext cx="8496300" cy="1885950"/>
          </a:xfrm>
          <a:prstGeom prst="rect">
            <a:avLst/>
          </a:prstGeom>
        </p:spPr>
        <p:txBody>
          <a:bodyPr lIns="0" tIns="0" rIns="0" bIns="0"/>
          <a:lstStyle/>
          <a:p>
            <a:pPr>
              <a:defRPr sz="6150" b="1" i="0">
                <a:solidFill>
                  <a:srgbClr val="172026"/>
                </a:solidFill>
              </a:defRPr>
            </a:pPr>
            <a:r>
              <a:rPr sz="6150" b="1" i="0">
                <a:solidFill>
                  <a:srgbClr val="172026"/>
                </a:solidFill>
              </a:rPr>
              <a:t>Entanglement in Online Choir</a:t>
            </a:r>
          </a:p>
        </p:txBody>
      </p:sp>
      <p:sp>
        <p:nvSpPr>
          <p:cNvPr id="9" name="Rectangle 8">
            <a:extLst>
              <a:ext uri="{FF2B5EF4-FFF2-40B4-BE49-F238E27FC236}">
                <a16:creationId xmlns:a16="http://schemas.microsoft.com/office/drawing/2014/main" id="{5560673F-62E3-4A26-95D0-69226FC13651}"/>
              </a:ext>
            </a:extLst>
          </p:cNvPr>
          <p:cNvSpPr>
            <a:spLocks noGrp="1"/>
          </p:cNvSpPr>
          <p:nvPr/>
        </p:nvSpPr>
        <p:spPr>
          <a:xfrm>
            <a:off x="819150" y="3295650"/>
            <a:ext cx="7296150" cy="723900"/>
          </a:xfrm>
          <a:prstGeom prst="rect">
            <a:avLst/>
          </a:prstGeom>
        </p:spPr>
        <p:txBody>
          <a:bodyPr lIns="0" tIns="0" rIns="0" bIns="0"/>
          <a:lstStyle/>
          <a:p>
            <a:pPr>
              <a:defRPr sz="2325" b="0" i="0">
                <a:solidFill>
                  <a:srgbClr val="52606D"/>
                </a:solidFill>
              </a:defRPr>
            </a:pPr>
            <a:r>
              <a:rPr sz="2325" b="0" i="0" dirty="0">
                <a:solidFill>
                  <a:srgbClr val="52606D"/>
                </a:solidFill>
              </a:rPr>
              <a:t>Measuring coordination when singers cannot share the same room</a:t>
            </a:r>
          </a:p>
        </p:txBody>
      </p:sp>
      <p:sp>
        <p:nvSpPr>
          <p:cNvPr id="10" name="Rectangle: Rounded Corners 9">
            <a:extLst>
              <a:ext uri="{FF2B5EF4-FFF2-40B4-BE49-F238E27FC236}">
                <a16:creationId xmlns:a16="http://schemas.microsoft.com/office/drawing/2014/main" id="{FD64A880-EB1D-4549-8B93-C3A8179AB235}"/>
              </a:ext>
            </a:extLst>
          </p:cNvPr>
          <p:cNvSpPr>
            <a:spLocks noGrp="1"/>
          </p:cNvSpPr>
          <p:nvPr/>
        </p:nvSpPr>
        <p:spPr>
          <a:xfrm>
            <a:off x="819150" y="8191500"/>
            <a:ext cx="1369028" cy="647700"/>
          </a:xfrm>
          <a:prstGeom prst="roundRect">
            <a:avLst>
              <a:gd name="adj" fmla="val 50000"/>
            </a:avLst>
          </a:prstGeom>
          <a:solidFill>
            <a:srgbClr val="E4F3F2"/>
          </a:solidFill>
        </p:spPr>
        <p:txBody>
          <a:bodyPr/>
          <a:lstStyle/>
          <a:p>
            <a:endParaRPr lang="en-DE"/>
          </a:p>
        </p:txBody>
      </p:sp>
      <p:sp>
        <p:nvSpPr>
          <p:cNvPr id="11" name="Rectangle 10">
            <a:extLst>
              <a:ext uri="{FF2B5EF4-FFF2-40B4-BE49-F238E27FC236}">
                <a16:creationId xmlns:a16="http://schemas.microsoft.com/office/drawing/2014/main" id="{3696037F-8979-4368-B667-400B4B620685}"/>
              </a:ext>
            </a:extLst>
          </p:cNvPr>
          <p:cNvSpPr>
            <a:spLocks noGrp="1"/>
          </p:cNvSpPr>
          <p:nvPr/>
        </p:nvSpPr>
        <p:spPr>
          <a:xfrm>
            <a:off x="990600" y="8286750"/>
            <a:ext cx="1028700" cy="457200"/>
          </a:xfrm>
          <a:prstGeom prst="rect">
            <a:avLst/>
          </a:prstGeom>
        </p:spPr>
        <p:txBody>
          <a:bodyPr lIns="0" tIns="0" rIns="0" bIns="0"/>
          <a:lstStyle/>
          <a:p>
            <a:pPr>
              <a:defRPr sz="1500" b="1" i="0">
                <a:solidFill>
                  <a:srgbClr val="007C89"/>
                </a:solidFill>
              </a:defRPr>
            </a:pPr>
            <a:r>
              <a:rPr sz="1500" b="1" i="0">
                <a:solidFill>
                  <a:srgbClr val="007C89"/>
                </a:solidFill>
              </a:rPr>
              <a:t>Uni Bamberg</a:t>
            </a:r>
          </a:p>
        </p:txBody>
      </p:sp>
      <p:sp>
        <p:nvSpPr>
          <p:cNvPr id="12" name="Rectangle: Rounded Corners 11">
            <a:extLst>
              <a:ext uri="{FF2B5EF4-FFF2-40B4-BE49-F238E27FC236}">
                <a16:creationId xmlns:a16="http://schemas.microsoft.com/office/drawing/2014/main" id="{A342008B-621F-41F1-9520-1050DFA8F25C}"/>
              </a:ext>
            </a:extLst>
          </p:cNvPr>
          <p:cNvSpPr>
            <a:spLocks noGrp="1"/>
          </p:cNvSpPr>
          <p:nvPr/>
        </p:nvSpPr>
        <p:spPr>
          <a:xfrm>
            <a:off x="2302478" y="8191500"/>
            <a:ext cx="1011841" cy="419100"/>
          </a:xfrm>
          <a:prstGeom prst="roundRect">
            <a:avLst>
              <a:gd name="adj" fmla="val 50000"/>
            </a:avLst>
          </a:prstGeom>
          <a:solidFill>
            <a:srgbClr val="F7E8E6"/>
          </a:solidFill>
        </p:spPr>
        <p:txBody>
          <a:bodyPr/>
          <a:lstStyle/>
          <a:p>
            <a:endParaRPr lang="en-DE"/>
          </a:p>
        </p:txBody>
      </p:sp>
      <p:sp>
        <p:nvSpPr>
          <p:cNvPr id="13" name="Rectangle 12">
            <a:extLst>
              <a:ext uri="{FF2B5EF4-FFF2-40B4-BE49-F238E27FC236}">
                <a16:creationId xmlns:a16="http://schemas.microsoft.com/office/drawing/2014/main" id="{6836D844-04AF-4953-A560-3DFF0BD6D2D2}"/>
              </a:ext>
            </a:extLst>
          </p:cNvPr>
          <p:cNvSpPr>
            <a:spLocks noGrp="1"/>
          </p:cNvSpPr>
          <p:nvPr/>
        </p:nvSpPr>
        <p:spPr>
          <a:xfrm>
            <a:off x="2476500" y="8286750"/>
            <a:ext cx="740378" cy="222250"/>
          </a:xfrm>
          <a:prstGeom prst="rect">
            <a:avLst/>
          </a:prstGeom>
        </p:spPr>
        <p:txBody>
          <a:bodyPr lIns="0" tIns="0" rIns="0" bIns="0"/>
          <a:lstStyle/>
          <a:p>
            <a:pPr>
              <a:defRPr sz="1500" b="1" i="0">
                <a:solidFill>
                  <a:srgbClr val="B63A33"/>
                </a:solidFill>
              </a:defRPr>
            </a:pPr>
            <a:r>
              <a:rPr sz="1500" b="1" i="0" dirty="0">
                <a:solidFill>
                  <a:srgbClr val="B63A33"/>
                </a:solidFill>
              </a:rPr>
              <a:t>Uni Köln</a:t>
            </a:r>
          </a:p>
        </p:txBody>
      </p:sp>
      <p:sp>
        <p:nvSpPr>
          <p:cNvPr id="14" name="Rectangle: Rounded Corners 13">
            <a:extLst>
              <a:ext uri="{FF2B5EF4-FFF2-40B4-BE49-F238E27FC236}">
                <a16:creationId xmlns:a16="http://schemas.microsoft.com/office/drawing/2014/main" id="{16107744-7492-4B39-80AE-EAAE1CC2B37B}"/>
              </a:ext>
            </a:extLst>
          </p:cNvPr>
          <p:cNvSpPr>
            <a:spLocks noGrp="1"/>
          </p:cNvSpPr>
          <p:nvPr/>
        </p:nvSpPr>
        <p:spPr>
          <a:xfrm>
            <a:off x="3428619" y="8191500"/>
            <a:ext cx="753427" cy="647700"/>
          </a:xfrm>
          <a:prstGeom prst="roundRect">
            <a:avLst>
              <a:gd name="adj" fmla="val 50000"/>
            </a:avLst>
          </a:prstGeom>
          <a:solidFill>
            <a:srgbClr val="F8EEDB"/>
          </a:solidFill>
        </p:spPr>
        <p:txBody>
          <a:bodyPr/>
          <a:lstStyle/>
          <a:p>
            <a:endParaRPr lang="en-DE"/>
          </a:p>
        </p:txBody>
      </p:sp>
      <p:sp>
        <p:nvSpPr>
          <p:cNvPr id="15" name="Rectangle 14">
            <a:extLst>
              <a:ext uri="{FF2B5EF4-FFF2-40B4-BE49-F238E27FC236}">
                <a16:creationId xmlns:a16="http://schemas.microsoft.com/office/drawing/2014/main" id="{351E557D-F747-48EB-A859-02C36EB571BC}"/>
              </a:ext>
            </a:extLst>
          </p:cNvPr>
          <p:cNvSpPr>
            <a:spLocks noGrp="1"/>
          </p:cNvSpPr>
          <p:nvPr/>
        </p:nvSpPr>
        <p:spPr>
          <a:xfrm>
            <a:off x="3600450" y="8286750"/>
            <a:ext cx="419100" cy="457200"/>
          </a:xfrm>
          <a:prstGeom prst="rect">
            <a:avLst/>
          </a:prstGeom>
        </p:spPr>
        <p:txBody>
          <a:bodyPr lIns="0" tIns="0" rIns="0" bIns="0"/>
          <a:lstStyle/>
          <a:p>
            <a:pPr>
              <a:defRPr sz="1500" b="1" i="0">
                <a:solidFill>
                  <a:srgbClr val="C58A23"/>
                </a:solidFill>
              </a:defRPr>
            </a:pPr>
            <a:r>
              <a:rPr sz="1500" b="1" i="0">
                <a:solidFill>
                  <a:srgbClr val="C58A23"/>
                </a:solidFill>
              </a:rPr>
              <a:t>HSLU</a:t>
            </a:r>
          </a:p>
        </p:txBody>
      </p:sp>
      <p:sp>
        <p:nvSpPr>
          <p:cNvPr id="16" name="Rectangle 15">
            <a:extLst>
              <a:ext uri="{FF2B5EF4-FFF2-40B4-BE49-F238E27FC236}">
                <a16:creationId xmlns:a16="http://schemas.microsoft.com/office/drawing/2014/main" id="{0E02FD09-4202-4869-9630-EF4AC62A904D}"/>
              </a:ext>
            </a:extLst>
          </p:cNvPr>
          <p:cNvSpPr>
            <a:spLocks noGrp="1"/>
          </p:cNvSpPr>
          <p:nvPr/>
        </p:nvSpPr>
        <p:spPr>
          <a:xfrm>
            <a:off x="819150" y="8953500"/>
            <a:ext cx="8496300" cy="285750"/>
          </a:xfrm>
          <a:prstGeom prst="rect">
            <a:avLst/>
          </a:prstGeom>
        </p:spPr>
        <p:txBody>
          <a:bodyPr lIns="0" tIns="0" rIns="0" bIns="0"/>
          <a:lstStyle/>
          <a:p>
            <a:pPr>
              <a:defRPr sz="1800" b="0" i="0">
                <a:solidFill>
                  <a:srgbClr val="172026"/>
                </a:solidFill>
              </a:defRPr>
            </a:pPr>
            <a:r>
              <a:rPr sz="1800" b="0" i="0" dirty="0">
                <a:solidFill>
                  <a:srgbClr val="172026"/>
                </a:solidFill>
              </a:rPr>
              <a:t>Presented by Zuraiz, on behalf of the team</a:t>
            </a:r>
          </a:p>
        </p:txBody>
      </p:sp>
      <p:sp>
        <p:nvSpPr>
          <p:cNvPr id="17" name="Rectangle 16">
            <a:extLst>
              <a:ext uri="{FF2B5EF4-FFF2-40B4-BE49-F238E27FC236}">
                <a16:creationId xmlns:a16="http://schemas.microsoft.com/office/drawing/2014/main" id="{58251F49-8B4C-4AE3-B111-1ECA405B39AF}"/>
              </a:ext>
            </a:extLst>
          </p:cNvPr>
          <p:cNvSpPr>
            <a:spLocks noGrp="1"/>
          </p:cNvSpPr>
          <p:nvPr/>
        </p:nvSpPr>
        <p:spPr>
          <a:xfrm>
            <a:off x="819150" y="9334500"/>
            <a:ext cx="8496300" cy="247650"/>
          </a:xfrm>
          <a:prstGeom prst="rect">
            <a:avLst/>
          </a:prstGeom>
        </p:spPr>
        <p:txBody>
          <a:bodyPr lIns="0" tIns="0" rIns="0" bIns="0"/>
          <a:lstStyle/>
          <a:p>
            <a:pPr>
              <a:defRPr sz="1575" b="0" i="0">
                <a:solidFill>
                  <a:srgbClr val="7A8793"/>
                </a:solidFill>
              </a:defRPr>
            </a:pPr>
            <a:r>
              <a:rPr sz="1575" b="0" i="0">
                <a:solidFill>
                  <a:srgbClr val="7A8793"/>
                </a:solidFill>
              </a:rPr>
              <a:t>Supervisors: Prof. Janine Hacker and Prof. Peter Gloor</a:t>
            </a:r>
          </a:p>
        </p:txBody>
      </p:sp>
      <p:sp>
        <p:nvSpPr>
          <p:cNvPr id="18" name="Rectangle: Rounded Corners 17">
            <a:extLst>
              <a:ext uri="{FF2B5EF4-FFF2-40B4-BE49-F238E27FC236}">
                <a16:creationId xmlns:a16="http://schemas.microsoft.com/office/drawing/2014/main" id="{C8BB290C-DD88-42BE-BEF2-27BE926C7B93}"/>
              </a:ext>
            </a:extLst>
          </p:cNvPr>
          <p:cNvSpPr>
            <a:spLocks noGrp="1"/>
          </p:cNvSpPr>
          <p:nvPr/>
        </p:nvSpPr>
        <p:spPr>
          <a:xfrm>
            <a:off x="9786461" y="704850"/>
            <a:ext cx="7682389" cy="8877300"/>
          </a:xfrm>
          <a:prstGeom prst="roundRect">
            <a:avLst>
              <a:gd name="adj" fmla="val 3720"/>
            </a:avLst>
          </a:prstGeom>
          <a:solidFill>
            <a:srgbClr val="EEF5F4"/>
          </a:solidFill>
        </p:spPr>
        <p:txBody>
          <a:bodyPr/>
          <a:lstStyle/>
          <a:p>
            <a:endParaRPr lang="en-DE"/>
          </a:p>
        </p:txBody>
      </p:sp>
      <p:sp>
        <p:nvSpPr>
          <p:cNvPr id="19" name="Oval 18">
            <a:extLst>
              <a:ext uri="{FF2B5EF4-FFF2-40B4-BE49-F238E27FC236}">
                <a16:creationId xmlns:a16="http://schemas.microsoft.com/office/drawing/2014/main" id="{0A81AF7F-AE3C-4D09-BE1D-061F64D64FBD}"/>
              </a:ext>
            </a:extLst>
          </p:cNvPr>
          <p:cNvSpPr>
            <a:spLocks noGrp="1"/>
          </p:cNvSpPr>
          <p:nvPr/>
        </p:nvSpPr>
        <p:spPr>
          <a:xfrm>
            <a:off x="12230100" y="2552700"/>
            <a:ext cx="609600" cy="609600"/>
          </a:xfrm>
          <a:prstGeom prst="ellipse">
            <a:avLst/>
          </a:prstGeom>
          <a:solidFill>
            <a:srgbClr val="B63A33"/>
          </a:solidFill>
        </p:spPr>
        <p:txBody>
          <a:bodyPr/>
          <a:lstStyle/>
          <a:p>
            <a:endParaRPr lang="en-DE"/>
          </a:p>
        </p:txBody>
      </p:sp>
      <p:sp>
        <p:nvSpPr>
          <p:cNvPr id="20" name="Oval 19">
            <a:extLst>
              <a:ext uri="{FF2B5EF4-FFF2-40B4-BE49-F238E27FC236}">
                <a16:creationId xmlns:a16="http://schemas.microsoft.com/office/drawing/2014/main" id="{3A6E23EF-C6A5-4A28-9BA4-0F8A0CCD60E4}"/>
              </a:ext>
            </a:extLst>
          </p:cNvPr>
          <p:cNvSpPr>
            <a:spLocks noGrp="1"/>
          </p:cNvSpPr>
          <p:nvPr/>
        </p:nvSpPr>
        <p:spPr>
          <a:xfrm>
            <a:off x="12992100" y="2628900"/>
            <a:ext cx="400050" cy="400050"/>
          </a:xfrm>
          <a:prstGeom prst="ellipse">
            <a:avLst/>
          </a:prstGeom>
          <a:solidFill>
            <a:srgbClr val="007C89"/>
          </a:solidFill>
        </p:spPr>
        <p:txBody>
          <a:bodyPr/>
          <a:lstStyle/>
          <a:p>
            <a:endParaRPr lang="en-DE"/>
          </a:p>
        </p:txBody>
      </p:sp>
      <p:sp>
        <p:nvSpPr>
          <p:cNvPr id="21" name="Oval 20">
            <a:extLst>
              <a:ext uri="{FF2B5EF4-FFF2-40B4-BE49-F238E27FC236}">
                <a16:creationId xmlns:a16="http://schemas.microsoft.com/office/drawing/2014/main" id="{6ACEB487-31E3-491D-A776-05D575599AE7}"/>
              </a:ext>
            </a:extLst>
          </p:cNvPr>
          <p:cNvSpPr>
            <a:spLocks noGrp="1"/>
          </p:cNvSpPr>
          <p:nvPr/>
        </p:nvSpPr>
        <p:spPr>
          <a:xfrm>
            <a:off x="13563600" y="2438400"/>
            <a:ext cx="819150" cy="819150"/>
          </a:xfrm>
          <a:prstGeom prst="ellipse">
            <a:avLst/>
          </a:prstGeom>
          <a:solidFill>
            <a:srgbClr val="C58A23"/>
          </a:solidFill>
        </p:spPr>
        <p:txBody>
          <a:bodyPr/>
          <a:lstStyle/>
          <a:p>
            <a:endParaRPr lang="en-DE"/>
          </a:p>
        </p:txBody>
      </p:sp>
      <p:sp>
        <p:nvSpPr>
          <p:cNvPr id="22" name="Oval 21">
            <a:extLst>
              <a:ext uri="{FF2B5EF4-FFF2-40B4-BE49-F238E27FC236}">
                <a16:creationId xmlns:a16="http://schemas.microsoft.com/office/drawing/2014/main" id="{3A283923-224F-4DCD-B20C-47823EE5AB43}"/>
              </a:ext>
            </a:extLst>
          </p:cNvPr>
          <p:cNvSpPr>
            <a:spLocks noGrp="1"/>
          </p:cNvSpPr>
          <p:nvPr/>
        </p:nvSpPr>
        <p:spPr>
          <a:xfrm>
            <a:off x="14554200" y="2590800"/>
            <a:ext cx="476250" cy="476250"/>
          </a:xfrm>
          <a:prstGeom prst="ellipse">
            <a:avLst/>
          </a:prstGeom>
          <a:solidFill>
            <a:srgbClr val="6554C0"/>
          </a:solidFill>
        </p:spPr>
        <p:txBody>
          <a:bodyPr/>
          <a:lstStyle/>
          <a:p>
            <a:endParaRPr lang="en-DE"/>
          </a:p>
        </p:txBody>
      </p:sp>
      <p:sp>
        <p:nvSpPr>
          <p:cNvPr id="23" name="wave-0">
            <a:extLst>
              <a:ext uri="{FF2B5EF4-FFF2-40B4-BE49-F238E27FC236}">
                <a16:creationId xmlns:a16="http://schemas.microsoft.com/office/drawing/2014/main" id="{DF89F1E9-2F4E-418E-B232-0F570C057C4D}"/>
              </a:ext>
            </a:extLst>
          </p:cNvPr>
          <p:cNvSpPr>
            <a:spLocks noGrp="1"/>
          </p:cNvSpPr>
          <p:nvPr/>
        </p:nvSpPr>
        <p:spPr>
          <a:xfrm>
            <a:off x="13030200" y="3505200"/>
            <a:ext cx="1143000" cy="76200"/>
          </a:xfrm>
          <a:prstGeom prst="roundRect">
            <a:avLst>
              <a:gd name="adj" fmla="val 50000"/>
            </a:avLst>
          </a:prstGeom>
          <a:solidFill>
            <a:srgbClr val="B63A33"/>
          </a:solidFill>
        </p:spPr>
        <p:txBody>
          <a:bodyPr/>
          <a:lstStyle/>
          <a:p>
            <a:endParaRPr lang="en-DE"/>
          </a:p>
        </p:txBody>
      </p:sp>
      <p:sp>
        <p:nvSpPr>
          <p:cNvPr id="24" name="wave-1">
            <a:extLst>
              <a:ext uri="{FF2B5EF4-FFF2-40B4-BE49-F238E27FC236}">
                <a16:creationId xmlns:a16="http://schemas.microsoft.com/office/drawing/2014/main" id="{1A1EF011-B588-42F2-A211-C2679098CD95}"/>
              </a:ext>
            </a:extLst>
          </p:cNvPr>
          <p:cNvSpPr>
            <a:spLocks noGrp="1"/>
          </p:cNvSpPr>
          <p:nvPr/>
        </p:nvSpPr>
        <p:spPr>
          <a:xfrm>
            <a:off x="12801600" y="3886200"/>
            <a:ext cx="1714500" cy="76200"/>
          </a:xfrm>
          <a:prstGeom prst="roundRect">
            <a:avLst>
              <a:gd name="adj" fmla="val 50000"/>
            </a:avLst>
          </a:prstGeom>
          <a:solidFill>
            <a:srgbClr val="007C89"/>
          </a:solidFill>
        </p:spPr>
        <p:txBody>
          <a:bodyPr/>
          <a:lstStyle/>
          <a:p>
            <a:endParaRPr lang="en-DE"/>
          </a:p>
        </p:txBody>
      </p:sp>
      <p:sp>
        <p:nvSpPr>
          <p:cNvPr id="25" name="wave-2">
            <a:extLst>
              <a:ext uri="{FF2B5EF4-FFF2-40B4-BE49-F238E27FC236}">
                <a16:creationId xmlns:a16="http://schemas.microsoft.com/office/drawing/2014/main" id="{76047F17-54EF-4792-96E8-C6BF09DE9D6D}"/>
              </a:ext>
            </a:extLst>
          </p:cNvPr>
          <p:cNvSpPr>
            <a:spLocks noGrp="1"/>
          </p:cNvSpPr>
          <p:nvPr/>
        </p:nvSpPr>
        <p:spPr>
          <a:xfrm>
            <a:off x="12420600" y="4267200"/>
            <a:ext cx="2381250" cy="76200"/>
          </a:xfrm>
          <a:prstGeom prst="roundRect">
            <a:avLst>
              <a:gd name="adj" fmla="val 50000"/>
            </a:avLst>
          </a:prstGeom>
          <a:solidFill>
            <a:srgbClr val="C58A23"/>
          </a:solidFill>
        </p:spPr>
        <p:txBody>
          <a:bodyPr/>
          <a:lstStyle/>
          <a:p>
            <a:endParaRPr lang="en-DE"/>
          </a:p>
        </p:txBody>
      </p:sp>
      <p:sp>
        <p:nvSpPr>
          <p:cNvPr id="26" name="wave-3">
            <a:extLst>
              <a:ext uri="{FF2B5EF4-FFF2-40B4-BE49-F238E27FC236}">
                <a16:creationId xmlns:a16="http://schemas.microsoft.com/office/drawing/2014/main" id="{D2D6CF37-50DA-4D9B-9FB4-94E1DBF3DD89}"/>
              </a:ext>
            </a:extLst>
          </p:cNvPr>
          <p:cNvSpPr>
            <a:spLocks noGrp="1"/>
          </p:cNvSpPr>
          <p:nvPr/>
        </p:nvSpPr>
        <p:spPr>
          <a:xfrm>
            <a:off x="12039600" y="4648200"/>
            <a:ext cx="3238500" cy="76200"/>
          </a:xfrm>
          <a:prstGeom prst="roundRect">
            <a:avLst>
              <a:gd name="adj" fmla="val 50000"/>
            </a:avLst>
          </a:prstGeom>
          <a:solidFill>
            <a:srgbClr val="B63A33"/>
          </a:solidFill>
        </p:spPr>
        <p:txBody>
          <a:bodyPr/>
          <a:lstStyle/>
          <a:p>
            <a:endParaRPr lang="en-DE"/>
          </a:p>
        </p:txBody>
      </p:sp>
      <p:sp>
        <p:nvSpPr>
          <p:cNvPr id="27" name="wave-4">
            <a:extLst>
              <a:ext uri="{FF2B5EF4-FFF2-40B4-BE49-F238E27FC236}">
                <a16:creationId xmlns:a16="http://schemas.microsoft.com/office/drawing/2014/main" id="{7B3B6835-58A5-4EBB-A6B5-CAEA14B82419}"/>
              </a:ext>
            </a:extLst>
          </p:cNvPr>
          <p:cNvSpPr>
            <a:spLocks noGrp="1"/>
          </p:cNvSpPr>
          <p:nvPr/>
        </p:nvSpPr>
        <p:spPr>
          <a:xfrm>
            <a:off x="11658600" y="5029200"/>
            <a:ext cx="4000500" cy="76200"/>
          </a:xfrm>
          <a:prstGeom prst="roundRect">
            <a:avLst>
              <a:gd name="adj" fmla="val 50000"/>
            </a:avLst>
          </a:prstGeom>
          <a:solidFill>
            <a:srgbClr val="007C89"/>
          </a:solidFill>
        </p:spPr>
        <p:txBody>
          <a:bodyPr/>
          <a:lstStyle/>
          <a:p>
            <a:endParaRPr lang="en-DE"/>
          </a:p>
        </p:txBody>
      </p:sp>
      <p:sp>
        <p:nvSpPr>
          <p:cNvPr id="28" name="wave-5">
            <a:extLst>
              <a:ext uri="{FF2B5EF4-FFF2-40B4-BE49-F238E27FC236}">
                <a16:creationId xmlns:a16="http://schemas.microsoft.com/office/drawing/2014/main" id="{E4F962C0-ADEB-4091-8A34-9337DB3DA19C}"/>
              </a:ext>
            </a:extLst>
          </p:cNvPr>
          <p:cNvSpPr>
            <a:spLocks noGrp="1"/>
          </p:cNvSpPr>
          <p:nvPr/>
        </p:nvSpPr>
        <p:spPr>
          <a:xfrm>
            <a:off x="11201400" y="5410200"/>
            <a:ext cx="4857750" cy="76200"/>
          </a:xfrm>
          <a:prstGeom prst="roundRect">
            <a:avLst>
              <a:gd name="adj" fmla="val 50000"/>
            </a:avLst>
          </a:prstGeom>
          <a:solidFill>
            <a:srgbClr val="C58A23"/>
          </a:solidFill>
        </p:spPr>
        <p:txBody>
          <a:bodyPr/>
          <a:lstStyle/>
          <a:p>
            <a:endParaRPr lang="en-DE"/>
          </a:p>
        </p:txBody>
      </p:sp>
      <p:sp>
        <p:nvSpPr>
          <p:cNvPr id="29" name="wave-6">
            <a:extLst>
              <a:ext uri="{FF2B5EF4-FFF2-40B4-BE49-F238E27FC236}">
                <a16:creationId xmlns:a16="http://schemas.microsoft.com/office/drawing/2014/main" id="{0046D600-2313-4D6C-AC77-9C60752A097C}"/>
              </a:ext>
            </a:extLst>
          </p:cNvPr>
          <p:cNvSpPr>
            <a:spLocks noGrp="1"/>
          </p:cNvSpPr>
          <p:nvPr/>
        </p:nvSpPr>
        <p:spPr>
          <a:xfrm>
            <a:off x="11658600" y="5791200"/>
            <a:ext cx="4000500" cy="76200"/>
          </a:xfrm>
          <a:prstGeom prst="roundRect">
            <a:avLst>
              <a:gd name="adj" fmla="val 50000"/>
            </a:avLst>
          </a:prstGeom>
          <a:solidFill>
            <a:srgbClr val="B63A33"/>
          </a:solidFill>
        </p:spPr>
        <p:txBody>
          <a:bodyPr/>
          <a:lstStyle/>
          <a:p>
            <a:endParaRPr lang="en-DE"/>
          </a:p>
        </p:txBody>
      </p:sp>
      <p:sp>
        <p:nvSpPr>
          <p:cNvPr id="30" name="wave-7">
            <a:extLst>
              <a:ext uri="{FF2B5EF4-FFF2-40B4-BE49-F238E27FC236}">
                <a16:creationId xmlns:a16="http://schemas.microsoft.com/office/drawing/2014/main" id="{E367EE64-6515-47E0-B952-D30272468AE1}"/>
              </a:ext>
            </a:extLst>
          </p:cNvPr>
          <p:cNvSpPr>
            <a:spLocks noGrp="1"/>
          </p:cNvSpPr>
          <p:nvPr/>
        </p:nvSpPr>
        <p:spPr>
          <a:xfrm>
            <a:off x="12039600" y="6172200"/>
            <a:ext cx="3143250" cy="76200"/>
          </a:xfrm>
          <a:prstGeom prst="roundRect">
            <a:avLst>
              <a:gd name="adj" fmla="val 50000"/>
            </a:avLst>
          </a:prstGeom>
          <a:solidFill>
            <a:srgbClr val="007C89"/>
          </a:solidFill>
        </p:spPr>
        <p:txBody>
          <a:bodyPr/>
          <a:lstStyle/>
          <a:p>
            <a:endParaRPr lang="en-DE"/>
          </a:p>
        </p:txBody>
      </p:sp>
      <p:sp>
        <p:nvSpPr>
          <p:cNvPr id="31" name="wave-8">
            <a:extLst>
              <a:ext uri="{FF2B5EF4-FFF2-40B4-BE49-F238E27FC236}">
                <a16:creationId xmlns:a16="http://schemas.microsoft.com/office/drawing/2014/main" id="{D9F2409F-1865-4045-871A-CFC690B3CAF7}"/>
              </a:ext>
            </a:extLst>
          </p:cNvPr>
          <p:cNvSpPr>
            <a:spLocks noGrp="1"/>
          </p:cNvSpPr>
          <p:nvPr/>
        </p:nvSpPr>
        <p:spPr>
          <a:xfrm>
            <a:off x="12496800" y="6553200"/>
            <a:ext cx="2286000" cy="76200"/>
          </a:xfrm>
          <a:prstGeom prst="roundRect">
            <a:avLst>
              <a:gd name="adj" fmla="val 50000"/>
            </a:avLst>
          </a:prstGeom>
          <a:solidFill>
            <a:srgbClr val="C58A23"/>
          </a:solidFill>
        </p:spPr>
        <p:txBody>
          <a:bodyPr/>
          <a:lstStyle/>
          <a:p>
            <a:endParaRPr lang="en-DE"/>
          </a:p>
        </p:txBody>
      </p:sp>
      <p:sp>
        <p:nvSpPr>
          <p:cNvPr id="32" name="wave-9">
            <a:extLst>
              <a:ext uri="{FF2B5EF4-FFF2-40B4-BE49-F238E27FC236}">
                <a16:creationId xmlns:a16="http://schemas.microsoft.com/office/drawing/2014/main" id="{57385232-F028-4E30-B3F1-6C99F3FD2BF5}"/>
              </a:ext>
            </a:extLst>
          </p:cNvPr>
          <p:cNvSpPr>
            <a:spLocks noGrp="1"/>
          </p:cNvSpPr>
          <p:nvPr/>
        </p:nvSpPr>
        <p:spPr>
          <a:xfrm>
            <a:off x="12801600" y="6934200"/>
            <a:ext cx="1619250" cy="76200"/>
          </a:xfrm>
          <a:prstGeom prst="roundRect">
            <a:avLst>
              <a:gd name="adj" fmla="val 50000"/>
            </a:avLst>
          </a:prstGeom>
          <a:solidFill>
            <a:srgbClr val="B63A33"/>
          </a:solidFill>
        </p:spPr>
        <p:txBody>
          <a:bodyPr/>
          <a:lstStyle/>
          <a:p>
            <a:endParaRPr lang="en-DE"/>
          </a:p>
        </p:txBody>
      </p:sp>
      <p:sp>
        <p:nvSpPr>
          <p:cNvPr id="33" name="wave-10">
            <a:extLst>
              <a:ext uri="{FF2B5EF4-FFF2-40B4-BE49-F238E27FC236}">
                <a16:creationId xmlns:a16="http://schemas.microsoft.com/office/drawing/2014/main" id="{8999BD2A-37FE-4B39-A622-8D18C42C57D5}"/>
              </a:ext>
            </a:extLst>
          </p:cNvPr>
          <p:cNvSpPr>
            <a:spLocks noGrp="1"/>
          </p:cNvSpPr>
          <p:nvPr/>
        </p:nvSpPr>
        <p:spPr>
          <a:xfrm>
            <a:off x="13106400" y="7315200"/>
            <a:ext cx="1047750" cy="76200"/>
          </a:xfrm>
          <a:prstGeom prst="roundRect">
            <a:avLst>
              <a:gd name="adj" fmla="val 50000"/>
            </a:avLst>
          </a:prstGeom>
          <a:solidFill>
            <a:srgbClr val="007C89"/>
          </a:solidFill>
        </p:spPr>
        <p:txBody>
          <a:bodyPr/>
          <a:lstStyle/>
          <a:p>
            <a:endParaRPr lang="en-DE"/>
          </a:p>
        </p:txBody>
      </p:sp>
      <p:sp>
        <p:nvSpPr>
          <p:cNvPr id="34" name="Rectangle 33">
            <a:extLst>
              <a:ext uri="{FF2B5EF4-FFF2-40B4-BE49-F238E27FC236}">
                <a16:creationId xmlns:a16="http://schemas.microsoft.com/office/drawing/2014/main" id="{9D4EDE82-9A50-4B61-AB78-17E568FB8CAE}"/>
              </a:ext>
            </a:extLst>
          </p:cNvPr>
          <p:cNvSpPr>
            <a:spLocks noGrp="1"/>
          </p:cNvSpPr>
          <p:nvPr/>
        </p:nvSpPr>
        <p:spPr>
          <a:xfrm>
            <a:off x="10191750" y="7600950"/>
            <a:ext cx="6858000" cy="266700"/>
          </a:xfrm>
          <a:prstGeom prst="rect">
            <a:avLst/>
          </a:prstGeom>
        </p:spPr>
        <p:txBody>
          <a:bodyPr lIns="0" tIns="0" rIns="0" bIns="0"/>
          <a:lstStyle/>
          <a:p>
            <a:pPr>
              <a:defRPr sz="1650" b="1" i="0">
                <a:solidFill>
                  <a:srgbClr val="52606D"/>
                </a:solidFill>
              </a:defRPr>
            </a:pPr>
            <a:r>
              <a:rPr sz="1650" b="1" i="0">
                <a:solidFill>
                  <a:srgbClr val="52606D"/>
                </a:solidFill>
              </a:rPr>
              <a:t>audio + movement + influence</a:t>
            </a:r>
          </a:p>
        </p:txBody>
      </p:sp>
    </p:spTree>
    <p:extLst>
      <p:ext uri="{BB962C8B-B14F-4D97-AF65-F5344CB8AC3E}">
        <p14:creationId xmlns:p14="http://schemas.microsoft.com/office/powerpoint/2010/main" val="499661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bg">
            <a:extLst>
              <a:ext uri="{FF2B5EF4-FFF2-40B4-BE49-F238E27FC236}">
                <a16:creationId xmlns:a16="http://schemas.microsoft.com/office/drawing/2014/main" id="{EFD2407F-879F-4DA9-8F7D-D25B9C5343BF}"/>
              </a:ext>
            </a:extLst>
          </p:cNvPr>
          <p:cNvSpPr>
            <a:spLocks noGrp="1"/>
          </p:cNvSpPr>
          <p:nvPr/>
        </p:nvSpPr>
        <p:spPr>
          <a:xfrm>
            <a:off x="0" y="0"/>
            <a:ext cx="18288000" cy="10287000"/>
          </a:xfrm>
          <a:prstGeom prst="rect">
            <a:avLst/>
          </a:prstGeom>
          <a:solidFill>
            <a:srgbClr val="F7F9F8"/>
          </a:solidFill>
        </p:spPr>
        <p:txBody>
          <a:bodyPr/>
          <a:lstStyle/>
          <a:p>
            <a:endParaRPr lang="en-DE"/>
          </a:p>
        </p:txBody>
      </p:sp>
      <p:sp>
        <p:nvSpPr>
          <p:cNvPr id="2" name="Rectangle 1">
            <a:extLst>
              <a:ext uri="{FF2B5EF4-FFF2-40B4-BE49-F238E27FC236}">
                <a16:creationId xmlns:a16="http://schemas.microsoft.com/office/drawing/2014/main" id="{464D800F-DA3F-4058-A9FC-5B3A0F28C264}"/>
              </a:ext>
            </a:extLst>
          </p:cNvPr>
          <p:cNvSpPr>
            <a:spLocks noGrp="1"/>
          </p:cNvSpPr>
          <p:nvPr/>
        </p:nvSpPr>
        <p:spPr>
          <a:xfrm>
            <a:off x="0" y="0"/>
            <a:ext cx="4572000" cy="10287000"/>
          </a:xfrm>
          <a:prstGeom prst="rect">
            <a:avLst/>
          </a:prstGeom>
          <a:solidFill>
            <a:srgbClr val="FFFFFF"/>
          </a:solidFill>
        </p:spPr>
        <p:txBody>
          <a:bodyPr/>
          <a:lstStyle/>
          <a:p>
            <a:endParaRPr lang="en-DE"/>
          </a:p>
        </p:txBody>
      </p:sp>
      <p:sp>
        <p:nvSpPr>
          <p:cNvPr id="3" name="Rectangle 2">
            <a:extLst>
              <a:ext uri="{FF2B5EF4-FFF2-40B4-BE49-F238E27FC236}">
                <a16:creationId xmlns:a16="http://schemas.microsoft.com/office/drawing/2014/main" id="{06B37E12-764D-4BAD-BE9D-E89308B35E8F}"/>
              </a:ext>
            </a:extLst>
          </p:cNvPr>
          <p:cNvSpPr>
            <a:spLocks noGrp="1"/>
          </p:cNvSpPr>
          <p:nvPr/>
        </p:nvSpPr>
        <p:spPr>
          <a:xfrm>
            <a:off x="4572000" y="0"/>
            <a:ext cx="4572000" cy="10287000"/>
          </a:xfrm>
          <a:prstGeom prst="rect">
            <a:avLst/>
          </a:prstGeom>
          <a:solidFill>
            <a:srgbClr val="F3F7F7"/>
          </a:solidFill>
        </p:spPr>
        <p:txBody>
          <a:bodyPr/>
          <a:lstStyle/>
          <a:p>
            <a:endParaRPr lang="en-DE"/>
          </a:p>
        </p:txBody>
      </p:sp>
      <p:sp>
        <p:nvSpPr>
          <p:cNvPr id="4" name="Rectangle 3">
            <a:extLst>
              <a:ext uri="{FF2B5EF4-FFF2-40B4-BE49-F238E27FC236}">
                <a16:creationId xmlns:a16="http://schemas.microsoft.com/office/drawing/2014/main" id="{0700614A-BE4C-47A5-AE85-9902BB1C9B8F}"/>
              </a:ext>
            </a:extLst>
          </p:cNvPr>
          <p:cNvSpPr>
            <a:spLocks noGrp="1"/>
          </p:cNvSpPr>
          <p:nvPr/>
        </p:nvSpPr>
        <p:spPr>
          <a:xfrm>
            <a:off x="9144000" y="0"/>
            <a:ext cx="4572000" cy="10287000"/>
          </a:xfrm>
          <a:prstGeom prst="rect">
            <a:avLst/>
          </a:prstGeom>
          <a:solidFill>
            <a:srgbClr val="FAF9F4"/>
          </a:solidFill>
        </p:spPr>
        <p:txBody>
          <a:bodyPr/>
          <a:lstStyle/>
          <a:p>
            <a:endParaRPr lang="en-DE"/>
          </a:p>
        </p:txBody>
      </p:sp>
      <p:sp>
        <p:nvSpPr>
          <p:cNvPr id="5" name="Rectangle 4">
            <a:extLst>
              <a:ext uri="{FF2B5EF4-FFF2-40B4-BE49-F238E27FC236}">
                <a16:creationId xmlns:a16="http://schemas.microsoft.com/office/drawing/2014/main" id="{61FB0355-F8D5-47FA-8206-5A93C565C213}"/>
              </a:ext>
            </a:extLst>
          </p:cNvPr>
          <p:cNvSpPr>
            <a:spLocks noGrp="1"/>
          </p:cNvSpPr>
          <p:nvPr/>
        </p:nvSpPr>
        <p:spPr>
          <a:xfrm>
            <a:off x="13716000" y="0"/>
            <a:ext cx="4572000" cy="10287000"/>
          </a:xfrm>
          <a:prstGeom prst="rect">
            <a:avLst/>
          </a:prstGeom>
          <a:solidFill>
            <a:srgbClr val="F6F8FA"/>
          </a:solidFill>
        </p:spPr>
        <p:txBody>
          <a:bodyPr/>
          <a:lstStyle/>
          <a:p>
            <a:endParaRPr lang="en-DE"/>
          </a:p>
        </p:txBody>
      </p:sp>
      <p:sp>
        <p:nvSpPr>
          <p:cNvPr id="6" name="Oval 5">
            <a:extLst>
              <a:ext uri="{FF2B5EF4-FFF2-40B4-BE49-F238E27FC236}">
                <a16:creationId xmlns:a16="http://schemas.microsoft.com/office/drawing/2014/main" id="{E9407D10-9889-4255-A08F-23D6C69D5E37}"/>
              </a:ext>
            </a:extLst>
          </p:cNvPr>
          <p:cNvSpPr>
            <a:spLocks noGrp="1"/>
          </p:cNvSpPr>
          <p:nvPr/>
        </p:nvSpPr>
        <p:spPr>
          <a:xfrm>
            <a:off x="781050" y="1028700"/>
            <a:ext cx="114300" cy="114300"/>
          </a:xfrm>
          <a:prstGeom prst="ellipse">
            <a:avLst/>
          </a:prstGeom>
          <a:solidFill>
            <a:srgbClr val="007C89"/>
          </a:solidFill>
        </p:spPr>
        <p:txBody>
          <a:bodyPr/>
          <a:lstStyle/>
          <a:p>
            <a:endParaRPr lang="en-DE"/>
          </a:p>
        </p:txBody>
      </p:sp>
      <p:sp>
        <p:nvSpPr>
          <p:cNvPr id="7" name="Rectangle 6">
            <a:extLst>
              <a:ext uri="{FF2B5EF4-FFF2-40B4-BE49-F238E27FC236}">
                <a16:creationId xmlns:a16="http://schemas.microsoft.com/office/drawing/2014/main" id="{33C479AD-366D-4442-A7AA-5B7C335418FB}"/>
              </a:ext>
            </a:extLst>
          </p:cNvPr>
          <p:cNvSpPr>
            <a:spLocks noGrp="1"/>
          </p:cNvSpPr>
          <p:nvPr/>
        </p:nvSpPr>
        <p:spPr>
          <a:xfrm>
            <a:off x="990600" y="990600"/>
            <a:ext cx="381000" cy="190500"/>
          </a:xfrm>
          <a:prstGeom prst="rect">
            <a:avLst/>
          </a:prstGeom>
        </p:spPr>
        <p:txBody>
          <a:bodyPr lIns="0" tIns="0" rIns="0" bIns="0"/>
          <a:lstStyle/>
          <a:p>
            <a:pPr>
              <a:defRPr sz="1200" b="1" i="0">
                <a:solidFill>
                  <a:srgbClr val="7A8793"/>
                </a:solidFill>
              </a:defRPr>
            </a:pPr>
            <a:r>
              <a:rPr sz="1200" b="1" i="0">
                <a:solidFill>
                  <a:srgbClr val="7A8793"/>
                </a:solidFill>
              </a:rPr>
              <a:t>TEAM</a:t>
            </a:r>
          </a:p>
        </p:txBody>
      </p:sp>
      <p:sp>
        <p:nvSpPr>
          <p:cNvPr id="8" name="slide-title">
            <a:extLst>
              <a:ext uri="{FF2B5EF4-FFF2-40B4-BE49-F238E27FC236}">
                <a16:creationId xmlns:a16="http://schemas.microsoft.com/office/drawing/2014/main" id="{6BC94DF5-DA2E-4E8E-ACAA-0A9F13A5AC25}"/>
              </a:ext>
            </a:extLst>
          </p:cNvPr>
          <p:cNvSpPr>
            <a:spLocks noGrp="1"/>
          </p:cNvSpPr>
          <p:nvPr/>
        </p:nvSpPr>
        <p:spPr>
          <a:xfrm>
            <a:off x="781050" y="1276350"/>
            <a:ext cx="16040100" cy="609600"/>
          </a:xfrm>
          <a:prstGeom prst="rect">
            <a:avLst/>
          </a:prstGeom>
        </p:spPr>
        <p:txBody>
          <a:bodyPr lIns="0" tIns="0" rIns="0" bIns="0"/>
          <a:lstStyle/>
          <a:p>
            <a:pPr>
              <a:defRPr sz="3900" b="1" i="0">
                <a:solidFill>
                  <a:srgbClr val="172026"/>
                </a:solidFill>
              </a:defRPr>
            </a:pPr>
            <a:r>
              <a:rPr sz="3900" b="1" i="0">
                <a:solidFill>
                  <a:srgbClr val="172026"/>
                </a:solidFill>
              </a:rPr>
              <a:t>Team complete; self-analysis is planned</a:t>
            </a:r>
          </a:p>
        </p:txBody>
      </p:sp>
      <p:sp>
        <p:nvSpPr>
          <p:cNvPr id="9" name="Rectangle 8">
            <a:extLst>
              <a:ext uri="{FF2B5EF4-FFF2-40B4-BE49-F238E27FC236}">
                <a16:creationId xmlns:a16="http://schemas.microsoft.com/office/drawing/2014/main" id="{82365CAC-668B-4EC6-89E0-3FD478D79484}"/>
              </a:ext>
            </a:extLst>
          </p:cNvPr>
          <p:cNvSpPr>
            <a:spLocks noGrp="1"/>
          </p:cNvSpPr>
          <p:nvPr/>
        </p:nvSpPr>
        <p:spPr>
          <a:xfrm>
            <a:off x="16821150" y="1676400"/>
            <a:ext cx="685800" cy="190500"/>
          </a:xfrm>
          <a:prstGeom prst="rect">
            <a:avLst/>
          </a:prstGeom>
        </p:spPr>
        <p:txBody>
          <a:bodyPr lIns="0" tIns="0" rIns="0" bIns="0"/>
          <a:lstStyle/>
          <a:p>
            <a:pPr>
              <a:defRPr sz="1350" b="0" i="0">
                <a:solidFill>
                  <a:srgbClr val="7A8793"/>
                </a:solidFill>
              </a:defRPr>
            </a:pPr>
            <a:r>
              <a:rPr sz="1350" b="0" i="0">
                <a:solidFill>
                  <a:srgbClr val="7A8793"/>
                </a:solidFill>
              </a:rPr>
              <a:t>02</a:t>
            </a:r>
          </a:p>
        </p:txBody>
      </p:sp>
      <p:sp>
        <p:nvSpPr>
          <p:cNvPr id="10" name="title-rule">
            <a:extLst>
              <a:ext uri="{FF2B5EF4-FFF2-40B4-BE49-F238E27FC236}">
                <a16:creationId xmlns:a16="http://schemas.microsoft.com/office/drawing/2014/main" id="{26716E4F-58C6-4E98-B2FF-15328DCB2421}"/>
              </a:ext>
            </a:extLst>
          </p:cNvPr>
          <p:cNvSpPr>
            <a:spLocks noGrp="1"/>
          </p:cNvSpPr>
          <p:nvPr/>
        </p:nvSpPr>
        <p:spPr>
          <a:xfrm>
            <a:off x="781050" y="2133600"/>
            <a:ext cx="16725900" cy="19050"/>
          </a:xfrm>
          <a:prstGeom prst="rect">
            <a:avLst/>
          </a:prstGeom>
          <a:solidFill>
            <a:srgbClr val="D9E0DF"/>
          </a:solidFill>
          <a:ln w="0">
            <a:solidFill>
              <a:srgbClr val="D9E0DF"/>
            </a:solidFill>
            <a:prstDash val="solid"/>
          </a:ln>
        </p:spPr>
        <p:txBody>
          <a:bodyPr/>
          <a:lstStyle/>
          <a:p>
            <a:endParaRPr lang="en-DE"/>
          </a:p>
        </p:txBody>
      </p:sp>
      <p:sp>
        <p:nvSpPr>
          <p:cNvPr id="11" name="Rectangle: Rounded Corners 10">
            <a:extLst>
              <a:ext uri="{FF2B5EF4-FFF2-40B4-BE49-F238E27FC236}">
                <a16:creationId xmlns:a16="http://schemas.microsoft.com/office/drawing/2014/main" id="{6F6060B4-1F6C-4F02-80E6-66C04D9C641C}"/>
              </a:ext>
            </a:extLst>
          </p:cNvPr>
          <p:cNvSpPr>
            <a:spLocks noGrp="1"/>
          </p:cNvSpPr>
          <p:nvPr/>
        </p:nvSpPr>
        <p:spPr>
          <a:xfrm>
            <a:off x="781050" y="2419350"/>
            <a:ext cx="4024313" cy="6229350"/>
          </a:xfrm>
          <a:prstGeom prst="roundRect">
            <a:avLst>
              <a:gd name="adj" fmla="val 5680"/>
            </a:avLst>
          </a:prstGeom>
          <a:solidFill>
            <a:srgbClr val="FFFFFF"/>
          </a:solidFill>
        </p:spPr>
        <p:txBody>
          <a:bodyPr/>
          <a:lstStyle/>
          <a:p>
            <a:endParaRPr lang="en-DE"/>
          </a:p>
        </p:txBody>
      </p:sp>
      <p:sp>
        <p:nvSpPr>
          <p:cNvPr id="12" name="Oval 11">
            <a:extLst>
              <a:ext uri="{FF2B5EF4-FFF2-40B4-BE49-F238E27FC236}">
                <a16:creationId xmlns:a16="http://schemas.microsoft.com/office/drawing/2014/main" id="{0DF90D72-8960-49A0-A004-7FEA344952EE}"/>
              </a:ext>
            </a:extLst>
          </p:cNvPr>
          <p:cNvSpPr>
            <a:spLocks noGrp="1"/>
          </p:cNvSpPr>
          <p:nvPr/>
        </p:nvSpPr>
        <p:spPr>
          <a:xfrm>
            <a:off x="1066800" y="2743200"/>
            <a:ext cx="876300" cy="876300"/>
          </a:xfrm>
          <a:prstGeom prst="ellipse">
            <a:avLst/>
          </a:prstGeom>
          <a:solidFill>
            <a:srgbClr val="B63A33"/>
          </a:solidFill>
        </p:spPr>
        <p:txBody>
          <a:bodyPr/>
          <a:lstStyle/>
          <a:p>
            <a:endParaRPr lang="en-DE"/>
          </a:p>
        </p:txBody>
      </p:sp>
      <p:sp>
        <p:nvSpPr>
          <p:cNvPr id="13" name="Rectangle 12">
            <a:extLst>
              <a:ext uri="{FF2B5EF4-FFF2-40B4-BE49-F238E27FC236}">
                <a16:creationId xmlns:a16="http://schemas.microsoft.com/office/drawing/2014/main" id="{7DD1CEBE-989E-4C0B-813E-BFD2CFA1A20F}"/>
              </a:ext>
            </a:extLst>
          </p:cNvPr>
          <p:cNvSpPr>
            <a:spLocks noGrp="1"/>
          </p:cNvSpPr>
          <p:nvPr/>
        </p:nvSpPr>
        <p:spPr>
          <a:xfrm>
            <a:off x="1047750" y="3695700"/>
            <a:ext cx="3486150" cy="285750"/>
          </a:xfrm>
          <a:prstGeom prst="rect">
            <a:avLst/>
          </a:prstGeom>
        </p:spPr>
        <p:txBody>
          <a:bodyPr lIns="0" tIns="0" rIns="0" bIns="0"/>
          <a:lstStyle/>
          <a:p>
            <a:pPr>
              <a:defRPr sz="1875" b="1" i="0">
                <a:solidFill>
                  <a:srgbClr val="B63A33"/>
                </a:solidFill>
              </a:defRPr>
            </a:pPr>
            <a:r>
              <a:rPr sz="1875" b="1" i="0">
                <a:solidFill>
                  <a:srgbClr val="B63A33"/>
                </a:solidFill>
              </a:rPr>
              <a:t>Z</a:t>
            </a:r>
          </a:p>
        </p:txBody>
      </p:sp>
      <p:sp>
        <p:nvSpPr>
          <p:cNvPr id="14" name="Rectangle 13">
            <a:extLst>
              <a:ext uri="{FF2B5EF4-FFF2-40B4-BE49-F238E27FC236}">
                <a16:creationId xmlns:a16="http://schemas.microsoft.com/office/drawing/2014/main" id="{7344919E-D888-4BB6-9F19-4F53FD45846E}"/>
              </a:ext>
            </a:extLst>
          </p:cNvPr>
          <p:cNvSpPr>
            <a:spLocks noGrp="1"/>
          </p:cNvSpPr>
          <p:nvPr/>
        </p:nvSpPr>
        <p:spPr>
          <a:xfrm>
            <a:off x="1047750" y="4095750"/>
            <a:ext cx="3486150" cy="323850"/>
          </a:xfrm>
          <a:prstGeom prst="rect">
            <a:avLst/>
          </a:prstGeom>
        </p:spPr>
        <p:txBody>
          <a:bodyPr lIns="0" tIns="0" rIns="0" bIns="0"/>
          <a:lstStyle/>
          <a:p>
            <a:pPr>
              <a:defRPr sz="2100" b="1" i="0">
                <a:solidFill>
                  <a:srgbClr val="172026"/>
                </a:solidFill>
              </a:defRPr>
            </a:pPr>
            <a:r>
              <a:rPr sz="2100" b="1" i="0">
                <a:solidFill>
                  <a:srgbClr val="172026"/>
                </a:solidFill>
              </a:rPr>
              <a:t>Zuraiz</a:t>
            </a:r>
          </a:p>
        </p:txBody>
      </p:sp>
      <p:sp>
        <p:nvSpPr>
          <p:cNvPr id="15" name="Rectangle: Rounded Corners 14">
            <a:extLst>
              <a:ext uri="{FF2B5EF4-FFF2-40B4-BE49-F238E27FC236}">
                <a16:creationId xmlns:a16="http://schemas.microsoft.com/office/drawing/2014/main" id="{93AE29EE-742F-407B-8163-6C698E849AA5}"/>
              </a:ext>
            </a:extLst>
          </p:cNvPr>
          <p:cNvSpPr>
            <a:spLocks noGrp="1"/>
          </p:cNvSpPr>
          <p:nvPr/>
        </p:nvSpPr>
        <p:spPr>
          <a:xfrm>
            <a:off x="1047750" y="4530090"/>
            <a:ext cx="1294162" cy="419100"/>
          </a:xfrm>
          <a:prstGeom prst="roundRect">
            <a:avLst>
              <a:gd name="adj" fmla="val 50000"/>
            </a:avLst>
          </a:prstGeom>
          <a:solidFill>
            <a:srgbClr val="E6F2EB"/>
          </a:solidFill>
        </p:spPr>
        <p:txBody>
          <a:bodyPr/>
          <a:lstStyle/>
          <a:p>
            <a:endParaRPr lang="en-DE"/>
          </a:p>
        </p:txBody>
      </p:sp>
      <p:sp>
        <p:nvSpPr>
          <p:cNvPr id="16" name="Rectangle 15">
            <a:extLst>
              <a:ext uri="{FF2B5EF4-FFF2-40B4-BE49-F238E27FC236}">
                <a16:creationId xmlns:a16="http://schemas.microsoft.com/office/drawing/2014/main" id="{CF84DA4C-AB45-44C6-A6B5-043B24456B26}"/>
              </a:ext>
            </a:extLst>
          </p:cNvPr>
          <p:cNvSpPr>
            <a:spLocks noGrp="1"/>
          </p:cNvSpPr>
          <p:nvPr/>
        </p:nvSpPr>
        <p:spPr>
          <a:xfrm>
            <a:off x="1219200" y="4629150"/>
            <a:ext cx="952500" cy="228600"/>
          </a:xfrm>
          <a:prstGeom prst="rect">
            <a:avLst/>
          </a:prstGeom>
        </p:spPr>
        <p:txBody>
          <a:bodyPr lIns="0" tIns="0" rIns="0" bIns="0"/>
          <a:lstStyle/>
          <a:p>
            <a:pPr>
              <a:defRPr sz="1500" b="1" i="0">
                <a:solidFill>
                  <a:srgbClr val="2E7D55"/>
                </a:solidFill>
              </a:defRPr>
            </a:pPr>
            <a:r>
              <a:rPr sz="1500" b="1" i="0">
                <a:solidFill>
                  <a:srgbClr val="2E7D55"/>
                </a:solidFill>
              </a:rPr>
              <a:t>Tree Hugger</a:t>
            </a:r>
          </a:p>
        </p:txBody>
      </p:sp>
      <p:sp>
        <p:nvSpPr>
          <p:cNvPr id="17" name="Rectangle: Rounded Corners 16">
            <a:extLst>
              <a:ext uri="{FF2B5EF4-FFF2-40B4-BE49-F238E27FC236}">
                <a16:creationId xmlns:a16="http://schemas.microsoft.com/office/drawing/2014/main" id="{BC6D6F46-FD55-49AD-ADC5-B56DE3493A5F}"/>
              </a:ext>
            </a:extLst>
          </p:cNvPr>
          <p:cNvSpPr>
            <a:spLocks noGrp="1"/>
          </p:cNvSpPr>
          <p:nvPr/>
        </p:nvSpPr>
        <p:spPr>
          <a:xfrm>
            <a:off x="1066800" y="5029200"/>
            <a:ext cx="2225040" cy="142875"/>
          </a:xfrm>
          <a:prstGeom prst="roundRect">
            <a:avLst>
              <a:gd name="adj" fmla="val 50000"/>
            </a:avLst>
          </a:prstGeom>
          <a:solidFill>
            <a:srgbClr val="2E7D55"/>
          </a:solidFill>
        </p:spPr>
        <p:txBody>
          <a:bodyPr/>
          <a:lstStyle/>
          <a:p>
            <a:endParaRPr lang="en-DE"/>
          </a:p>
        </p:txBody>
      </p:sp>
      <p:sp>
        <p:nvSpPr>
          <p:cNvPr id="18" name="Rectangle: Rounded Corners 17">
            <a:extLst>
              <a:ext uri="{FF2B5EF4-FFF2-40B4-BE49-F238E27FC236}">
                <a16:creationId xmlns:a16="http://schemas.microsoft.com/office/drawing/2014/main" id="{FD139606-02D7-4C25-A552-C1AC2598D49B}"/>
              </a:ext>
            </a:extLst>
          </p:cNvPr>
          <p:cNvSpPr>
            <a:spLocks noGrp="1"/>
          </p:cNvSpPr>
          <p:nvPr/>
        </p:nvSpPr>
        <p:spPr>
          <a:xfrm>
            <a:off x="3276600" y="5029200"/>
            <a:ext cx="1295400" cy="142875"/>
          </a:xfrm>
          <a:prstGeom prst="roundRect">
            <a:avLst>
              <a:gd name="adj" fmla="val 50000"/>
            </a:avLst>
          </a:prstGeom>
          <a:solidFill>
            <a:srgbClr val="E4E9E8"/>
          </a:solidFill>
        </p:spPr>
        <p:txBody>
          <a:bodyPr/>
          <a:lstStyle/>
          <a:p>
            <a:endParaRPr lang="en-DE"/>
          </a:p>
        </p:txBody>
      </p:sp>
      <p:sp>
        <p:nvSpPr>
          <p:cNvPr id="19" name="Rectangle 18">
            <a:extLst>
              <a:ext uri="{FF2B5EF4-FFF2-40B4-BE49-F238E27FC236}">
                <a16:creationId xmlns:a16="http://schemas.microsoft.com/office/drawing/2014/main" id="{F133BE86-A3FC-428E-9046-B10E97106657}"/>
              </a:ext>
            </a:extLst>
          </p:cNvPr>
          <p:cNvSpPr>
            <a:spLocks noGrp="1"/>
          </p:cNvSpPr>
          <p:nvPr/>
        </p:nvSpPr>
        <p:spPr>
          <a:xfrm>
            <a:off x="1047750" y="5276850"/>
            <a:ext cx="3486150" cy="228600"/>
          </a:xfrm>
          <a:prstGeom prst="rect">
            <a:avLst/>
          </a:prstGeom>
        </p:spPr>
        <p:txBody>
          <a:bodyPr lIns="0" tIns="0" rIns="0" bIns="0"/>
          <a:lstStyle/>
          <a:p>
            <a:pPr>
              <a:defRPr sz="1425" b="1" i="0">
                <a:solidFill>
                  <a:srgbClr val="2E7D55"/>
                </a:solidFill>
              </a:defRPr>
            </a:pPr>
            <a:r>
              <a:rPr sz="1425" b="1" i="0">
                <a:solidFill>
                  <a:srgbClr val="2E7D55"/>
                </a:solidFill>
              </a:rPr>
              <a:t>73% Ant</a:t>
            </a:r>
          </a:p>
        </p:txBody>
      </p:sp>
      <p:sp>
        <p:nvSpPr>
          <p:cNvPr id="20" name="Rectangle 19">
            <a:extLst>
              <a:ext uri="{FF2B5EF4-FFF2-40B4-BE49-F238E27FC236}">
                <a16:creationId xmlns:a16="http://schemas.microsoft.com/office/drawing/2014/main" id="{ED13B88D-9915-462B-B5FE-DA3BFDF9E24A}"/>
              </a:ext>
            </a:extLst>
          </p:cNvPr>
          <p:cNvSpPr>
            <a:spLocks noGrp="1"/>
          </p:cNvSpPr>
          <p:nvPr/>
        </p:nvSpPr>
        <p:spPr>
          <a:xfrm>
            <a:off x="1047750" y="5581650"/>
            <a:ext cx="3486150" cy="228600"/>
          </a:xfrm>
          <a:prstGeom prst="rect">
            <a:avLst/>
          </a:prstGeom>
        </p:spPr>
        <p:txBody>
          <a:bodyPr lIns="0" tIns="0" rIns="0" bIns="0"/>
          <a:lstStyle/>
          <a:p>
            <a:pPr>
              <a:defRPr sz="1425" b="0" i="0">
                <a:solidFill>
                  <a:srgbClr val="7A8793"/>
                </a:solidFill>
              </a:defRPr>
            </a:pPr>
            <a:r>
              <a:rPr sz="1425" b="0" i="0">
                <a:solidFill>
                  <a:srgbClr val="7A8793"/>
                </a:solidFill>
              </a:rPr>
              <a:t>Ant / Capybara</a:t>
            </a:r>
          </a:p>
        </p:txBody>
      </p:sp>
      <p:sp>
        <p:nvSpPr>
          <p:cNvPr id="21" name="Rectangle: Rounded Corners 20">
            <a:extLst>
              <a:ext uri="{FF2B5EF4-FFF2-40B4-BE49-F238E27FC236}">
                <a16:creationId xmlns:a16="http://schemas.microsoft.com/office/drawing/2014/main" id="{270B621E-8601-48B3-81A9-C2672B808F55}"/>
              </a:ext>
            </a:extLst>
          </p:cNvPr>
          <p:cNvSpPr>
            <a:spLocks noGrp="1"/>
          </p:cNvSpPr>
          <p:nvPr/>
        </p:nvSpPr>
        <p:spPr>
          <a:xfrm>
            <a:off x="5014913" y="2419350"/>
            <a:ext cx="4024313" cy="6229350"/>
          </a:xfrm>
          <a:prstGeom prst="roundRect">
            <a:avLst>
              <a:gd name="adj" fmla="val 5680"/>
            </a:avLst>
          </a:prstGeom>
          <a:solidFill>
            <a:srgbClr val="FFFFFF"/>
          </a:solidFill>
        </p:spPr>
        <p:txBody>
          <a:bodyPr/>
          <a:lstStyle/>
          <a:p>
            <a:endParaRPr lang="en-DE"/>
          </a:p>
        </p:txBody>
      </p:sp>
      <p:sp>
        <p:nvSpPr>
          <p:cNvPr id="22" name="Oval 21">
            <a:extLst>
              <a:ext uri="{FF2B5EF4-FFF2-40B4-BE49-F238E27FC236}">
                <a16:creationId xmlns:a16="http://schemas.microsoft.com/office/drawing/2014/main" id="{D8325AA1-0172-4AC3-A02D-65DEE3A4534E}"/>
              </a:ext>
            </a:extLst>
          </p:cNvPr>
          <p:cNvSpPr>
            <a:spLocks noGrp="1"/>
          </p:cNvSpPr>
          <p:nvPr/>
        </p:nvSpPr>
        <p:spPr>
          <a:xfrm>
            <a:off x="5257800" y="2743200"/>
            <a:ext cx="876300" cy="876300"/>
          </a:xfrm>
          <a:prstGeom prst="ellipse">
            <a:avLst/>
          </a:prstGeom>
          <a:solidFill>
            <a:srgbClr val="007C89"/>
          </a:solidFill>
        </p:spPr>
        <p:txBody>
          <a:bodyPr/>
          <a:lstStyle/>
          <a:p>
            <a:endParaRPr lang="en-DE"/>
          </a:p>
        </p:txBody>
      </p:sp>
      <p:sp>
        <p:nvSpPr>
          <p:cNvPr id="23" name="Rectangle 22">
            <a:extLst>
              <a:ext uri="{FF2B5EF4-FFF2-40B4-BE49-F238E27FC236}">
                <a16:creationId xmlns:a16="http://schemas.microsoft.com/office/drawing/2014/main" id="{4DEAF1CB-9E4A-45C7-9C59-0509EFBC2292}"/>
              </a:ext>
            </a:extLst>
          </p:cNvPr>
          <p:cNvSpPr>
            <a:spLocks noGrp="1"/>
          </p:cNvSpPr>
          <p:nvPr/>
        </p:nvSpPr>
        <p:spPr>
          <a:xfrm>
            <a:off x="5276850" y="3695700"/>
            <a:ext cx="3486150" cy="285750"/>
          </a:xfrm>
          <a:prstGeom prst="rect">
            <a:avLst/>
          </a:prstGeom>
        </p:spPr>
        <p:txBody>
          <a:bodyPr lIns="0" tIns="0" rIns="0" bIns="0"/>
          <a:lstStyle/>
          <a:p>
            <a:pPr>
              <a:defRPr sz="1875" b="1" i="0">
                <a:solidFill>
                  <a:srgbClr val="007C89"/>
                </a:solidFill>
              </a:defRPr>
            </a:pPr>
            <a:r>
              <a:rPr sz="1875" b="1" i="0">
                <a:solidFill>
                  <a:srgbClr val="007C89"/>
                </a:solidFill>
              </a:rPr>
              <a:t>HA</a:t>
            </a:r>
          </a:p>
        </p:txBody>
      </p:sp>
      <p:sp>
        <p:nvSpPr>
          <p:cNvPr id="24" name="Rectangle 23">
            <a:extLst>
              <a:ext uri="{FF2B5EF4-FFF2-40B4-BE49-F238E27FC236}">
                <a16:creationId xmlns:a16="http://schemas.microsoft.com/office/drawing/2014/main" id="{1F2C4F0B-742B-4BC7-BD24-4A8DBC936C07}"/>
              </a:ext>
            </a:extLst>
          </p:cNvPr>
          <p:cNvSpPr>
            <a:spLocks noGrp="1"/>
          </p:cNvSpPr>
          <p:nvPr/>
        </p:nvSpPr>
        <p:spPr>
          <a:xfrm>
            <a:off x="5276850" y="4095750"/>
            <a:ext cx="3486150" cy="323850"/>
          </a:xfrm>
          <a:prstGeom prst="rect">
            <a:avLst/>
          </a:prstGeom>
        </p:spPr>
        <p:txBody>
          <a:bodyPr lIns="0" tIns="0" rIns="0" bIns="0"/>
          <a:lstStyle/>
          <a:p>
            <a:pPr>
              <a:defRPr sz="2100" b="1" i="0">
                <a:solidFill>
                  <a:srgbClr val="172026"/>
                </a:solidFill>
              </a:defRPr>
            </a:pPr>
            <a:r>
              <a:rPr sz="2100" b="1" i="0">
                <a:solidFill>
                  <a:srgbClr val="172026"/>
                </a:solidFill>
              </a:rPr>
              <a:t>Hammad Anwar</a:t>
            </a:r>
          </a:p>
        </p:txBody>
      </p:sp>
      <p:sp>
        <p:nvSpPr>
          <p:cNvPr id="25" name="Rectangle: Rounded Corners 24">
            <a:extLst>
              <a:ext uri="{FF2B5EF4-FFF2-40B4-BE49-F238E27FC236}">
                <a16:creationId xmlns:a16="http://schemas.microsoft.com/office/drawing/2014/main" id="{DE26F083-4F3B-4E2C-BC74-D1B0E566BED6}"/>
              </a:ext>
            </a:extLst>
          </p:cNvPr>
          <p:cNvSpPr>
            <a:spLocks noGrp="1"/>
          </p:cNvSpPr>
          <p:nvPr/>
        </p:nvSpPr>
        <p:spPr>
          <a:xfrm>
            <a:off x="5281613" y="4530090"/>
            <a:ext cx="1294162" cy="419100"/>
          </a:xfrm>
          <a:prstGeom prst="roundRect">
            <a:avLst>
              <a:gd name="adj" fmla="val 50000"/>
            </a:avLst>
          </a:prstGeom>
          <a:solidFill>
            <a:srgbClr val="E6F2EB"/>
          </a:solidFill>
        </p:spPr>
        <p:txBody>
          <a:bodyPr/>
          <a:lstStyle/>
          <a:p>
            <a:endParaRPr lang="en-DE"/>
          </a:p>
        </p:txBody>
      </p:sp>
      <p:sp>
        <p:nvSpPr>
          <p:cNvPr id="26" name="Rectangle 25">
            <a:extLst>
              <a:ext uri="{FF2B5EF4-FFF2-40B4-BE49-F238E27FC236}">
                <a16:creationId xmlns:a16="http://schemas.microsoft.com/office/drawing/2014/main" id="{52EF6337-5DD5-4C6D-9C1D-09158E506FDE}"/>
              </a:ext>
            </a:extLst>
          </p:cNvPr>
          <p:cNvSpPr>
            <a:spLocks noGrp="1"/>
          </p:cNvSpPr>
          <p:nvPr/>
        </p:nvSpPr>
        <p:spPr>
          <a:xfrm>
            <a:off x="5448300" y="4629150"/>
            <a:ext cx="952500" cy="228600"/>
          </a:xfrm>
          <a:prstGeom prst="rect">
            <a:avLst/>
          </a:prstGeom>
        </p:spPr>
        <p:txBody>
          <a:bodyPr lIns="0" tIns="0" rIns="0" bIns="0"/>
          <a:lstStyle/>
          <a:p>
            <a:pPr>
              <a:defRPr sz="1500" b="1" i="0">
                <a:solidFill>
                  <a:srgbClr val="2E7D55"/>
                </a:solidFill>
              </a:defRPr>
            </a:pPr>
            <a:r>
              <a:rPr sz="1500" b="1" i="0">
                <a:solidFill>
                  <a:srgbClr val="2E7D55"/>
                </a:solidFill>
              </a:rPr>
              <a:t>Tree Hugger</a:t>
            </a:r>
          </a:p>
        </p:txBody>
      </p:sp>
      <p:sp>
        <p:nvSpPr>
          <p:cNvPr id="27" name="Rectangle: Rounded Corners 26">
            <a:extLst>
              <a:ext uri="{FF2B5EF4-FFF2-40B4-BE49-F238E27FC236}">
                <a16:creationId xmlns:a16="http://schemas.microsoft.com/office/drawing/2014/main" id="{6C38675C-5D51-4E64-8050-299C3E722F0A}"/>
              </a:ext>
            </a:extLst>
          </p:cNvPr>
          <p:cNvSpPr>
            <a:spLocks noGrp="1"/>
          </p:cNvSpPr>
          <p:nvPr/>
        </p:nvSpPr>
        <p:spPr>
          <a:xfrm>
            <a:off x="5257800" y="5029200"/>
            <a:ext cx="1950720" cy="142875"/>
          </a:xfrm>
          <a:prstGeom prst="roundRect">
            <a:avLst>
              <a:gd name="adj" fmla="val 50000"/>
            </a:avLst>
          </a:prstGeom>
          <a:solidFill>
            <a:srgbClr val="2E7D55"/>
          </a:solidFill>
        </p:spPr>
        <p:txBody>
          <a:bodyPr/>
          <a:lstStyle/>
          <a:p>
            <a:endParaRPr lang="en-DE"/>
          </a:p>
        </p:txBody>
      </p:sp>
      <p:sp>
        <p:nvSpPr>
          <p:cNvPr id="28" name="Rectangle: Rounded Corners 27">
            <a:extLst>
              <a:ext uri="{FF2B5EF4-FFF2-40B4-BE49-F238E27FC236}">
                <a16:creationId xmlns:a16="http://schemas.microsoft.com/office/drawing/2014/main" id="{4A18E4B9-83A2-4758-AE57-040CAF41097B}"/>
              </a:ext>
            </a:extLst>
          </p:cNvPr>
          <p:cNvSpPr>
            <a:spLocks noGrp="1"/>
          </p:cNvSpPr>
          <p:nvPr/>
        </p:nvSpPr>
        <p:spPr>
          <a:xfrm>
            <a:off x="7239000" y="5029200"/>
            <a:ext cx="1524000" cy="142875"/>
          </a:xfrm>
          <a:prstGeom prst="roundRect">
            <a:avLst>
              <a:gd name="adj" fmla="val 50000"/>
            </a:avLst>
          </a:prstGeom>
          <a:solidFill>
            <a:srgbClr val="E4E9E8"/>
          </a:solidFill>
        </p:spPr>
        <p:txBody>
          <a:bodyPr/>
          <a:lstStyle/>
          <a:p>
            <a:endParaRPr lang="en-DE"/>
          </a:p>
        </p:txBody>
      </p:sp>
      <p:sp>
        <p:nvSpPr>
          <p:cNvPr id="29" name="Rectangle 28">
            <a:extLst>
              <a:ext uri="{FF2B5EF4-FFF2-40B4-BE49-F238E27FC236}">
                <a16:creationId xmlns:a16="http://schemas.microsoft.com/office/drawing/2014/main" id="{B1B17CAB-3125-4201-B2E2-E0F35CC4B10D}"/>
              </a:ext>
            </a:extLst>
          </p:cNvPr>
          <p:cNvSpPr>
            <a:spLocks noGrp="1"/>
          </p:cNvSpPr>
          <p:nvPr/>
        </p:nvSpPr>
        <p:spPr>
          <a:xfrm>
            <a:off x="5276850" y="5276850"/>
            <a:ext cx="3486150" cy="228600"/>
          </a:xfrm>
          <a:prstGeom prst="rect">
            <a:avLst/>
          </a:prstGeom>
        </p:spPr>
        <p:txBody>
          <a:bodyPr lIns="0" tIns="0" rIns="0" bIns="0"/>
          <a:lstStyle/>
          <a:p>
            <a:pPr>
              <a:defRPr sz="1425" b="1" i="0">
                <a:solidFill>
                  <a:srgbClr val="2E7D55"/>
                </a:solidFill>
              </a:defRPr>
            </a:pPr>
            <a:r>
              <a:rPr sz="1425" b="1" i="0">
                <a:solidFill>
                  <a:srgbClr val="2E7D55"/>
                </a:solidFill>
              </a:rPr>
              <a:t>64% Ant</a:t>
            </a:r>
          </a:p>
        </p:txBody>
      </p:sp>
      <p:sp>
        <p:nvSpPr>
          <p:cNvPr id="30" name="Rectangle 29">
            <a:extLst>
              <a:ext uri="{FF2B5EF4-FFF2-40B4-BE49-F238E27FC236}">
                <a16:creationId xmlns:a16="http://schemas.microsoft.com/office/drawing/2014/main" id="{E18E17AC-0192-4DE1-87BD-C6A42B774BD7}"/>
              </a:ext>
            </a:extLst>
          </p:cNvPr>
          <p:cNvSpPr>
            <a:spLocks noGrp="1"/>
          </p:cNvSpPr>
          <p:nvPr/>
        </p:nvSpPr>
        <p:spPr>
          <a:xfrm>
            <a:off x="5276850" y="5581650"/>
            <a:ext cx="3486150" cy="228600"/>
          </a:xfrm>
          <a:prstGeom prst="rect">
            <a:avLst/>
          </a:prstGeom>
        </p:spPr>
        <p:txBody>
          <a:bodyPr lIns="0" tIns="0" rIns="0" bIns="0"/>
          <a:lstStyle/>
          <a:p>
            <a:pPr>
              <a:defRPr sz="1425" b="0" i="0">
                <a:solidFill>
                  <a:srgbClr val="7A8793"/>
                </a:solidFill>
              </a:defRPr>
            </a:pPr>
            <a:r>
              <a:rPr sz="1425" b="0" i="0">
                <a:solidFill>
                  <a:srgbClr val="7A8793"/>
                </a:solidFill>
              </a:rPr>
              <a:t>Capybara 49%</a:t>
            </a:r>
          </a:p>
        </p:txBody>
      </p:sp>
      <p:sp>
        <p:nvSpPr>
          <p:cNvPr id="31" name="Rectangle: Rounded Corners 30">
            <a:extLst>
              <a:ext uri="{FF2B5EF4-FFF2-40B4-BE49-F238E27FC236}">
                <a16:creationId xmlns:a16="http://schemas.microsoft.com/office/drawing/2014/main" id="{C04B99D5-185B-4506-9C72-FB038934D280}"/>
              </a:ext>
            </a:extLst>
          </p:cNvPr>
          <p:cNvSpPr>
            <a:spLocks noGrp="1"/>
          </p:cNvSpPr>
          <p:nvPr/>
        </p:nvSpPr>
        <p:spPr>
          <a:xfrm>
            <a:off x="9248775" y="2419350"/>
            <a:ext cx="4024313" cy="6229350"/>
          </a:xfrm>
          <a:prstGeom prst="roundRect">
            <a:avLst>
              <a:gd name="adj" fmla="val 5680"/>
            </a:avLst>
          </a:prstGeom>
          <a:solidFill>
            <a:srgbClr val="FFFFFF"/>
          </a:solidFill>
        </p:spPr>
        <p:txBody>
          <a:bodyPr/>
          <a:lstStyle/>
          <a:p>
            <a:endParaRPr lang="en-DE"/>
          </a:p>
        </p:txBody>
      </p:sp>
      <p:sp>
        <p:nvSpPr>
          <p:cNvPr id="32" name="Oval 31">
            <a:extLst>
              <a:ext uri="{FF2B5EF4-FFF2-40B4-BE49-F238E27FC236}">
                <a16:creationId xmlns:a16="http://schemas.microsoft.com/office/drawing/2014/main" id="{091163B9-B8A7-49C0-804B-ED4F5F39D8F5}"/>
              </a:ext>
            </a:extLst>
          </p:cNvPr>
          <p:cNvSpPr>
            <a:spLocks noGrp="1"/>
          </p:cNvSpPr>
          <p:nvPr/>
        </p:nvSpPr>
        <p:spPr>
          <a:xfrm>
            <a:off x="9525000" y="2743200"/>
            <a:ext cx="876300" cy="876300"/>
          </a:xfrm>
          <a:prstGeom prst="ellipse">
            <a:avLst/>
          </a:prstGeom>
          <a:solidFill>
            <a:srgbClr val="C58A23"/>
          </a:solidFill>
        </p:spPr>
        <p:txBody>
          <a:bodyPr/>
          <a:lstStyle/>
          <a:p>
            <a:endParaRPr lang="en-DE"/>
          </a:p>
        </p:txBody>
      </p:sp>
      <p:sp>
        <p:nvSpPr>
          <p:cNvPr id="33" name="Rectangle 32">
            <a:extLst>
              <a:ext uri="{FF2B5EF4-FFF2-40B4-BE49-F238E27FC236}">
                <a16:creationId xmlns:a16="http://schemas.microsoft.com/office/drawing/2014/main" id="{539D9DAF-8001-45A3-A60F-08D06C5B1CD4}"/>
              </a:ext>
            </a:extLst>
          </p:cNvPr>
          <p:cNvSpPr>
            <a:spLocks noGrp="1"/>
          </p:cNvSpPr>
          <p:nvPr/>
        </p:nvSpPr>
        <p:spPr>
          <a:xfrm>
            <a:off x="9525000" y="3695700"/>
            <a:ext cx="3486150" cy="285750"/>
          </a:xfrm>
          <a:prstGeom prst="rect">
            <a:avLst/>
          </a:prstGeom>
        </p:spPr>
        <p:txBody>
          <a:bodyPr lIns="0" tIns="0" rIns="0" bIns="0"/>
          <a:lstStyle/>
          <a:p>
            <a:pPr>
              <a:defRPr sz="1875" b="1" i="0">
                <a:solidFill>
                  <a:srgbClr val="C58A23"/>
                </a:solidFill>
              </a:defRPr>
            </a:pPr>
            <a:r>
              <a:rPr sz="1875" b="1" i="0">
                <a:solidFill>
                  <a:srgbClr val="C58A23"/>
                </a:solidFill>
              </a:rPr>
              <a:t>HS</a:t>
            </a:r>
          </a:p>
        </p:txBody>
      </p:sp>
      <p:sp>
        <p:nvSpPr>
          <p:cNvPr id="34" name="Rectangle 33">
            <a:extLst>
              <a:ext uri="{FF2B5EF4-FFF2-40B4-BE49-F238E27FC236}">
                <a16:creationId xmlns:a16="http://schemas.microsoft.com/office/drawing/2014/main" id="{FB1B7F92-7AA3-4C7E-802B-D75497F2F563}"/>
              </a:ext>
            </a:extLst>
          </p:cNvPr>
          <p:cNvSpPr>
            <a:spLocks noGrp="1"/>
          </p:cNvSpPr>
          <p:nvPr/>
        </p:nvSpPr>
        <p:spPr>
          <a:xfrm>
            <a:off x="9525000" y="4095750"/>
            <a:ext cx="3486150" cy="323850"/>
          </a:xfrm>
          <a:prstGeom prst="rect">
            <a:avLst/>
          </a:prstGeom>
        </p:spPr>
        <p:txBody>
          <a:bodyPr lIns="0" tIns="0" rIns="0" bIns="0"/>
          <a:lstStyle/>
          <a:p>
            <a:pPr>
              <a:defRPr sz="2100" b="1" i="0">
                <a:solidFill>
                  <a:srgbClr val="172026"/>
                </a:solidFill>
              </a:defRPr>
            </a:pPr>
            <a:r>
              <a:rPr sz="2100" b="1" i="0">
                <a:solidFill>
                  <a:srgbClr val="172026"/>
                </a:solidFill>
              </a:rPr>
              <a:t>Hassan Ahmed</a:t>
            </a:r>
          </a:p>
        </p:txBody>
      </p:sp>
      <p:sp>
        <p:nvSpPr>
          <p:cNvPr id="35" name="Rectangle: Rounded Corners 34">
            <a:extLst>
              <a:ext uri="{FF2B5EF4-FFF2-40B4-BE49-F238E27FC236}">
                <a16:creationId xmlns:a16="http://schemas.microsoft.com/office/drawing/2014/main" id="{FE6A39C9-A2E6-4D3A-9A52-9E94B340E7A7}"/>
              </a:ext>
            </a:extLst>
          </p:cNvPr>
          <p:cNvSpPr>
            <a:spLocks noGrp="1"/>
          </p:cNvSpPr>
          <p:nvPr/>
        </p:nvSpPr>
        <p:spPr>
          <a:xfrm>
            <a:off x="9515475" y="4530090"/>
            <a:ext cx="1294162" cy="419100"/>
          </a:xfrm>
          <a:prstGeom prst="roundRect">
            <a:avLst>
              <a:gd name="adj" fmla="val 50000"/>
            </a:avLst>
          </a:prstGeom>
          <a:solidFill>
            <a:srgbClr val="E6F2EB"/>
          </a:solidFill>
        </p:spPr>
        <p:txBody>
          <a:bodyPr/>
          <a:lstStyle/>
          <a:p>
            <a:endParaRPr lang="en-DE"/>
          </a:p>
        </p:txBody>
      </p:sp>
      <p:sp>
        <p:nvSpPr>
          <p:cNvPr id="36" name="Rectangle 35">
            <a:extLst>
              <a:ext uri="{FF2B5EF4-FFF2-40B4-BE49-F238E27FC236}">
                <a16:creationId xmlns:a16="http://schemas.microsoft.com/office/drawing/2014/main" id="{AC03E187-C1FC-4242-B21C-EF0560407099}"/>
              </a:ext>
            </a:extLst>
          </p:cNvPr>
          <p:cNvSpPr>
            <a:spLocks noGrp="1"/>
          </p:cNvSpPr>
          <p:nvPr/>
        </p:nvSpPr>
        <p:spPr>
          <a:xfrm>
            <a:off x="9696450" y="4629150"/>
            <a:ext cx="952500" cy="228600"/>
          </a:xfrm>
          <a:prstGeom prst="rect">
            <a:avLst/>
          </a:prstGeom>
        </p:spPr>
        <p:txBody>
          <a:bodyPr lIns="0" tIns="0" rIns="0" bIns="0"/>
          <a:lstStyle/>
          <a:p>
            <a:pPr>
              <a:defRPr sz="1500" b="1" i="0">
                <a:solidFill>
                  <a:srgbClr val="2E7D55"/>
                </a:solidFill>
              </a:defRPr>
            </a:pPr>
            <a:r>
              <a:rPr sz="1500" b="1" i="0">
                <a:solidFill>
                  <a:srgbClr val="2E7D55"/>
                </a:solidFill>
              </a:rPr>
              <a:t>Tree Hugger</a:t>
            </a:r>
          </a:p>
        </p:txBody>
      </p:sp>
      <p:sp>
        <p:nvSpPr>
          <p:cNvPr id="37" name="Rectangle: Rounded Corners 36">
            <a:extLst>
              <a:ext uri="{FF2B5EF4-FFF2-40B4-BE49-F238E27FC236}">
                <a16:creationId xmlns:a16="http://schemas.microsoft.com/office/drawing/2014/main" id="{49FB8123-9AE5-4276-9645-8B3A7CB0A5A4}"/>
              </a:ext>
            </a:extLst>
          </p:cNvPr>
          <p:cNvSpPr>
            <a:spLocks noGrp="1"/>
          </p:cNvSpPr>
          <p:nvPr/>
        </p:nvSpPr>
        <p:spPr>
          <a:xfrm>
            <a:off x="9525000" y="5029200"/>
            <a:ext cx="1920240" cy="142875"/>
          </a:xfrm>
          <a:prstGeom prst="roundRect">
            <a:avLst>
              <a:gd name="adj" fmla="val 50000"/>
            </a:avLst>
          </a:prstGeom>
          <a:solidFill>
            <a:srgbClr val="2E7D55"/>
          </a:solidFill>
        </p:spPr>
        <p:txBody>
          <a:bodyPr/>
          <a:lstStyle/>
          <a:p>
            <a:endParaRPr lang="en-DE"/>
          </a:p>
        </p:txBody>
      </p:sp>
      <p:sp>
        <p:nvSpPr>
          <p:cNvPr id="38" name="Rectangle: Rounded Corners 37">
            <a:extLst>
              <a:ext uri="{FF2B5EF4-FFF2-40B4-BE49-F238E27FC236}">
                <a16:creationId xmlns:a16="http://schemas.microsoft.com/office/drawing/2014/main" id="{CF69B707-EB50-4C39-B7BF-C49A28ECBA4C}"/>
              </a:ext>
            </a:extLst>
          </p:cNvPr>
          <p:cNvSpPr>
            <a:spLocks noGrp="1"/>
          </p:cNvSpPr>
          <p:nvPr/>
        </p:nvSpPr>
        <p:spPr>
          <a:xfrm>
            <a:off x="11430000" y="5029200"/>
            <a:ext cx="1600200" cy="142875"/>
          </a:xfrm>
          <a:prstGeom prst="roundRect">
            <a:avLst>
              <a:gd name="adj" fmla="val 50000"/>
            </a:avLst>
          </a:prstGeom>
          <a:solidFill>
            <a:srgbClr val="E4E9E8"/>
          </a:solidFill>
        </p:spPr>
        <p:txBody>
          <a:bodyPr/>
          <a:lstStyle/>
          <a:p>
            <a:endParaRPr lang="en-DE"/>
          </a:p>
        </p:txBody>
      </p:sp>
      <p:sp>
        <p:nvSpPr>
          <p:cNvPr id="39" name="Rectangle 38">
            <a:extLst>
              <a:ext uri="{FF2B5EF4-FFF2-40B4-BE49-F238E27FC236}">
                <a16:creationId xmlns:a16="http://schemas.microsoft.com/office/drawing/2014/main" id="{267E7F5B-AEFE-43A2-B650-6FEF03A2F3E6}"/>
              </a:ext>
            </a:extLst>
          </p:cNvPr>
          <p:cNvSpPr>
            <a:spLocks noGrp="1"/>
          </p:cNvSpPr>
          <p:nvPr/>
        </p:nvSpPr>
        <p:spPr>
          <a:xfrm>
            <a:off x="9525000" y="5276850"/>
            <a:ext cx="3486150" cy="228600"/>
          </a:xfrm>
          <a:prstGeom prst="rect">
            <a:avLst/>
          </a:prstGeom>
        </p:spPr>
        <p:txBody>
          <a:bodyPr lIns="0" tIns="0" rIns="0" bIns="0"/>
          <a:lstStyle/>
          <a:p>
            <a:pPr>
              <a:defRPr sz="1425" b="1" i="0">
                <a:solidFill>
                  <a:srgbClr val="2E7D55"/>
                </a:solidFill>
              </a:defRPr>
            </a:pPr>
            <a:r>
              <a:rPr sz="1425" b="1" i="0">
                <a:solidFill>
                  <a:srgbClr val="2E7D55"/>
                </a:solidFill>
              </a:rPr>
              <a:t>63% Ant</a:t>
            </a:r>
          </a:p>
        </p:txBody>
      </p:sp>
      <p:sp>
        <p:nvSpPr>
          <p:cNvPr id="40" name="Rectangle 39">
            <a:extLst>
              <a:ext uri="{FF2B5EF4-FFF2-40B4-BE49-F238E27FC236}">
                <a16:creationId xmlns:a16="http://schemas.microsoft.com/office/drawing/2014/main" id="{935BF7B7-A191-4EEA-A48E-278F2C9B52DE}"/>
              </a:ext>
            </a:extLst>
          </p:cNvPr>
          <p:cNvSpPr>
            <a:spLocks noGrp="1"/>
          </p:cNvSpPr>
          <p:nvPr/>
        </p:nvSpPr>
        <p:spPr>
          <a:xfrm>
            <a:off x="9525000" y="5581650"/>
            <a:ext cx="3486150" cy="228600"/>
          </a:xfrm>
          <a:prstGeom prst="rect">
            <a:avLst/>
          </a:prstGeom>
        </p:spPr>
        <p:txBody>
          <a:bodyPr lIns="0" tIns="0" rIns="0" bIns="0"/>
          <a:lstStyle/>
          <a:p>
            <a:pPr>
              <a:defRPr sz="1425" b="0" i="0">
                <a:solidFill>
                  <a:srgbClr val="7A8793"/>
                </a:solidFill>
              </a:defRPr>
            </a:pPr>
            <a:r>
              <a:rPr sz="1425" b="0" i="0">
                <a:solidFill>
                  <a:srgbClr val="7A8793"/>
                </a:solidFill>
              </a:rPr>
              <a:t>Ant 40%</a:t>
            </a:r>
          </a:p>
        </p:txBody>
      </p:sp>
      <p:sp>
        <p:nvSpPr>
          <p:cNvPr id="41" name="Rectangle: Rounded Corners 40">
            <a:extLst>
              <a:ext uri="{FF2B5EF4-FFF2-40B4-BE49-F238E27FC236}">
                <a16:creationId xmlns:a16="http://schemas.microsoft.com/office/drawing/2014/main" id="{B98F19B7-9F07-48EE-AF2C-D93A9103CCF0}"/>
              </a:ext>
            </a:extLst>
          </p:cNvPr>
          <p:cNvSpPr>
            <a:spLocks noGrp="1"/>
          </p:cNvSpPr>
          <p:nvPr/>
        </p:nvSpPr>
        <p:spPr>
          <a:xfrm>
            <a:off x="13482638" y="2419350"/>
            <a:ext cx="4024313" cy="6229350"/>
          </a:xfrm>
          <a:prstGeom prst="roundRect">
            <a:avLst>
              <a:gd name="adj" fmla="val 5680"/>
            </a:avLst>
          </a:prstGeom>
          <a:solidFill>
            <a:srgbClr val="FFFFFF"/>
          </a:solidFill>
        </p:spPr>
        <p:txBody>
          <a:bodyPr/>
          <a:lstStyle/>
          <a:p>
            <a:endParaRPr lang="en-DE"/>
          </a:p>
        </p:txBody>
      </p:sp>
      <p:sp>
        <p:nvSpPr>
          <p:cNvPr id="42" name="Oval 41">
            <a:extLst>
              <a:ext uri="{FF2B5EF4-FFF2-40B4-BE49-F238E27FC236}">
                <a16:creationId xmlns:a16="http://schemas.microsoft.com/office/drawing/2014/main" id="{B14793CD-14E5-4E93-BB64-12F2ADF14024}"/>
              </a:ext>
            </a:extLst>
          </p:cNvPr>
          <p:cNvSpPr>
            <a:spLocks noGrp="1"/>
          </p:cNvSpPr>
          <p:nvPr/>
        </p:nvSpPr>
        <p:spPr>
          <a:xfrm>
            <a:off x="13716000" y="2743200"/>
            <a:ext cx="876300" cy="876300"/>
          </a:xfrm>
          <a:prstGeom prst="ellipse">
            <a:avLst/>
          </a:prstGeom>
          <a:solidFill>
            <a:srgbClr val="6554C0"/>
          </a:solidFill>
        </p:spPr>
        <p:txBody>
          <a:bodyPr/>
          <a:lstStyle/>
          <a:p>
            <a:endParaRPr lang="en-DE"/>
          </a:p>
        </p:txBody>
      </p:sp>
      <p:sp>
        <p:nvSpPr>
          <p:cNvPr id="43" name="Rectangle 42">
            <a:extLst>
              <a:ext uri="{FF2B5EF4-FFF2-40B4-BE49-F238E27FC236}">
                <a16:creationId xmlns:a16="http://schemas.microsoft.com/office/drawing/2014/main" id="{DD23E87B-3226-4AF3-A127-C4C255DDB7AE}"/>
              </a:ext>
            </a:extLst>
          </p:cNvPr>
          <p:cNvSpPr>
            <a:spLocks noGrp="1"/>
          </p:cNvSpPr>
          <p:nvPr/>
        </p:nvSpPr>
        <p:spPr>
          <a:xfrm>
            <a:off x="13754100" y="3695700"/>
            <a:ext cx="3486150" cy="285750"/>
          </a:xfrm>
          <a:prstGeom prst="rect">
            <a:avLst/>
          </a:prstGeom>
        </p:spPr>
        <p:txBody>
          <a:bodyPr lIns="0" tIns="0" rIns="0" bIns="0"/>
          <a:lstStyle/>
          <a:p>
            <a:pPr>
              <a:defRPr sz="1875" b="1" i="0">
                <a:solidFill>
                  <a:srgbClr val="6554C0"/>
                </a:solidFill>
              </a:defRPr>
            </a:pPr>
            <a:r>
              <a:rPr sz="1875" b="1" i="0">
                <a:solidFill>
                  <a:srgbClr val="6554C0"/>
                </a:solidFill>
              </a:rPr>
              <a:t>K</a:t>
            </a:r>
          </a:p>
        </p:txBody>
      </p:sp>
      <p:sp>
        <p:nvSpPr>
          <p:cNvPr id="44" name="Rectangle 43">
            <a:extLst>
              <a:ext uri="{FF2B5EF4-FFF2-40B4-BE49-F238E27FC236}">
                <a16:creationId xmlns:a16="http://schemas.microsoft.com/office/drawing/2014/main" id="{9C5492C1-468E-4DD1-8761-530B795895EE}"/>
              </a:ext>
            </a:extLst>
          </p:cNvPr>
          <p:cNvSpPr>
            <a:spLocks noGrp="1"/>
          </p:cNvSpPr>
          <p:nvPr/>
        </p:nvSpPr>
        <p:spPr>
          <a:xfrm>
            <a:off x="13754100" y="4095750"/>
            <a:ext cx="3486150" cy="323850"/>
          </a:xfrm>
          <a:prstGeom prst="rect">
            <a:avLst/>
          </a:prstGeom>
        </p:spPr>
        <p:txBody>
          <a:bodyPr lIns="0" tIns="0" rIns="0" bIns="0"/>
          <a:lstStyle/>
          <a:p>
            <a:pPr>
              <a:defRPr sz="2100" b="1" i="0">
                <a:solidFill>
                  <a:srgbClr val="172026"/>
                </a:solidFill>
              </a:defRPr>
            </a:pPr>
            <a:r>
              <a:rPr sz="2100" b="1" i="0">
                <a:solidFill>
                  <a:srgbClr val="172026"/>
                </a:solidFill>
              </a:rPr>
              <a:t>Kumaran Vasu</a:t>
            </a:r>
          </a:p>
        </p:txBody>
      </p:sp>
      <p:sp>
        <p:nvSpPr>
          <p:cNvPr id="45" name="Rectangle: Rounded Corners 44">
            <a:extLst>
              <a:ext uri="{FF2B5EF4-FFF2-40B4-BE49-F238E27FC236}">
                <a16:creationId xmlns:a16="http://schemas.microsoft.com/office/drawing/2014/main" id="{1C9CCDD4-64B1-486A-B4BC-61F1C6678A45}"/>
              </a:ext>
            </a:extLst>
          </p:cNvPr>
          <p:cNvSpPr>
            <a:spLocks noGrp="1"/>
          </p:cNvSpPr>
          <p:nvPr/>
        </p:nvSpPr>
        <p:spPr>
          <a:xfrm>
            <a:off x="13749338" y="4530090"/>
            <a:ext cx="1294162" cy="419100"/>
          </a:xfrm>
          <a:prstGeom prst="roundRect">
            <a:avLst>
              <a:gd name="adj" fmla="val 50000"/>
            </a:avLst>
          </a:prstGeom>
          <a:solidFill>
            <a:srgbClr val="E6F2EB"/>
          </a:solidFill>
        </p:spPr>
        <p:txBody>
          <a:bodyPr/>
          <a:lstStyle/>
          <a:p>
            <a:endParaRPr lang="en-DE"/>
          </a:p>
        </p:txBody>
      </p:sp>
      <p:sp>
        <p:nvSpPr>
          <p:cNvPr id="46" name="Rectangle 45">
            <a:extLst>
              <a:ext uri="{FF2B5EF4-FFF2-40B4-BE49-F238E27FC236}">
                <a16:creationId xmlns:a16="http://schemas.microsoft.com/office/drawing/2014/main" id="{588B83BB-58D1-4162-94AA-0A78AD08F6E3}"/>
              </a:ext>
            </a:extLst>
          </p:cNvPr>
          <p:cNvSpPr>
            <a:spLocks noGrp="1"/>
          </p:cNvSpPr>
          <p:nvPr/>
        </p:nvSpPr>
        <p:spPr>
          <a:xfrm>
            <a:off x="13925550" y="4629150"/>
            <a:ext cx="952500" cy="228600"/>
          </a:xfrm>
          <a:prstGeom prst="rect">
            <a:avLst/>
          </a:prstGeom>
        </p:spPr>
        <p:txBody>
          <a:bodyPr lIns="0" tIns="0" rIns="0" bIns="0"/>
          <a:lstStyle/>
          <a:p>
            <a:pPr>
              <a:defRPr sz="1500" b="1" i="0">
                <a:solidFill>
                  <a:srgbClr val="2E7D55"/>
                </a:solidFill>
              </a:defRPr>
            </a:pPr>
            <a:r>
              <a:rPr sz="1500" b="1" i="0">
                <a:solidFill>
                  <a:srgbClr val="2E7D55"/>
                </a:solidFill>
              </a:rPr>
              <a:t>Tree Hugger</a:t>
            </a:r>
          </a:p>
        </p:txBody>
      </p:sp>
      <p:sp>
        <p:nvSpPr>
          <p:cNvPr id="47" name="Rectangle: Rounded Corners 46">
            <a:extLst>
              <a:ext uri="{FF2B5EF4-FFF2-40B4-BE49-F238E27FC236}">
                <a16:creationId xmlns:a16="http://schemas.microsoft.com/office/drawing/2014/main" id="{DCBAA377-D480-4EC8-93E7-AF69F94028A8}"/>
              </a:ext>
            </a:extLst>
          </p:cNvPr>
          <p:cNvSpPr>
            <a:spLocks noGrp="1"/>
          </p:cNvSpPr>
          <p:nvPr/>
        </p:nvSpPr>
        <p:spPr>
          <a:xfrm>
            <a:off x="13716000" y="5029200"/>
            <a:ext cx="2286000" cy="142875"/>
          </a:xfrm>
          <a:prstGeom prst="roundRect">
            <a:avLst>
              <a:gd name="adj" fmla="val 50000"/>
            </a:avLst>
          </a:prstGeom>
          <a:solidFill>
            <a:srgbClr val="2E7D55"/>
          </a:solidFill>
        </p:spPr>
        <p:txBody>
          <a:bodyPr/>
          <a:lstStyle/>
          <a:p>
            <a:endParaRPr lang="en-DE"/>
          </a:p>
        </p:txBody>
      </p:sp>
      <p:sp>
        <p:nvSpPr>
          <p:cNvPr id="48" name="Rectangle: Rounded Corners 47">
            <a:extLst>
              <a:ext uri="{FF2B5EF4-FFF2-40B4-BE49-F238E27FC236}">
                <a16:creationId xmlns:a16="http://schemas.microsoft.com/office/drawing/2014/main" id="{B946DC99-B1C5-497F-A7C6-BE2CF5A0774D}"/>
              </a:ext>
            </a:extLst>
          </p:cNvPr>
          <p:cNvSpPr>
            <a:spLocks noGrp="1"/>
          </p:cNvSpPr>
          <p:nvPr/>
        </p:nvSpPr>
        <p:spPr>
          <a:xfrm>
            <a:off x="16002000" y="5029200"/>
            <a:ext cx="1219200" cy="142875"/>
          </a:xfrm>
          <a:prstGeom prst="roundRect">
            <a:avLst>
              <a:gd name="adj" fmla="val 50000"/>
            </a:avLst>
          </a:prstGeom>
          <a:solidFill>
            <a:srgbClr val="E4E9E8"/>
          </a:solidFill>
        </p:spPr>
        <p:txBody>
          <a:bodyPr/>
          <a:lstStyle/>
          <a:p>
            <a:endParaRPr lang="en-DE"/>
          </a:p>
        </p:txBody>
      </p:sp>
      <p:sp>
        <p:nvSpPr>
          <p:cNvPr id="49" name="Rectangle 48">
            <a:extLst>
              <a:ext uri="{FF2B5EF4-FFF2-40B4-BE49-F238E27FC236}">
                <a16:creationId xmlns:a16="http://schemas.microsoft.com/office/drawing/2014/main" id="{B6199CEF-7BDC-4764-851F-13D1962A58C1}"/>
              </a:ext>
            </a:extLst>
          </p:cNvPr>
          <p:cNvSpPr>
            <a:spLocks noGrp="1"/>
          </p:cNvSpPr>
          <p:nvPr/>
        </p:nvSpPr>
        <p:spPr>
          <a:xfrm>
            <a:off x="13754100" y="5276850"/>
            <a:ext cx="3486150" cy="228600"/>
          </a:xfrm>
          <a:prstGeom prst="rect">
            <a:avLst/>
          </a:prstGeom>
        </p:spPr>
        <p:txBody>
          <a:bodyPr lIns="0" tIns="0" rIns="0" bIns="0"/>
          <a:lstStyle/>
          <a:p>
            <a:pPr>
              <a:defRPr sz="1425" b="1" i="0">
                <a:solidFill>
                  <a:srgbClr val="2E7D55"/>
                </a:solidFill>
              </a:defRPr>
            </a:pPr>
            <a:r>
              <a:rPr sz="1425" b="1" i="0">
                <a:solidFill>
                  <a:srgbClr val="2E7D55"/>
                </a:solidFill>
              </a:rPr>
              <a:t>75% Ant</a:t>
            </a:r>
          </a:p>
        </p:txBody>
      </p:sp>
      <p:sp>
        <p:nvSpPr>
          <p:cNvPr id="50" name="Rectangle 49">
            <a:extLst>
              <a:ext uri="{FF2B5EF4-FFF2-40B4-BE49-F238E27FC236}">
                <a16:creationId xmlns:a16="http://schemas.microsoft.com/office/drawing/2014/main" id="{1A143437-652B-4DDA-84DF-C8D6C5D88BE2}"/>
              </a:ext>
            </a:extLst>
          </p:cNvPr>
          <p:cNvSpPr>
            <a:spLocks noGrp="1"/>
          </p:cNvSpPr>
          <p:nvPr/>
        </p:nvSpPr>
        <p:spPr>
          <a:xfrm>
            <a:off x="13754100" y="5581650"/>
            <a:ext cx="3486150" cy="228600"/>
          </a:xfrm>
          <a:prstGeom prst="rect">
            <a:avLst/>
          </a:prstGeom>
        </p:spPr>
        <p:txBody>
          <a:bodyPr lIns="0" tIns="0" rIns="0" bIns="0"/>
          <a:lstStyle/>
          <a:p>
            <a:pPr>
              <a:defRPr sz="1425" b="0" i="0">
                <a:solidFill>
                  <a:srgbClr val="7A8793"/>
                </a:solidFill>
              </a:defRPr>
            </a:pPr>
            <a:r>
              <a:rPr sz="1425" b="0" i="0">
                <a:solidFill>
                  <a:srgbClr val="7A8793"/>
                </a:solidFill>
              </a:rPr>
              <a:t>Ant 80%</a:t>
            </a:r>
          </a:p>
        </p:txBody>
      </p:sp>
      <p:sp>
        <p:nvSpPr>
          <p:cNvPr id="51" name="Rectangle: Rounded Corners 50">
            <a:extLst>
              <a:ext uri="{FF2B5EF4-FFF2-40B4-BE49-F238E27FC236}">
                <a16:creationId xmlns:a16="http://schemas.microsoft.com/office/drawing/2014/main" id="{989C1A07-19BB-4375-8D2B-7FC925295CB9}"/>
              </a:ext>
            </a:extLst>
          </p:cNvPr>
          <p:cNvSpPr>
            <a:spLocks noGrp="1"/>
          </p:cNvSpPr>
          <p:nvPr/>
        </p:nvSpPr>
        <p:spPr>
          <a:xfrm>
            <a:off x="781050" y="8915400"/>
            <a:ext cx="16725900" cy="800100"/>
          </a:xfrm>
          <a:prstGeom prst="roundRect">
            <a:avLst>
              <a:gd name="adj" fmla="val 21429"/>
            </a:avLst>
          </a:prstGeom>
          <a:solidFill>
            <a:srgbClr val="F1F5F4"/>
          </a:solidFill>
        </p:spPr>
        <p:txBody>
          <a:bodyPr/>
          <a:lstStyle/>
          <a:p>
            <a:endParaRPr lang="en-DE"/>
          </a:p>
        </p:txBody>
      </p:sp>
      <p:sp>
        <p:nvSpPr>
          <p:cNvPr id="52" name="Rectangle: Rounded Corners 51">
            <a:extLst>
              <a:ext uri="{FF2B5EF4-FFF2-40B4-BE49-F238E27FC236}">
                <a16:creationId xmlns:a16="http://schemas.microsoft.com/office/drawing/2014/main" id="{F274ACC5-A531-40E9-9DEE-E2619541D19A}"/>
              </a:ext>
            </a:extLst>
          </p:cNvPr>
          <p:cNvSpPr>
            <a:spLocks noGrp="1"/>
          </p:cNvSpPr>
          <p:nvPr/>
        </p:nvSpPr>
        <p:spPr>
          <a:xfrm>
            <a:off x="1028700" y="9105900"/>
            <a:ext cx="133350" cy="457200"/>
          </a:xfrm>
          <a:prstGeom prst="roundRect">
            <a:avLst>
              <a:gd name="adj" fmla="val 50000"/>
            </a:avLst>
          </a:prstGeom>
          <a:solidFill>
            <a:srgbClr val="B63A33"/>
          </a:solidFill>
        </p:spPr>
        <p:txBody>
          <a:bodyPr/>
          <a:lstStyle/>
          <a:p>
            <a:endParaRPr lang="en-DE"/>
          </a:p>
        </p:txBody>
      </p:sp>
      <p:sp>
        <p:nvSpPr>
          <p:cNvPr id="53" name="Rectangle 52">
            <a:extLst>
              <a:ext uri="{FF2B5EF4-FFF2-40B4-BE49-F238E27FC236}">
                <a16:creationId xmlns:a16="http://schemas.microsoft.com/office/drawing/2014/main" id="{4A984E99-F89F-4266-89F5-3BF4D9607452}"/>
              </a:ext>
            </a:extLst>
          </p:cNvPr>
          <p:cNvSpPr>
            <a:spLocks noGrp="1"/>
          </p:cNvSpPr>
          <p:nvPr/>
        </p:nvSpPr>
        <p:spPr>
          <a:xfrm>
            <a:off x="1333500" y="9201150"/>
            <a:ext cx="15925800" cy="228600"/>
          </a:xfrm>
          <a:prstGeom prst="rect">
            <a:avLst/>
          </a:prstGeom>
        </p:spPr>
        <p:txBody>
          <a:bodyPr lIns="0" tIns="0" rIns="0" bIns="0"/>
          <a:lstStyle/>
          <a:p>
            <a:pPr>
              <a:defRPr sz="1500" b="0" i="0">
                <a:solidFill>
                  <a:srgbClr val="52606D"/>
                </a:solidFill>
              </a:defRPr>
            </a:pPr>
            <a:r>
              <a:rPr sz="1500" b="0" i="0">
                <a:solidFill>
                  <a:srgbClr val="52606D"/>
                </a:solidFill>
              </a:rPr>
              <a:t>Archetype results are included because the May 21 Virtual Mirror asks us to analyse our own team communication. The scientific contribution today is the choir dataset and measurement strategy.</a:t>
            </a:r>
          </a:p>
        </p:txBody>
      </p:sp>
    </p:spTree>
    <p:extLst>
      <p:ext uri="{BB962C8B-B14F-4D97-AF65-F5344CB8AC3E}">
        <p14:creationId xmlns:p14="http://schemas.microsoft.com/office/powerpoint/2010/main" val="1862418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bg">
            <a:extLst>
              <a:ext uri="{FF2B5EF4-FFF2-40B4-BE49-F238E27FC236}">
                <a16:creationId xmlns:a16="http://schemas.microsoft.com/office/drawing/2014/main" id="{6331773B-59E9-431F-8CE3-2D0668972251}"/>
              </a:ext>
            </a:extLst>
          </p:cNvPr>
          <p:cNvSpPr>
            <a:spLocks noGrp="1"/>
          </p:cNvSpPr>
          <p:nvPr/>
        </p:nvSpPr>
        <p:spPr>
          <a:xfrm>
            <a:off x="0" y="0"/>
            <a:ext cx="18288000" cy="10287000"/>
          </a:xfrm>
          <a:prstGeom prst="rect">
            <a:avLst/>
          </a:prstGeom>
          <a:solidFill>
            <a:srgbClr val="F7F9F8"/>
          </a:solidFill>
        </p:spPr>
        <p:txBody>
          <a:bodyPr/>
          <a:lstStyle/>
          <a:p>
            <a:endParaRPr lang="en-DE"/>
          </a:p>
        </p:txBody>
      </p:sp>
      <p:sp>
        <p:nvSpPr>
          <p:cNvPr id="2" name="Rectangle 1">
            <a:extLst>
              <a:ext uri="{FF2B5EF4-FFF2-40B4-BE49-F238E27FC236}">
                <a16:creationId xmlns:a16="http://schemas.microsoft.com/office/drawing/2014/main" id="{B1F5CA65-8E78-4D7E-B498-1CDA6E9E9EDA}"/>
              </a:ext>
            </a:extLst>
          </p:cNvPr>
          <p:cNvSpPr>
            <a:spLocks noGrp="1"/>
          </p:cNvSpPr>
          <p:nvPr/>
        </p:nvSpPr>
        <p:spPr>
          <a:xfrm>
            <a:off x="0" y="0"/>
            <a:ext cx="4572000" cy="10287000"/>
          </a:xfrm>
          <a:prstGeom prst="rect">
            <a:avLst/>
          </a:prstGeom>
          <a:solidFill>
            <a:srgbClr val="FFFFFF"/>
          </a:solidFill>
        </p:spPr>
        <p:txBody>
          <a:bodyPr/>
          <a:lstStyle/>
          <a:p>
            <a:endParaRPr lang="en-DE"/>
          </a:p>
        </p:txBody>
      </p:sp>
      <p:sp>
        <p:nvSpPr>
          <p:cNvPr id="3" name="Rectangle 2">
            <a:extLst>
              <a:ext uri="{FF2B5EF4-FFF2-40B4-BE49-F238E27FC236}">
                <a16:creationId xmlns:a16="http://schemas.microsoft.com/office/drawing/2014/main" id="{91838178-63C1-4E7D-8763-FB2D469AD093}"/>
              </a:ext>
            </a:extLst>
          </p:cNvPr>
          <p:cNvSpPr>
            <a:spLocks noGrp="1"/>
          </p:cNvSpPr>
          <p:nvPr/>
        </p:nvSpPr>
        <p:spPr>
          <a:xfrm>
            <a:off x="4572000" y="0"/>
            <a:ext cx="4572000" cy="10287000"/>
          </a:xfrm>
          <a:prstGeom prst="rect">
            <a:avLst/>
          </a:prstGeom>
          <a:solidFill>
            <a:srgbClr val="F3F7F7"/>
          </a:solidFill>
        </p:spPr>
        <p:txBody>
          <a:bodyPr/>
          <a:lstStyle/>
          <a:p>
            <a:endParaRPr lang="en-DE"/>
          </a:p>
        </p:txBody>
      </p:sp>
      <p:sp>
        <p:nvSpPr>
          <p:cNvPr id="4" name="Rectangle 3">
            <a:extLst>
              <a:ext uri="{FF2B5EF4-FFF2-40B4-BE49-F238E27FC236}">
                <a16:creationId xmlns:a16="http://schemas.microsoft.com/office/drawing/2014/main" id="{4D676E24-1E11-44DE-9D28-C5110BD7560E}"/>
              </a:ext>
            </a:extLst>
          </p:cNvPr>
          <p:cNvSpPr>
            <a:spLocks noGrp="1"/>
          </p:cNvSpPr>
          <p:nvPr/>
        </p:nvSpPr>
        <p:spPr>
          <a:xfrm>
            <a:off x="9144000" y="0"/>
            <a:ext cx="4572000" cy="10287000"/>
          </a:xfrm>
          <a:prstGeom prst="rect">
            <a:avLst/>
          </a:prstGeom>
          <a:solidFill>
            <a:srgbClr val="FAF9F4"/>
          </a:solidFill>
        </p:spPr>
        <p:txBody>
          <a:bodyPr/>
          <a:lstStyle/>
          <a:p>
            <a:endParaRPr lang="en-DE"/>
          </a:p>
        </p:txBody>
      </p:sp>
      <p:sp>
        <p:nvSpPr>
          <p:cNvPr id="5" name="Rectangle 4">
            <a:extLst>
              <a:ext uri="{FF2B5EF4-FFF2-40B4-BE49-F238E27FC236}">
                <a16:creationId xmlns:a16="http://schemas.microsoft.com/office/drawing/2014/main" id="{CBE69416-9CB2-4119-B585-E38D10DBFC73}"/>
              </a:ext>
            </a:extLst>
          </p:cNvPr>
          <p:cNvSpPr>
            <a:spLocks noGrp="1"/>
          </p:cNvSpPr>
          <p:nvPr/>
        </p:nvSpPr>
        <p:spPr>
          <a:xfrm>
            <a:off x="13716000" y="0"/>
            <a:ext cx="4572000" cy="10287000"/>
          </a:xfrm>
          <a:prstGeom prst="rect">
            <a:avLst/>
          </a:prstGeom>
          <a:solidFill>
            <a:srgbClr val="F6F8FA"/>
          </a:solidFill>
        </p:spPr>
        <p:txBody>
          <a:bodyPr/>
          <a:lstStyle/>
          <a:p>
            <a:endParaRPr lang="en-DE"/>
          </a:p>
        </p:txBody>
      </p:sp>
      <p:sp>
        <p:nvSpPr>
          <p:cNvPr id="6" name="Oval 5">
            <a:extLst>
              <a:ext uri="{FF2B5EF4-FFF2-40B4-BE49-F238E27FC236}">
                <a16:creationId xmlns:a16="http://schemas.microsoft.com/office/drawing/2014/main" id="{19899845-AF6A-4A41-A349-3C490BC01438}"/>
              </a:ext>
            </a:extLst>
          </p:cNvPr>
          <p:cNvSpPr>
            <a:spLocks noGrp="1"/>
          </p:cNvSpPr>
          <p:nvPr/>
        </p:nvSpPr>
        <p:spPr>
          <a:xfrm>
            <a:off x="781050" y="1047750"/>
            <a:ext cx="114300" cy="114300"/>
          </a:xfrm>
          <a:prstGeom prst="ellipse">
            <a:avLst/>
          </a:prstGeom>
          <a:solidFill>
            <a:srgbClr val="B63A33"/>
          </a:solidFill>
        </p:spPr>
        <p:txBody>
          <a:bodyPr/>
          <a:lstStyle/>
          <a:p>
            <a:endParaRPr lang="en-DE"/>
          </a:p>
        </p:txBody>
      </p:sp>
      <p:sp>
        <p:nvSpPr>
          <p:cNvPr id="7" name="Rectangle 6">
            <a:extLst>
              <a:ext uri="{FF2B5EF4-FFF2-40B4-BE49-F238E27FC236}">
                <a16:creationId xmlns:a16="http://schemas.microsoft.com/office/drawing/2014/main" id="{ABD7E4C8-3914-411F-A37A-1F72F585BB45}"/>
              </a:ext>
            </a:extLst>
          </p:cNvPr>
          <p:cNvSpPr>
            <a:spLocks noGrp="1"/>
          </p:cNvSpPr>
          <p:nvPr/>
        </p:nvSpPr>
        <p:spPr>
          <a:xfrm>
            <a:off x="990600" y="1009650"/>
            <a:ext cx="1200150" cy="190500"/>
          </a:xfrm>
          <a:prstGeom prst="rect">
            <a:avLst/>
          </a:prstGeom>
        </p:spPr>
        <p:txBody>
          <a:bodyPr lIns="0" tIns="0" rIns="0" bIns="0"/>
          <a:lstStyle/>
          <a:p>
            <a:pPr>
              <a:defRPr sz="1200" b="1" i="0">
                <a:solidFill>
                  <a:srgbClr val="7A8793"/>
                </a:solidFill>
              </a:defRPr>
            </a:pPr>
            <a:r>
              <a:rPr sz="1200" b="1" i="0">
                <a:solidFill>
                  <a:srgbClr val="7A8793"/>
                </a:solidFill>
              </a:rPr>
              <a:t>GOALS AND SCOPE</a:t>
            </a:r>
          </a:p>
        </p:txBody>
      </p:sp>
      <p:sp>
        <p:nvSpPr>
          <p:cNvPr id="8" name="slide-title">
            <a:extLst>
              <a:ext uri="{FF2B5EF4-FFF2-40B4-BE49-F238E27FC236}">
                <a16:creationId xmlns:a16="http://schemas.microsoft.com/office/drawing/2014/main" id="{B4EEF899-E8D1-4F6E-83DF-DC0BD8A8619B}"/>
              </a:ext>
            </a:extLst>
          </p:cNvPr>
          <p:cNvSpPr>
            <a:spLocks noGrp="1"/>
          </p:cNvSpPr>
          <p:nvPr/>
        </p:nvSpPr>
        <p:spPr>
          <a:xfrm>
            <a:off x="781050" y="1295400"/>
            <a:ext cx="16040100" cy="571500"/>
          </a:xfrm>
          <a:prstGeom prst="rect">
            <a:avLst/>
          </a:prstGeom>
        </p:spPr>
        <p:txBody>
          <a:bodyPr lIns="0" tIns="0" rIns="0" bIns="0"/>
          <a:lstStyle/>
          <a:p>
            <a:pPr>
              <a:defRPr sz="3750" b="1" i="0">
                <a:solidFill>
                  <a:srgbClr val="172026"/>
                </a:solidFill>
              </a:defRPr>
            </a:pPr>
            <a:r>
              <a:rPr sz="3750" b="1" i="0">
                <a:solidFill>
                  <a:srgbClr val="172026"/>
                </a:solidFill>
              </a:rPr>
              <a:t>Can we quantify online choir coordination?</a:t>
            </a:r>
          </a:p>
        </p:txBody>
      </p:sp>
      <p:sp>
        <p:nvSpPr>
          <p:cNvPr id="9" name="Rectangle 8">
            <a:extLst>
              <a:ext uri="{FF2B5EF4-FFF2-40B4-BE49-F238E27FC236}">
                <a16:creationId xmlns:a16="http://schemas.microsoft.com/office/drawing/2014/main" id="{49BCE0D5-049E-4211-A7A1-6BB1F703985B}"/>
              </a:ext>
            </a:extLst>
          </p:cNvPr>
          <p:cNvSpPr>
            <a:spLocks noGrp="1"/>
          </p:cNvSpPr>
          <p:nvPr/>
        </p:nvSpPr>
        <p:spPr>
          <a:xfrm>
            <a:off x="16821150" y="1676400"/>
            <a:ext cx="685800" cy="190500"/>
          </a:xfrm>
          <a:prstGeom prst="rect">
            <a:avLst/>
          </a:prstGeom>
        </p:spPr>
        <p:txBody>
          <a:bodyPr lIns="0" tIns="0" rIns="0" bIns="0"/>
          <a:lstStyle/>
          <a:p>
            <a:pPr>
              <a:defRPr sz="1350" b="0" i="0">
                <a:solidFill>
                  <a:srgbClr val="7A8793"/>
                </a:solidFill>
              </a:defRPr>
            </a:pPr>
            <a:r>
              <a:rPr sz="1350" b="0" i="0">
                <a:solidFill>
                  <a:srgbClr val="7A8793"/>
                </a:solidFill>
              </a:rPr>
              <a:t>03</a:t>
            </a:r>
          </a:p>
        </p:txBody>
      </p:sp>
      <p:sp>
        <p:nvSpPr>
          <p:cNvPr id="10" name="title-rule">
            <a:extLst>
              <a:ext uri="{FF2B5EF4-FFF2-40B4-BE49-F238E27FC236}">
                <a16:creationId xmlns:a16="http://schemas.microsoft.com/office/drawing/2014/main" id="{0D39C3D2-DF48-43A7-BF0E-7ABD6EF9AC5B}"/>
              </a:ext>
            </a:extLst>
          </p:cNvPr>
          <p:cNvSpPr>
            <a:spLocks noGrp="1"/>
          </p:cNvSpPr>
          <p:nvPr/>
        </p:nvSpPr>
        <p:spPr>
          <a:xfrm>
            <a:off x="781050" y="2133600"/>
            <a:ext cx="16725900" cy="19050"/>
          </a:xfrm>
          <a:prstGeom prst="rect">
            <a:avLst/>
          </a:prstGeom>
          <a:solidFill>
            <a:srgbClr val="D9E0DF"/>
          </a:solidFill>
          <a:ln w="0">
            <a:solidFill>
              <a:srgbClr val="D9E0DF"/>
            </a:solidFill>
            <a:prstDash val="solid"/>
          </a:ln>
        </p:spPr>
        <p:txBody>
          <a:bodyPr/>
          <a:lstStyle/>
          <a:p>
            <a:endParaRPr lang="en-DE"/>
          </a:p>
        </p:txBody>
      </p:sp>
      <p:sp>
        <p:nvSpPr>
          <p:cNvPr id="11" name="Rectangle 10">
            <a:extLst>
              <a:ext uri="{FF2B5EF4-FFF2-40B4-BE49-F238E27FC236}">
                <a16:creationId xmlns:a16="http://schemas.microsoft.com/office/drawing/2014/main" id="{E271E256-729A-4E44-B613-0AD4755B5F0F}"/>
              </a:ext>
            </a:extLst>
          </p:cNvPr>
          <p:cNvSpPr>
            <a:spLocks noGrp="1"/>
          </p:cNvSpPr>
          <p:nvPr/>
        </p:nvSpPr>
        <p:spPr>
          <a:xfrm>
            <a:off x="781050" y="3962400"/>
            <a:ext cx="8324850" cy="247650"/>
          </a:xfrm>
          <a:prstGeom prst="rect">
            <a:avLst/>
          </a:prstGeom>
        </p:spPr>
        <p:txBody>
          <a:bodyPr lIns="0" tIns="0" rIns="0" bIns="0"/>
          <a:lstStyle/>
          <a:p>
            <a:pPr>
              <a:defRPr sz="1575" b="1" i="0">
                <a:solidFill>
                  <a:srgbClr val="B63A33"/>
                </a:solidFill>
              </a:defRPr>
            </a:pPr>
            <a:r>
              <a:rPr sz="1575" b="1" i="0">
                <a:solidFill>
                  <a:srgbClr val="B63A33"/>
                </a:solidFill>
              </a:rPr>
              <a:t>Research question</a:t>
            </a:r>
          </a:p>
        </p:txBody>
      </p:sp>
      <p:sp>
        <p:nvSpPr>
          <p:cNvPr id="12" name="Rectangle 11">
            <a:extLst>
              <a:ext uri="{FF2B5EF4-FFF2-40B4-BE49-F238E27FC236}">
                <a16:creationId xmlns:a16="http://schemas.microsoft.com/office/drawing/2014/main" id="{F8C22BDC-48A2-49AD-9DF4-05A0A7F72500}"/>
              </a:ext>
            </a:extLst>
          </p:cNvPr>
          <p:cNvSpPr>
            <a:spLocks noGrp="1"/>
          </p:cNvSpPr>
          <p:nvPr/>
        </p:nvSpPr>
        <p:spPr>
          <a:xfrm>
            <a:off x="781050" y="4438650"/>
            <a:ext cx="8324850" cy="1657350"/>
          </a:xfrm>
          <a:prstGeom prst="rect">
            <a:avLst/>
          </a:prstGeom>
        </p:spPr>
        <p:txBody>
          <a:bodyPr lIns="0" tIns="0" rIns="0" bIns="0"/>
          <a:lstStyle/>
          <a:p>
            <a:pPr>
              <a:defRPr sz="3600" b="1" i="0">
                <a:solidFill>
                  <a:srgbClr val="172026"/>
                </a:solidFill>
              </a:defRPr>
            </a:pPr>
            <a:r>
              <a:rPr sz="3600" b="1" i="0">
                <a:solidFill>
                  <a:srgbClr val="172026"/>
                </a:solidFill>
              </a:rPr>
              <a:t>When a choir sings together over the internet, can we put a number on how well coordinated they are?</a:t>
            </a:r>
          </a:p>
        </p:txBody>
      </p:sp>
      <p:sp>
        <p:nvSpPr>
          <p:cNvPr id="13" name="Rectangle: Rounded Corners 12">
            <a:extLst>
              <a:ext uri="{FF2B5EF4-FFF2-40B4-BE49-F238E27FC236}">
                <a16:creationId xmlns:a16="http://schemas.microsoft.com/office/drawing/2014/main" id="{AAC0C9FE-EA7F-47E7-BC25-B44E1DD8EFF6}"/>
              </a:ext>
            </a:extLst>
          </p:cNvPr>
          <p:cNvSpPr>
            <a:spLocks noGrp="1"/>
          </p:cNvSpPr>
          <p:nvPr/>
        </p:nvSpPr>
        <p:spPr>
          <a:xfrm>
            <a:off x="781050" y="6339840"/>
            <a:ext cx="8326184" cy="1836420"/>
          </a:xfrm>
          <a:prstGeom prst="roundRect">
            <a:avLst>
              <a:gd name="adj" fmla="val 9336"/>
            </a:avLst>
          </a:prstGeom>
          <a:solidFill>
            <a:srgbClr val="FFFFFF"/>
          </a:solidFill>
        </p:spPr>
        <p:txBody>
          <a:bodyPr/>
          <a:lstStyle/>
          <a:p>
            <a:endParaRPr lang="en-DE"/>
          </a:p>
        </p:txBody>
      </p:sp>
      <p:sp>
        <p:nvSpPr>
          <p:cNvPr id="14" name="Rectangle 13">
            <a:extLst>
              <a:ext uri="{FF2B5EF4-FFF2-40B4-BE49-F238E27FC236}">
                <a16:creationId xmlns:a16="http://schemas.microsoft.com/office/drawing/2014/main" id="{604DFBD9-530A-412C-A6F2-BFED34E1E6C1}"/>
              </a:ext>
            </a:extLst>
          </p:cNvPr>
          <p:cNvSpPr>
            <a:spLocks noGrp="1"/>
          </p:cNvSpPr>
          <p:nvPr/>
        </p:nvSpPr>
        <p:spPr>
          <a:xfrm>
            <a:off x="1009650" y="6572250"/>
            <a:ext cx="7867650" cy="285750"/>
          </a:xfrm>
          <a:prstGeom prst="rect">
            <a:avLst/>
          </a:prstGeom>
        </p:spPr>
        <p:txBody>
          <a:bodyPr lIns="0" tIns="0" rIns="0" bIns="0"/>
          <a:lstStyle/>
          <a:p>
            <a:pPr>
              <a:defRPr sz="1800" b="1" i="0">
                <a:solidFill>
                  <a:srgbClr val="172026"/>
                </a:solidFill>
              </a:defRPr>
            </a:pPr>
            <a:r>
              <a:rPr sz="1800" b="1" i="0">
                <a:solidFill>
                  <a:srgbClr val="172026"/>
                </a:solidFill>
              </a:rPr>
              <a:t>Where this comes from</a:t>
            </a:r>
          </a:p>
        </p:txBody>
      </p:sp>
      <p:sp>
        <p:nvSpPr>
          <p:cNvPr id="15" name="Rectangle 14">
            <a:extLst>
              <a:ext uri="{FF2B5EF4-FFF2-40B4-BE49-F238E27FC236}">
                <a16:creationId xmlns:a16="http://schemas.microsoft.com/office/drawing/2014/main" id="{6BAFB530-5835-4B3C-ACD1-A868228494B8}"/>
              </a:ext>
            </a:extLst>
          </p:cNvPr>
          <p:cNvSpPr>
            <a:spLocks noGrp="1"/>
          </p:cNvSpPr>
          <p:nvPr/>
        </p:nvSpPr>
        <p:spPr>
          <a:xfrm>
            <a:off x="1009650" y="6934200"/>
            <a:ext cx="7867650" cy="457200"/>
          </a:xfrm>
          <a:prstGeom prst="rect">
            <a:avLst/>
          </a:prstGeom>
        </p:spPr>
        <p:txBody>
          <a:bodyPr lIns="0" tIns="0" rIns="0" bIns="0"/>
          <a:lstStyle/>
          <a:p>
            <a:pPr>
              <a:defRPr sz="1500" b="0" i="0">
                <a:solidFill>
                  <a:srgbClr val="52606D"/>
                </a:solidFill>
              </a:defRPr>
            </a:pPr>
            <a:r>
              <a:rPr sz="1500" b="0" i="0">
                <a:solidFill>
                  <a:srgbClr val="52606D"/>
                </a:solidFill>
              </a:rPr>
              <a:t>NMP studies latency/tool quality. Coordination research studies group flow. Choirs give an objective acoustic outcome.</a:t>
            </a:r>
          </a:p>
        </p:txBody>
      </p:sp>
      <p:sp>
        <p:nvSpPr>
          <p:cNvPr id="16" name="Rectangle 15">
            <a:extLst>
              <a:ext uri="{FF2B5EF4-FFF2-40B4-BE49-F238E27FC236}">
                <a16:creationId xmlns:a16="http://schemas.microsoft.com/office/drawing/2014/main" id="{D6D5368A-7FD3-4A9B-9837-8A9C979EAB14}"/>
              </a:ext>
            </a:extLst>
          </p:cNvPr>
          <p:cNvSpPr>
            <a:spLocks noGrp="1"/>
          </p:cNvSpPr>
          <p:nvPr/>
        </p:nvSpPr>
        <p:spPr>
          <a:xfrm>
            <a:off x="1009650" y="7486650"/>
            <a:ext cx="7867650" cy="457200"/>
          </a:xfrm>
          <a:prstGeom prst="rect">
            <a:avLst/>
          </a:prstGeom>
        </p:spPr>
        <p:txBody>
          <a:bodyPr lIns="0" tIns="0" rIns="0" bIns="0"/>
          <a:lstStyle/>
          <a:p>
            <a:pPr>
              <a:defRPr sz="1500" b="0" i="0">
                <a:solidFill>
                  <a:srgbClr val="52606D"/>
                </a:solidFill>
              </a:defRPr>
            </a:pPr>
            <a:r>
              <a:rPr sz="1500" b="0" i="0">
                <a:solidFill>
                  <a:srgbClr val="52606D"/>
                </a:solidFill>
              </a:rPr>
              <a:t>E(t) adapts Gloor's entanglement idea and Pentland's Honest Signals to choir audio/video; H1-H3 validate the adaptation.</a:t>
            </a:r>
          </a:p>
        </p:txBody>
      </p:sp>
      <p:sp>
        <p:nvSpPr>
          <p:cNvPr id="17" name="Rectangle: Rounded Corners 16">
            <a:extLst>
              <a:ext uri="{FF2B5EF4-FFF2-40B4-BE49-F238E27FC236}">
                <a16:creationId xmlns:a16="http://schemas.microsoft.com/office/drawing/2014/main" id="{CCF50160-5C87-4155-A784-C55AEB51FCAC}"/>
              </a:ext>
            </a:extLst>
          </p:cNvPr>
          <p:cNvSpPr>
            <a:spLocks noGrp="1"/>
          </p:cNvSpPr>
          <p:nvPr/>
        </p:nvSpPr>
        <p:spPr>
          <a:xfrm>
            <a:off x="9507284" y="2419350"/>
            <a:ext cx="7999667" cy="2377440"/>
          </a:xfrm>
          <a:prstGeom prst="roundRect">
            <a:avLst>
              <a:gd name="adj" fmla="val 9615"/>
            </a:avLst>
          </a:prstGeom>
          <a:solidFill>
            <a:srgbClr val="152225"/>
          </a:solidFill>
        </p:spPr>
        <p:txBody>
          <a:bodyPr/>
          <a:lstStyle/>
          <a:p>
            <a:endParaRPr lang="en-DE"/>
          </a:p>
        </p:txBody>
      </p:sp>
      <p:sp>
        <p:nvSpPr>
          <p:cNvPr id="18" name="Rectangle 17">
            <a:extLst>
              <a:ext uri="{FF2B5EF4-FFF2-40B4-BE49-F238E27FC236}">
                <a16:creationId xmlns:a16="http://schemas.microsoft.com/office/drawing/2014/main" id="{2162ECDE-B8E2-4C0D-BE1C-3D339085EAAA}"/>
              </a:ext>
            </a:extLst>
          </p:cNvPr>
          <p:cNvSpPr>
            <a:spLocks noGrp="1"/>
          </p:cNvSpPr>
          <p:nvPr/>
        </p:nvSpPr>
        <p:spPr>
          <a:xfrm>
            <a:off x="9753600" y="2667000"/>
            <a:ext cx="7505700" cy="647700"/>
          </a:xfrm>
          <a:prstGeom prst="rect">
            <a:avLst/>
          </a:prstGeom>
        </p:spPr>
        <p:txBody>
          <a:bodyPr lIns="0" tIns="0" rIns="0" bIns="0"/>
          <a:lstStyle/>
          <a:p>
            <a:pPr>
              <a:defRPr sz="4200" b="1" i="0">
                <a:solidFill>
                  <a:srgbClr val="FFFFFF"/>
                </a:solidFill>
              </a:defRPr>
            </a:pPr>
            <a:r>
              <a:rPr sz="4200" b="1" i="0">
                <a:solidFill>
                  <a:srgbClr val="FFFFFF"/>
                </a:solidFill>
              </a:rPr>
              <a:t>E(t)</a:t>
            </a:r>
          </a:p>
        </p:txBody>
      </p:sp>
      <p:sp>
        <p:nvSpPr>
          <p:cNvPr id="19" name="Rectangle: Rounded Corners 18">
            <a:extLst>
              <a:ext uri="{FF2B5EF4-FFF2-40B4-BE49-F238E27FC236}">
                <a16:creationId xmlns:a16="http://schemas.microsoft.com/office/drawing/2014/main" id="{E62F9ECD-F65B-4AF8-A57B-F02369BB4BDB}"/>
              </a:ext>
            </a:extLst>
          </p:cNvPr>
          <p:cNvSpPr>
            <a:spLocks noGrp="1"/>
          </p:cNvSpPr>
          <p:nvPr/>
        </p:nvSpPr>
        <p:spPr>
          <a:xfrm>
            <a:off x="11575685" y="3478530"/>
            <a:ext cx="1133761" cy="419100"/>
          </a:xfrm>
          <a:prstGeom prst="roundRect">
            <a:avLst>
              <a:gd name="adj" fmla="val 50000"/>
            </a:avLst>
          </a:prstGeom>
          <a:solidFill>
            <a:srgbClr val="DDF1EF"/>
          </a:solidFill>
        </p:spPr>
        <p:txBody>
          <a:bodyPr/>
          <a:lstStyle/>
          <a:p>
            <a:endParaRPr lang="en-DE"/>
          </a:p>
        </p:txBody>
      </p:sp>
      <p:sp>
        <p:nvSpPr>
          <p:cNvPr id="20" name="Rectangle 19">
            <a:extLst>
              <a:ext uri="{FF2B5EF4-FFF2-40B4-BE49-F238E27FC236}">
                <a16:creationId xmlns:a16="http://schemas.microsoft.com/office/drawing/2014/main" id="{2AE9941B-14E2-4415-A157-9319DBB3A45F}"/>
              </a:ext>
            </a:extLst>
          </p:cNvPr>
          <p:cNvSpPr>
            <a:spLocks noGrp="1"/>
          </p:cNvSpPr>
          <p:nvPr/>
        </p:nvSpPr>
        <p:spPr>
          <a:xfrm>
            <a:off x="11753850" y="3581400"/>
            <a:ext cx="800100" cy="228600"/>
          </a:xfrm>
          <a:prstGeom prst="rect">
            <a:avLst/>
          </a:prstGeom>
        </p:spPr>
        <p:txBody>
          <a:bodyPr lIns="0" tIns="0" rIns="0" bIns="0"/>
          <a:lstStyle/>
          <a:p>
            <a:pPr>
              <a:defRPr sz="1500" b="1" i="0">
                <a:solidFill>
                  <a:srgbClr val="007C89"/>
                </a:solidFill>
              </a:defRPr>
            </a:pPr>
            <a:r>
              <a:rPr sz="1500" b="1" i="0">
                <a:solidFill>
                  <a:srgbClr val="007C89"/>
                </a:solidFill>
              </a:rPr>
              <a:t>A(t) audio</a:t>
            </a:r>
          </a:p>
        </p:txBody>
      </p:sp>
      <p:sp>
        <p:nvSpPr>
          <p:cNvPr id="21" name="Rectangle: Rounded Corners 20">
            <a:extLst>
              <a:ext uri="{FF2B5EF4-FFF2-40B4-BE49-F238E27FC236}">
                <a16:creationId xmlns:a16="http://schemas.microsoft.com/office/drawing/2014/main" id="{AF3932C9-BA64-4994-B87A-1C696A372A6A}"/>
              </a:ext>
            </a:extLst>
          </p:cNvPr>
          <p:cNvSpPr>
            <a:spLocks noGrp="1"/>
          </p:cNvSpPr>
          <p:nvPr/>
        </p:nvSpPr>
        <p:spPr>
          <a:xfrm>
            <a:off x="12823746" y="3478530"/>
            <a:ext cx="1139476" cy="419100"/>
          </a:xfrm>
          <a:prstGeom prst="roundRect">
            <a:avLst>
              <a:gd name="adj" fmla="val 50000"/>
            </a:avLst>
          </a:prstGeom>
          <a:solidFill>
            <a:srgbClr val="F5E8CF"/>
          </a:solidFill>
        </p:spPr>
        <p:txBody>
          <a:bodyPr/>
          <a:lstStyle/>
          <a:p>
            <a:endParaRPr lang="en-DE"/>
          </a:p>
        </p:txBody>
      </p:sp>
      <p:sp>
        <p:nvSpPr>
          <p:cNvPr id="22" name="Rectangle 21">
            <a:extLst>
              <a:ext uri="{FF2B5EF4-FFF2-40B4-BE49-F238E27FC236}">
                <a16:creationId xmlns:a16="http://schemas.microsoft.com/office/drawing/2014/main" id="{124A42F2-8E84-4B94-9B5A-621BC4491DD3}"/>
              </a:ext>
            </a:extLst>
          </p:cNvPr>
          <p:cNvSpPr>
            <a:spLocks noGrp="1"/>
          </p:cNvSpPr>
          <p:nvPr/>
        </p:nvSpPr>
        <p:spPr>
          <a:xfrm>
            <a:off x="12992100" y="3581400"/>
            <a:ext cx="800100" cy="228600"/>
          </a:xfrm>
          <a:prstGeom prst="rect">
            <a:avLst/>
          </a:prstGeom>
        </p:spPr>
        <p:txBody>
          <a:bodyPr lIns="0" tIns="0" rIns="0" bIns="0"/>
          <a:lstStyle/>
          <a:p>
            <a:pPr>
              <a:defRPr sz="1500" b="1" i="0">
                <a:solidFill>
                  <a:srgbClr val="C58A23"/>
                </a:solidFill>
              </a:defRPr>
            </a:pPr>
            <a:r>
              <a:rPr sz="1500" b="1" i="0">
                <a:solidFill>
                  <a:srgbClr val="C58A23"/>
                </a:solidFill>
              </a:rPr>
              <a:t>V(t) visual</a:t>
            </a:r>
          </a:p>
        </p:txBody>
      </p:sp>
      <p:sp>
        <p:nvSpPr>
          <p:cNvPr id="23" name="Rectangle: Rounded Corners 22">
            <a:extLst>
              <a:ext uri="{FF2B5EF4-FFF2-40B4-BE49-F238E27FC236}">
                <a16:creationId xmlns:a16="http://schemas.microsoft.com/office/drawing/2014/main" id="{B1E3B343-2D51-4A94-99CF-DD4BB2661CBB}"/>
              </a:ext>
            </a:extLst>
          </p:cNvPr>
          <p:cNvSpPr>
            <a:spLocks noGrp="1"/>
          </p:cNvSpPr>
          <p:nvPr/>
        </p:nvSpPr>
        <p:spPr>
          <a:xfrm>
            <a:off x="14077521" y="3478530"/>
            <a:ext cx="1429179" cy="419100"/>
          </a:xfrm>
          <a:prstGeom prst="roundRect">
            <a:avLst>
              <a:gd name="adj" fmla="val 50000"/>
            </a:avLst>
          </a:prstGeom>
          <a:solidFill>
            <a:srgbClr val="F4DED9"/>
          </a:solidFill>
        </p:spPr>
        <p:txBody>
          <a:bodyPr/>
          <a:lstStyle/>
          <a:p>
            <a:endParaRPr lang="en-DE"/>
          </a:p>
        </p:txBody>
      </p:sp>
      <p:sp>
        <p:nvSpPr>
          <p:cNvPr id="24" name="Rectangle 23">
            <a:extLst>
              <a:ext uri="{FF2B5EF4-FFF2-40B4-BE49-F238E27FC236}">
                <a16:creationId xmlns:a16="http://schemas.microsoft.com/office/drawing/2014/main" id="{8858EF93-B957-46F1-8C93-D5CDE55591B8}"/>
              </a:ext>
            </a:extLst>
          </p:cNvPr>
          <p:cNvSpPr>
            <a:spLocks noGrp="1"/>
          </p:cNvSpPr>
          <p:nvPr/>
        </p:nvSpPr>
        <p:spPr>
          <a:xfrm>
            <a:off x="14249400" y="3581400"/>
            <a:ext cx="1139476" cy="457200"/>
          </a:xfrm>
          <a:prstGeom prst="rect">
            <a:avLst/>
          </a:prstGeom>
        </p:spPr>
        <p:txBody>
          <a:bodyPr lIns="0" tIns="0" rIns="0" bIns="0"/>
          <a:lstStyle/>
          <a:p>
            <a:pPr>
              <a:defRPr sz="1500" b="1" i="0">
                <a:solidFill>
                  <a:srgbClr val="B63A33"/>
                </a:solidFill>
              </a:defRPr>
            </a:pPr>
            <a:r>
              <a:rPr sz="1500" b="1" i="0" dirty="0">
                <a:solidFill>
                  <a:srgbClr val="B63A33"/>
                </a:solidFill>
              </a:rPr>
              <a:t>N(t)</a:t>
            </a:r>
            <a:r>
              <a:rPr lang="en-GB" sz="1500" b="1" dirty="0">
                <a:solidFill>
                  <a:srgbClr val="B63A33"/>
                </a:solidFill>
              </a:rPr>
              <a:t> </a:t>
            </a:r>
            <a:r>
              <a:rPr sz="1500" b="1" i="0" dirty="0">
                <a:solidFill>
                  <a:srgbClr val="B63A33"/>
                </a:solidFill>
              </a:rPr>
              <a:t>network</a:t>
            </a:r>
          </a:p>
        </p:txBody>
      </p:sp>
      <p:sp>
        <p:nvSpPr>
          <p:cNvPr id="25" name="Rectangle 24">
            <a:extLst>
              <a:ext uri="{FF2B5EF4-FFF2-40B4-BE49-F238E27FC236}">
                <a16:creationId xmlns:a16="http://schemas.microsoft.com/office/drawing/2014/main" id="{5937EEEC-8B3D-452B-B72B-A868045E4B4F}"/>
              </a:ext>
            </a:extLst>
          </p:cNvPr>
          <p:cNvSpPr>
            <a:spLocks noGrp="1"/>
          </p:cNvSpPr>
          <p:nvPr/>
        </p:nvSpPr>
        <p:spPr>
          <a:xfrm>
            <a:off x="9753600" y="4305300"/>
            <a:ext cx="7505700" cy="266700"/>
          </a:xfrm>
          <a:prstGeom prst="rect">
            <a:avLst/>
          </a:prstGeom>
        </p:spPr>
        <p:txBody>
          <a:bodyPr lIns="0" tIns="0" rIns="0" bIns="0"/>
          <a:lstStyle/>
          <a:p>
            <a:pPr>
              <a:defRPr sz="1650" b="0" i="0">
                <a:solidFill>
                  <a:srgbClr val="D6E0DF"/>
                </a:solidFill>
              </a:defRPr>
            </a:pPr>
            <a:r>
              <a:rPr sz="1650" b="0" i="0">
                <a:solidFill>
                  <a:srgbClr val="D6E0DF"/>
                </a:solidFill>
              </a:rPr>
              <a:t>A proposed coordination index, not a pre-validated music metric.</a:t>
            </a:r>
          </a:p>
        </p:txBody>
      </p:sp>
      <p:sp>
        <p:nvSpPr>
          <p:cNvPr id="26" name="Rectangle: Rounded Corners 25">
            <a:extLst>
              <a:ext uri="{FF2B5EF4-FFF2-40B4-BE49-F238E27FC236}">
                <a16:creationId xmlns:a16="http://schemas.microsoft.com/office/drawing/2014/main" id="{C9827DF0-C8F7-4CD4-9487-FA1339CA62FA}"/>
              </a:ext>
            </a:extLst>
          </p:cNvPr>
          <p:cNvSpPr>
            <a:spLocks noGrp="1"/>
          </p:cNvSpPr>
          <p:nvPr/>
        </p:nvSpPr>
        <p:spPr>
          <a:xfrm>
            <a:off x="9507284" y="4968240"/>
            <a:ext cx="7999667" cy="857250"/>
          </a:xfrm>
          <a:prstGeom prst="roundRect">
            <a:avLst>
              <a:gd name="adj" fmla="val 20000"/>
            </a:avLst>
          </a:prstGeom>
          <a:solidFill>
            <a:srgbClr val="FFFFFF"/>
          </a:solidFill>
        </p:spPr>
        <p:txBody>
          <a:bodyPr/>
          <a:lstStyle/>
          <a:p>
            <a:endParaRPr lang="en-DE"/>
          </a:p>
        </p:txBody>
      </p:sp>
      <p:sp>
        <p:nvSpPr>
          <p:cNvPr id="27" name="Rectangle: Rounded Corners 26">
            <a:extLst>
              <a:ext uri="{FF2B5EF4-FFF2-40B4-BE49-F238E27FC236}">
                <a16:creationId xmlns:a16="http://schemas.microsoft.com/office/drawing/2014/main" id="{9107F5B8-ADBC-47FD-BA13-C47D3DD862A7}"/>
              </a:ext>
            </a:extLst>
          </p:cNvPr>
          <p:cNvSpPr>
            <a:spLocks noGrp="1"/>
          </p:cNvSpPr>
          <p:nvPr/>
        </p:nvSpPr>
        <p:spPr>
          <a:xfrm>
            <a:off x="9715500" y="5143500"/>
            <a:ext cx="95250" cy="514350"/>
          </a:xfrm>
          <a:prstGeom prst="roundRect">
            <a:avLst>
              <a:gd name="adj" fmla="val 50000"/>
            </a:avLst>
          </a:prstGeom>
          <a:solidFill>
            <a:srgbClr val="007C89"/>
          </a:solidFill>
        </p:spPr>
        <p:txBody>
          <a:bodyPr/>
          <a:lstStyle/>
          <a:p>
            <a:endParaRPr lang="en-DE"/>
          </a:p>
        </p:txBody>
      </p:sp>
      <p:sp>
        <p:nvSpPr>
          <p:cNvPr id="28" name="Rectangle 27">
            <a:extLst>
              <a:ext uri="{FF2B5EF4-FFF2-40B4-BE49-F238E27FC236}">
                <a16:creationId xmlns:a16="http://schemas.microsoft.com/office/drawing/2014/main" id="{F5C634E3-B2DA-4BB7-936C-5EB8FE8A1FF2}"/>
              </a:ext>
            </a:extLst>
          </p:cNvPr>
          <p:cNvSpPr>
            <a:spLocks noGrp="1"/>
          </p:cNvSpPr>
          <p:nvPr/>
        </p:nvSpPr>
        <p:spPr>
          <a:xfrm>
            <a:off x="9944100" y="5257800"/>
            <a:ext cx="457200" cy="266700"/>
          </a:xfrm>
          <a:prstGeom prst="rect">
            <a:avLst/>
          </a:prstGeom>
        </p:spPr>
        <p:txBody>
          <a:bodyPr lIns="0" tIns="0" rIns="0" bIns="0"/>
          <a:lstStyle/>
          <a:p>
            <a:pPr>
              <a:defRPr sz="1800" b="1" i="0">
                <a:solidFill>
                  <a:srgbClr val="007C89"/>
                </a:solidFill>
              </a:defRPr>
            </a:pPr>
            <a:r>
              <a:rPr sz="1800" b="1" i="0">
                <a:solidFill>
                  <a:srgbClr val="007C89"/>
                </a:solidFill>
              </a:rPr>
              <a:t>H1</a:t>
            </a:r>
          </a:p>
        </p:txBody>
      </p:sp>
      <p:sp>
        <p:nvSpPr>
          <p:cNvPr id="29" name="Rectangle 28">
            <a:extLst>
              <a:ext uri="{FF2B5EF4-FFF2-40B4-BE49-F238E27FC236}">
                <a16:creationId xmlns:a16="http://schemas.microsoft.com/office/drawing/2014/main" id="{B70457E7-B53C-4D46-A513-3CD843CE7C73}"/>
              </a:ext>
            </a:extLst>
          </p:cNvPr>
          <p:cNvSpPr>
            <a:spLocks noGrp="1"/>
          </p:cNvSpPr>
          <p:nvPr/>
        </p:nvSpPr>
        <p:spPr>
          <a:xfrm>
            <a:off x="10534650" y="5257800"/>
            <a:ext cx="6762750" cy="266700"/>
          </a:xfrm>
          <a:prstGeom prst="rect">
            <a:avLst/>
          </a:prstGeom>
        </p:spPr>
        <p:txBody>
          <a:bodyPr lIns="0" tIns="0" rIns="0" bIns="0"/>
          <a:lstStyle/>
          <a:p>
            <a:pPr>
              <a:defRPr sz="1800" b="1" i="0">
                <a:solidFill>
                  <a:srgbClr val="172026"/>
                </a:solidFill>
              </a:defRPr>
            </a:pPr>
            <a:r>
              <a:rPr sz="1800" b="1" i="0">
                <a:solidFill>
                  <a:srgbClr val="172026"/>
                </a:solidFill>
              </a:rPr>
              <a:t>Low-latency tools score higher on E(t) than Zoom-class tools.</a:t>
            </a:r>
          </a:p>
        </p:txBody>
      </p:sp>
      <p:sp>
        <p:nvSpPr>
          <p:cNvPr id="30" name="Rectangle: Rounded Corners 29">
            <a:extLst>
              <a:ext uri="{FF2B5EF4-FFF2-40B4-BE49-F238E27FC236}">
                <a16:creationId xmlns:a16="http://schemas.microsoft.com/office/drawing/2014/main" id="{FB1B43A5-01B4-469A-A38E-FEA8840BDB32}"/>
              </a:ext>
            </a:extLst>
          </p:cNvPr>
          <p:cNvSpPr>
            <a:spLocks noGrp="1"/>
          </p:cNvSpPr>
          <p:nvPr/>
        </p:nvSpPr>
        <p:spPr>
          <a:xfrm>
            <a:off x="9507284" y="5996940"/>
            <a:ext cx="7999667" cy="857250"/>
          </a:xfrm>
          <a:prstGeom prst="roundRect">
            <a:avLst>
              <a:gd name="adj" fmla="val 20000"/>
            </a:avLst>
          </a:prstGeom>
          <a:solidFill>
            <a:srgbClr val="FFFFFF"/>
          </a:solidFill>
        </p:spPr>
        <p:txBody>
          <a:bodyPr/>
          <a:lstStyle/>
          <a:p>
            <a:endParaRPr lang="en-DE"/>
          </a:p>
        </p:txBody>
      </p:sp>
      <p:sp>
        <p:nvSpPr>
          <p:cNvPr id="31" name="Rectangle: Rounded Corners 30">
            <a:extLst>
              <a:ext uri="{FF2B5EF4-FFF2-40B4-BE49-F238E27FC236}">
                <a16:creationId xmlns:a16="http://schemas.microsoft.com/office/drawing/2014/main" id="{F78A4A06-F633-40B4-9CB5-0F028BE66C57}"/>
              </a:ext>
            </a:extLst>
          </p:cNvPr>
          <p:cNvSpPr>
            <a:spLocks noGrp="1"/>
          </p:cNvSpPr>
          <p:nvPr/>
        </p:nvSpPr>
        <p:spPr>
          <a:xfrm>
            <a:off x="9715500" y="6172200"/>
            <a:ext cx="95250" cy="514350"/>
          </a:xfrm>
          <a:prstGeom prst="roundRect">
            <a:avLst>
              <a:gd name="adj" fmla="val 50000"/>
            </a:avLst>
          </a:prstGeom>
          <a:solidFill>
            <a:srgbClr val="B63A33"/>
          </a:solidFill>
        </p:spPr>
        <p:txBody>
          <a:bodyPr/>
          <a:lstStyle/>
          <a:p>
            <a:endParaRPr lang="en-DE"/>
          </a:p>
        </p:txBody>
      </p:sp>
      <p:sp>
        <p:nvSpPr>
          <p:cNvPr id="32" name="Rectangle 31">
            <a:extLst>
              <a:ext uri="{FF2B5EF4-FFF2-40B4-BE49-F238E27FC236}">
                <a16:creationId xmlns:a16="http://schemas.microsoft.com/office/drawing/2014/main" id="{5DEF94E6-A3F8-4607-93A0-404FE514B794}"/>
              </a:ext>
            </a:extLst>
          </p:cNvPr>
          <p:cNvSpPr>
            <a:spLocks noGrp="1"/>
          </p:cNvSpPr>
          <p:nvPr/>
        </p:nvSpPr>
        <p:spPr>
          <a:xfrm>
            <a:off x="9944100" y="6286500"/>
            <a:ext cx="457200" cy="266700"/>
          </a:xfrm>
          <a:prstGeom prst="rect">
            <a:avLst/>
          </a:prstGeom>
        </p:spPr>
        <p:txBody>
          <a:bodyPr lIns="0" tIns="0" rIns="0" bIns="0"/>
          <a:lstStyle/>
          <a:p>
            <a:pPr>
              <a:defRPr sz="1800" b="1" i="0">
                <a:solidFill>
                  <a:srgbClr val="B63A33"/>
                </a:solidFill>
              </a:defRPr>
            </a:pPr>
            <a:r>
              <a:rPr sz="1800" b="1" i="0">
                <a:solidFill>
                  <a:srgbClr val="B63A33"/>
                </a:solidFill>
              </a:rPr>
              <a:t>H2</a:t>
            </a:r>
          </a:p>
        </p:txBody>
      </p:sp>
      <p:sp>
        <p:nvSpPr>
          <p:cNvPr id="33" name="Rectangle 32">
            <a:extLst>
              <a:ext uri="{FF2B5EF4-FFF2-40B4-BE49-F238E27FC236}">
                <a16:creationId xmlns:a16="http://schemas.microsoft.com/office/drawing/2014/main" id="{2098284B-F74B-40FF-BF88-D3B596E436F2}"/>
              </a:ext>
            </a:extLst>
          </p:cNvPr>
          <p:cNvSpPr>
            <a:spLocks noGrp="1"/>
          </p:cNvSpPr>
          <p:nvPr/>
        </p:nvSpPr>
        <p:spPr>
          <a:xfrm>
            <a:off x="10534650" y="6286500"/>
            <a:ext cx="6762750" cy="266700"/>
          </a:xfrm>
          <a:prstGeom prst="rect">
            <a:avLst/>
          </a:prstGeom>
        </p:spPr>
        <p:txBody>
          <a:bodyPr lIns="0" tIns="0" rIns="0" bIns="0"/>
          <a:lstStyle/>
          <a:p>
            <a:pPr>
              <a:defRPr sz="1800" b="1" i="0">
                <a:solidFill>
                  <a:srgbClr val="172026"/>
                </a:solidFill>
              </a:defRPr>
            </a:pPr>
            <a:r>
              <a:rPr sz="1800" b="1" i="0">
                <a:solidFill>
                  <a:srgbClr val="172026"/>
                </a:solidFill>
              </a:rPr>
              <a:t>Influence network shifts from democratic to leader-dominated.</a:t>
            </a:r>
          </a:p>
        </p:txBody>
      </p:sp>
      <p:sp>
        <p:nvSpPr>
          <p:cNvPr id="34" name="Rectangle: Rounded Corners 33">
            <a:extLst>
              <a:ext uri="{FF2B5EF4-FFF2-40B4-BE49-F238E27FC236}">
                <a16:creationId xmlns:a16="http://schemas.microsoft.com/office/drawing/2014/main" id="{B18D3659-7B6A-4FF4-AF92-98AC8C207717}"/>
              </a:ext>
            </a:extLst>
          </p:cNvPr>
          <p:cNvSpPr>
            <a:spLocks noGrp="1"/>
          </p:cNvSpPr>
          <p:nvPr/>
        </p:nvSpPr>
        <p:spPr>
          <a:xfrm>
            <a:off x="9507284" y="7025640"/>
            <a:ext cx="7999667" cy="857250"/>
          </a:xfrm>
          <a:prstGeom prst="roundRect">
            <a:avLst>
              <a:gd name="adj" fmla="val 20000"/>
            </a:avLst>
          </a:prstGeom>
          <a:solidFill>
            <a:srgbClr val="FFFFFF"/>
          </a:solidFill>
        </p:spPr>
        <p:txBody>
          <a:bodyPr/>
          <a:lstStyle/>
          <a:p>
            <a:endParaRPr lang="en-DE"/>
          </a:p>
        </p:txBody>
      </p:sp>
      <p:sp>
        <p:nvSpPr>
          <p:cNvPr id="35" name="Rectangle: Rounded Corners 34">
            <a:extLst>
              <a:ext uri="{FF2B5EF4-FFF2-40B4-BE49-F238E27FC236}">
                <a16:creationId xmlns:a16="http://schemas.microsoft.com/office/drawing/2014/main" id="{31614135-03DE-4507-A73D-39B9C284BEB8}"/>
              </a:ext>
            </a:extLst>
          </p:cNvPr>
          <p:cNvSpPr>
            <a:spLocks noGrp="1"/>
          </p:cNvSpPr>
          <p:nvPr/>
        </p:nvSpPr>
        <p:spPr>
          <a:xfrm>
            <a:off x="9715500" y="7200900"/>
            <a:ext cx="95250" cy="514350"/>
          </a:xfrm>
          <a:prstGeom prst="roundRect">
            <a:avLst>
              <a:gd name="adj" fmla="val 50000"/>
            </a:avLst>
          </a:prstGeom>
          <a:solidFill>
            <a:srgbClr val="C58A23"/>
          </a:solidFill>
        </p:spPr>
        <p:txBody>
          <a:bodyPr/>
          <a:lstStyle/>
          <a:p>
            <a:endParaRPr lang="en-DE"/>
          </a:p>
        </p:txBody>
      </p:sp>
      <p:sp>
        <p:nvSpPr>
          <p:cNvPr id="36" name="Rectangle 35">
            <a:extLst>
              <a:ext uri="{FF2B5EF4-FFF2-40B4-BE49-F238E27FC236}">
                <a16:creationId xmlns:a16="http://schemas.microsoft.com/office/drawing/2014/main" id="{E966E909-B873-4DA8-8ABC-2D71ED8C511E}"/>
              </a:ext>
            </a:extLst>
          </p:cNvPr>
          <p:cNvSpPr>
            <a:spLocks noGrp="1"/>
          </p:cNvSpPr>
          <p:nvPr/>
        </p:nvSpPr>
        <p:spPr>
          <a:xfrm>
            <a:off x="9944100" y="7315200"/>
            <a:ext cx="457200" cy="266700"/>
          </a:xfrm>
          <a:prstGeom prst="rect">
            <a:avLst/>
          </a:prstGeom>
        </p:spPr>
        <p:txBody>
          <a:bodyPr lIns="0" tIns="0" rIns="0" bIns="0"/>
          <a:lstStyle/>
          <a:p>
            <a:pPr>
              <a:defRPr sz="1800" b="1" i="0">
                <a:solidFill>
                  <a:srgbClr val="C58A23"/>
                </a:solidFill>
              </a:defRPr>
            </a:pPr>
            <a:r>
              <a:rPr sz="1800" b="1" i="0">
                <a:solidFill>
                  <a:srgbClr val="C58A23"/>
                </a:solidFill>
              </a:rPr>
              <a:t>H3</a:t>
            </a:r>
          </a:p>
        </p:txBody>
      </p:sp>
      <p:sp>
        <p:nvSpPr>
          <p:cNvPr id="37" name="Rectangle 36">
            <a:extLst>
              <a:ext uri="{FF2B5EF4-FFF2-40B4-BE49-F238E27FC236}">
                <a16:creationId xmlns:a16="http://schemas.microsoft.com/office/drawing/2014/main" id="{9BD10F51-3FE3-4F22-B6DE-CA57F1CB5DB2}"/>
              </a:ext>
            </a:extLst>
          </p:cNvPr>
          <p:cNvSpPr>
            <a:spLocks noGrp="1"/>
          </p:cNvSpPr>
          <p:nvPr/>
        </p:nvSpPr>
        <p:spPr>
          <a:xfrm>
            <a:off x="10534650" y="7315200"/>
            <a:ext cx="6762750" cy="266700"/>
          </a:xfrm>
          <a:prstGeom prst="rect">
            <a:avLst/>
          </a:prstGeom>
        </p:spPr>
        <p:txBody>
          <a:bodyPr lIns="0" tIns="0" rIns="0" bIns="0"/>
          <a:lstStyle/>
          <a:p>
            <a:pPr>
              <a:defRPr sz="1800" b="1" i="0">
                <a:solidFill>
                  <a:srgbClr val="172026"/>
                </a:solidFill>
              </a:defRPr>
            </a:pPr>
            <a:r>
              <a:rPr sz="1800" b="1" i="0">
                <a:solidFill>
                  <a:srgbClr val="172026"/>
                </a:solidFill>
              </a:rPr>
              <a:t>Body movement adds measurable explanatory power beyond audio.</a:t>
            </a:r>
          </a:p>
        </p:txBody>
      </p:sp>
    </p:spTree>
    <p:extLst>
      <p:ext uri="{BB962C8B-B14F-4D97-AF65-F5344CB8AC3E}">
        <p14:creationId xmlns:p14="http://schemas.microsoft.com/office/powerpoint/2010/main" val="1523056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bg">
            <a:extLst>
              <a:ext uri="{FF2B5EF4-FFF2-40B4-BE49-F238E27FC236}">
                <a16:creationId xmlns:a16="http://schemas.microsoft.com/office/drawing/2014/main" id="{05E3BF62-2AB7-4BA9-A5B6-C3071D947184}"/>
              </a:ext>
            </a:extLst>
          </p:cNvPr>
          <p:cNvSpPr>
            <a:spLocks noGrp="1"/>
          </p:cNvSpPr>
          <p:nvPr/>
        </p:nvSpPr>
        <p:spPr>
          <a:xfrm>
            <a:off x="0" y="0"/>
            <a:ext cx="18288000" cy="10287000"/>
          </a:xfrm>
          <a:prstGeom prst="rect">
            <a:avLst/>
          </a:prstGeom>
          <a:solidFill>
            <a:srgbClr val="F7F9F8"/>
          </a:solidFill>
        </p:spPr>
        <p:txBody>
          <a:bodyPr/>
          <a:lstStyle/>
          <a:p>
            <a:endParaRPr lang="en-DE"/>
          </a:p>
        </p:txBody>
      </p:sp>
      <p:sp>
        <p:nvSpPr>
          <p:cNvPr id="2" name="Rectangle 1">
            <a:extLst>
              <a:ext uri="{FF2B5EF4-FFF2-40B4-BE49-F238E27FC236}">
                <a16:creationId xmlns:a16="http://schemas.microsoft.com/office/drawing/2014/main" id="{16950560-4E4C-478F-AA37-F4E05C3E5387}"/>
              </a:ext>
            </a:extLst>
          </p:cNvPr>
          <p:cNvSpPr>
            <a:spLocks noGrp="1"/>
          </p:cNvSpPr>
          <p:nvPr/>
        </p:nvSpPr>
        <p:spPr>
          <a:xfrm>
            <a:off x="0" y="0"/>
            <a:ext cx="4572000" cy="10287000"/>
          </a:xfrm>
          <a:prstGeom prst="rect">
            <a:avLst/>
          </a:prstGeom>
          <a:solidFill>
            <a:srgbClr val="FFFFFF"/>
          </a:solidFill>
        </p:spPr>
        <p:txBody>
          <a:bodyPr/>
          <a:lstStyle/>
          <a:p>
            <a:endParaRPr lang="en-DE"/>
          </a:p>
        </p:txBody>
      </p:sp>
      <p:sp>
        <p:nvSpPr>
          <p:cNvPr id="3" name="Rectangle 2">
            <a:extLst>
              <a:ext uri="{FF2B5EF4-FFF2-40B4-BE49-F238E27FC236}">
                <a16:creationId xmlns:a16="http://schemas.microsoft.com/office/drawing/2014/main" id="{E45D2C9A-21DA-414A-829F-4E93B6AC249A}"/>
              </a:ext>
            </a:extLst>
          </p:cNvPr>
          <p:cNvSpPr>
            <a:spLocks noGrp="1"/>
          </p:cNvSpPr>
          <p:nvPr/>
        </p:nvSpPr>
        <p:spPr>
          <a:xfrm>
            <a:off x="4572000" y="0"/>
            <a:ext cx="4572000" cy="10287000"/>
          </a:xfrm>
          <a:prstGeom prst="rect">
            <a:avLst/>
          </a:prstGeom>
          <a:solidFill>
            <a:srgbClr val="F3F7F7"/>
          </a:solidFill>
        </p:spPr>
        <p:txBody>
          <a:bodyPr/>
          <a:lstStyle/>
          <a:p>
            <a:endParaRPr lang="en-DE"/>
          </a:p>
        </p:txBody>
      </p:sp>
      <p:sp>
        <p:nvSpPr>
          <p:cNvPr id="4" name="Rectangle 3">
            <a:extLst>
              <a:ext uri="{FF2B5EF4-FFF2-40B4-BE49-F238E27FC236}">
                <a16:creationId xmlns:a16="http://schemas.microsoft.com/office/drawing/2014/main" id="{8FE798D9-1EDB-4140-AE80-9E234F9239D6}"/>
              </a:ext>
            </a:extLst>
          </p:cNvPr>
          <p:cNvSpPr>
            <a:spLocks noGrp="1"/>
          </p:cNvSpPr>
          <p:nvPr/>
        </p:nvSpPr>
        <p:spPr>
          <a:xfrm>
            <a:off x="9144000" y="0"/>
            <a:ext cx="4572000" cy="10287000"/>
          </a:xfrm>
          <a:prstGeom prst="rect">
            <a:avLst/>
          </a:prstGeom>
          <a:solidFill>
            <a:srgbClr val="FAF9F4"/>
          </a:solidFill>
        </p:spPr>
        <p:txBody>
          <a:bodyPr/>
          <a:lstStyle/>
          <a:p>
            <a:endParaRPr lang="en-DE"/>
          </a:p>
        </p:txBody>
      </p:sp>
      <p:sp>
        <p:nvSpPr>
          <p:cNvPr id="5" name="Rectangle 4">
            <a:extLst>
              <a:ext uri="{FF2B5EF4-FFF2-40B4-BE49-F238E27FC236}">
                <a16:creationId xmlns:a16="http://schemas.microsoft.com/office/drawing/2014/main" id="{5F651EDF-D129-4AED-8571-4F1D2017CAC7}"/>
              </a:ext>
            </a:extLst>
          </p:cNvPr>
          <p:cNvSpPr>
            <a:spLocks noGrp="1"/>
          </p:cNvSpPr>
          <p:nvPr/>
        </p:nvSpPr>
        <p:spPr>
          <a:xfrm>
            <a:off x="13716000" y="0"/>
            <a:ext cx="4572000" cy="10287000"/>
          </a:xfrm>
          <a:prstGeom prst="rect">
            <a:avLst/>
          </a:prstGeom>
          <a:solidFill>
            <a:srgbClr val="F6F8FA"/>
          </a:solidFill>
        </p:spPr>
        <p:txBody>
          <a:bodyPr/>
          <a:lstStyle/>
          <a:p>
            <a:endParaRPr lang="en-DE"/>
          </a:p>
        </p:txBody>
      </p:sp>
      <p:sp>
        <p:nvSpPr>
          <p:cNvPr id="6" name="Oval 5">
            <a:extLst>
              <a:ext uri="{FF2B5EF4-FFF2-40B4-BE49-F238E27FC236}">
                <a16:creationId xmlns:a16="http://schemas.microsoft.com/office/drawing/2014/main" id="{72E789B1-BAA0-4F43-B1F4-1825CBA1ECD7}"/>
              </a:ext>
            </a:extLst>
          </p:cNvPr>
          <p:cNvSpPr>
            <a:spLocks noGrp="1"/>
          </p:cNvSpPr>
          <p:nvPr/>
        </p:nvSpPr>
        <p:spPr>
          <a:xfrm>
            <a:off x="781050" y="895350"/>
            <a:ext cx="114300" cy="114300"/>
          </a:xfrm>
          <a:prstGeom prst="ellipse">
            <a:avLst/>
          </a:prstGeom>
          <a:solidFill>
            <a:srgbClr val="007C89"/>
          </a:solidFill>
        </p:spPr>
        <p:txBody>
          <a:bodyPr/>
          <a:lstStyle/>
          <a:p>
            <a:endParaRPr lang="en-DE"/>
          </a:p>
        </p:txBody>
      </p:sp>
      <p:sp>
        <p:nvSpPr>
          <p:cNvPr id="7" name="Rectangle 6">
            <a:extLst>
              <a:ext uri="{FF2B5EF4-FFF2-40B4-BE49-F238E27FC236}">
                <a16:creationId xmlns:a16="http://schemas.microsoft.com/office/drawing/2014/main" id="{BD22B8F5-DF08-4F3C-BAB3-9AD16AF828ED}"/>
              </a:ext>
            </a:extLst>
          </p:cNvPr>
          <p:cNvSpPr>
            <a:spLocks noGrp="1"/>
          </p:cNvSpPr>
          <p:nvPr/>
        </p:nvSpPr>
        <p:spPr>
          <a:xfrm>
            <a:off x="990600" y="762000"/>
            <a:ext cx="1219200" cy="381000"/>
          </a:xfrm>
          <a:prstGeom prst="rect">
            <a:avLst/>
          </a:prstGeom>
        </p:spPr>
        <p:txBody>
          <a:bodyPr lIns="0" tIns="0" rIns="0" bIns="0"/>
          <a:lstStyle/>
          <a:p>
            <a:pPr>
              <a:defRPr sz="1200" b="1" i="0">
                <a:solidFill>
                  <a:srgbClr val="7A8793"/>
                </a:solidFill>
              </a:defRPr>
            </a:pPr>
            <a:r>
              <a:rPr sz="1200" b="1" i="0">
                <a:solidFill>
                  <a:srgbClr val="7A8793"/>
                </a:solidFill>
              </a:rPr>
              <a:t>DATASET STRATEGY</a:t>
            </a:r>
          </a:p>
        </p:txBody>
      </p:sp>
      <p:sp>
        <p:nvSpPr>
          <p:cNvPr id="8" name="slide-title">
            <a:extLst>
              <a:ext uri="{FF2B5EF4-FFF2-40B4-BE49-F238E27FC236}">
                <a16:creationId xmlns:a16="http://schemas.microsoft.com/office/drawing/2014/main" id="{84986D37-7C3C-4448-9A15-B712CED4CBDE}"/>
              </a:ext>
            </a:extLst>
          </p:cNvPr>
          <p:cNvSpPr>
            <a:spLocks noGrp="1"/>
          </p:cNvSpPr>
          <p:nvPr/>
        </p:nvSpPr>
        <p:spPr>
          <a:xfrm>
            <a:off x="781050" y="1219200"/>
            <a:ext cx="16040100" cy="552450"/>
          </a:xfrm>
          <a:prstGeom prst="rect">
            <a:avLst/>
          </a:prstGeom>
        </p:spPr>
        <p:txBody>
          <a:bodyPr lIns="0" tIns="0" rIns="0" bIns="0"/>
          <a:lstStyle/>
          <a:p>
            <a:pPr>
              <a:defRPr sz="3600" b="1" i="0">
                <a:solidFill>
                  <a:srgbClr val="172026"/>
                </a:solidFill>
              </a:defRPr>
            </a:pPr>
            <a:r>
              <a:rPr sz="3600" b="1" i="0">
                <a:solidFill>
                  <a:srgbClr val="172026"/>
                </a:solidFill>
              </a:rPr>
              <a:t>Four levels, four different jobs</a:t>
            </a:r>
          </a:p>
        </p:txBody>
      </p:sp>
      <p:sp>
        <p:nvSpPr>
          <p:cNvPr id="9" name="Rectangle 8">
            <a:extLst>
              <a:ext uri="{FF2B5EF4-FFF2-40B4-BE49-F238E27FC236}">
                <a16:creationId xmlns:a16="http://schemas.microsoft.com/office/drawing/2014/main" id="{5D4FD0DF-135E-49D2-A7A8-67CB06CA2125}"/>
              </a:ext>
            </a:extLst>
          </p:cNvPr>
          <p:cNvSpPr>
            <a:spLocks noGrp="1"/>
          </p:cNvSpPr>
          <p:nvPr/>
        </p:nvSpPr>
        <p:spPr>
          <a:xfrm>
            <a:off x="16821150" y="1581150"/>
            <a:ext cx="685800" cy="190500"/>
          </a:xfrm>
          <a:prstGeom prst="rect">
            <a:avLst/>
          </a:prstGeom>
        </p:spPr>
        <p:txBody>
          <a:bodyPr lIns="0" tIns="0" rIns="0" bIns="0"/>
          <a:lstStyle/>
          <a:p>
            <a:pPr>
              <a:defRPr sz="1350" b="0" i="0">
                <a:solidFill>
                  <a:srgbClr val="7A8793"/>
                </a:solidFill>
              </a:defRPr>
            </a:pPr>
            <a:r>
              <a:rPr sz="1350" b="0" i="0">
                <a:solidFill>
                  <a:srgbClr val="7A8793"/>
                </a:solidFill>
              </a:rPr>
              <a:t>04</a:t>
            </a:r>
          </a:p>
        </p:txBody>
      </p:sp>
      <p:sp>
        <p:nvSpPr>
          <p:cNvPr id="10" name="title-rule">
            <a:extLst>
              <a:ext uri="{FF2B5EF4-FFF2-40B4-BE49-F238E27FC236}">
                <a16:creationId xmlns:a16="http://schemas.microsoft.com/office/drawing/2014/main" id="{8D6A576B-A01B-48A0-9DBC-07885C3C04E5}"/>
              </a:ext>
            </a:extLst>
          </p:cNvPr>
          <p:cNvSpPr>
            <a:spLocks noGrp="1"/>
          </p:cNvSpPr>
          <p:nvPr/>
        </p:nvSpPr>
        <p:spPr>
          <a:xfrm>
            <a:off x="781050" y="1962150"/>
            <a:ext cx="16725900" cy="19050"/>
          </a:xfrm>
          <a:prstGeom prst="rect">
            <a:avLst/>
          </a:prstGeom>
          <a:solidFill>
            <a:srgbClr val="D9E0DF"/>
          </a:solidFill>
          <a:ln w="0">
            <a:solidFill>
              <a:srgbClr val="D9E0DF"/>
            </a:solidFill>
            <a:prstDash val="solid"/>
          </a:ln>
        </p:spPr>
        <p:txBody>
          <a:bodyPr/>
          <a:lstStyle/>
          <a:p>
            <a:endParaRPr lang="en-DE"/>
          </a:p>
        </p:txBody>
      </p:sp>
      <p:sp>
        <p:nvSpPr>
          <p:cNvPr id="11" name="Rectangle: Rounded Corners 10">
            <a:extLst>
              <a:ext uri="{FF2B5EF4-FFF2-40B4-BE49-F238E27FC236}">
                <a16:creationId xmlns:a16="http://schemas.microsoft.com/office/drawing/2014/main" id="{57FEBE92-A888-4468-805F-44E3D9A1753A}"/>
              </a:ext>
            </a:extLst>
          </p:cNvPr>
          <p:cNvSpPr>
            <a:spLocks noGrp="1"/>
          </p:cNvSpPr>
          <p:nvPr/>
        </p:nvSpPr>
        <p:spPr>
          <a:xfrm>
            <a:off x="781050" y="2171700"/>
            <a:ext cx="2549938" cy="419100"/>
          </a:xfrm>
          <a:prstGeom prst="roundRect">
            <a:avLst>
              <a:gd name="adj" fmla="val 50000"/>
            </a:avLst>
          </a:prstGeom>
          <a:solidFill>
            <a:srgbClr val="E4F3F2"/>
          </a:solidFill>
        </p:spPr>
        <p:txBody>
          <a:bodyPr/>
          <a:lstStyle/>
          <a:p>
            <a:endParaRPr lang="en-DE"/>
          </a:p>
        </p:txBody>
      </p:sp>
      <p:sp>
        <p:nvSpPr>
          <p:cNvPr id="12" name="Rectangle 11">
            <a:extLst>
              <a:ext uri="{FF2B5EF4-FFF2-40B4-BE49-F238E27FC236}">
                <a16:creationId xmlns:a16="http://schemas.microsoft.com/office/drawing/2014/main" id="{5731197B-8B8F-4316-BA11-07C1EF41011C}"/>
              </a:ext>
            </a:extLst>
          </p:cNvPr>
          <p:cNvSpPr>
            <a:spLocks noGrp="1"/>
          </p:cNvSpPr>
          <p:nvPr/>
        </p:nvSpPr>
        <p:spPr>
          <a:xfrm>
            <a:off x="952500" y="2266950"/>
            <a:ext cx="2209800" cy="228600"/>
          </a:xfrm>
          <a:prstGeom prst="rect">
            <a:avLst/>
          </a:prstGeom>
        </p:spPr>
        <p:txBody>
          <a:bodyPr lIns="0" tIns="0" rIns="0" bIns="0"/>
          <a:lstStyle/>
          <a:p>
            <a:pPr>
              <a:defRPr sz="1500" b="1" i="0">
                <a:solidFill>
                  <a:srgbClr val="007C89"/>
                </a:solidFill>
              </a:defRPr>
            </a:pPr>
            <a:r>
              <a:rPr sz="1500" b="1" i="0">
                <a:solidFill>
                  <a:srgbClr val="007C89"/>
                </a:solidFill>
              </a:rPr>
              <a:t>Tier 1: real-world but messy</a:t>
            </a:r>
          </a:p>
        </p:txBody>
      </p:sp>
      <p:sp>
        <p:nvSpPr>
          <p:cNvPr id="13" name="Rectangle: Rounded Corners 12">
            <a:extLst>
              <a:ext uri="{FF2B5EF4-FFF2-40B4-BE49-F238E27FC236}">
                <a16:creationId xmlns:a16="http://schemas.microsoft.com/office/drawing/2014/main" id="{39BC6051-D32C-4029-AC2F-D96EDE0B57EB}"/>
              </a:ext>
            </a:extLst>
          </p:cNvPr>
          <p:cNvSpPr>
            <a:spLocks noGrp="1"/>
          </p:cNvSpPr>
          <p:nvPr/>
        </p:nvSpPr>
        <p:spPr>
          <a:xfrm>
            <a:off x="3464338" y="2171700"/>
            <a:ext cx="2404491" cy="419100"/>
          </a:xfrm>
          <a:prstGeom prst="roundRect">
            <a:avLst>
              <a:gd name="adj" fmla="val 50000"/>
            </a:avLst>
          </a:prstGeom>
          <a:solidFill>
            <a:srgbClr val="F8EEDB"/>
          </a:solidFill>
        </p:spPr>
        <p:txBody>
          <a:bodyPr/>
          <a:lstStyle/>
          <a:p>
            <a:endParaRPr lang="en-DE"/>
          </a:p>
        </p:txBody>
      </p:sp>
      <p:sp>
        <p:nvSpPr>
          <p:cNvPr id="14" name="Rectangle 13">
            <a:extLst>
              <a:ext uri="{FF2B5EF4-FFF2-40B4-BE49-F238E27FC236}">
                <a16:creationId xmlns:a16="http://schemas.microsoft.com/office/drawing/2014/main" id="{04DAB56B-19C2-4991-ACF7-D5D8745F87B0}"/>
              </a:ext>
            </a:extLst>
          </p:cNvPr>
          <p:cNvSpPr>
            <a:spLocks noGrp="1"/>
          </p:cNvSpPr>
          <p:nvPr/>
        </p:nvSpPr>
        <p:spPr>
          <a:xfrm>
            <a:off x="3638550" y="2266950"/>
            <a:ext cx="2057400" cy="228600"/>
          </a:xfrm>
          <a:prstGeom prst="rect">
            <a:avLst/>
          </a:prstGeom>
        </p:spPr>
        <p:txBody>
          <a:bodyPr lIns="0" tIns="0" rIns="0" bIns="0"/>
          <a:lstStyle/>
          <a:p>
            <a:pPr>
              <a:defRPr sz="1500" b="1" i="0">
                <a:solidFill>
                  <a:srgbClr val="C58A23"/>
                </a:solidFill>
              </a:defRPr>
            </a:pPr>
            <a:r>
              <a:rPr sz="1500" b="1" i="0">
                <a:solidFill>
                  <a:srgbClr val="C58A23"/>
                </a:solidFill>
              </a:rPr>
              <a:t>Tier 2: clean but academic</a:t>
            </a:r>
          </a:p>
        </p:txBody>
      </p:sp>
      <p:sp>
        <p:nvSpPr>
          <p:cNvPr id="15" name="Rectangle: Rounded Corners 14">
            <a:extLst>
              <a:ext uri="{FF2B5EF4-FFF2-40B4-BE49-F238E27FC236}">
                <a16:creationId xmlns:a16="http://schemas.microsoft.com/office/drawing/2014/main" id="{61353596-3AAB-4D42-B476-FA698A204F6B}"/>
              </a:ext>
            </a:extLst>
          </p:cNvPr>
          <p:cNvSpPr>
            <a:spLocks noGrp="1"/>
          </p:cNvSpPr>
          <p:nvPr/>
        </p:nvSpPr>
        <p:spPr>
          <a:xfrm>
            <a:off x="6002179" y="2171700"/>
            <a:ext cx="3124105" cy="419100"/>
          </a:xfrm>
          <a:prstGeom prst="roundRect">
            <a:avLst>
              <a:gd name="adj" fmla="val 50000"/>
            </a:avLst>
          </a:prstGeom>
          <a:solidFill>
            <a:srgbClr val="F7E8E6"/>
          </a:solidFill>
        </p:spPr>
        <p:txBody>
          <a:bodyPr/>
          <a:lstStyle/>
          <a:p>
            <a:endParaRPr lang="en-DE"/>
          </a:p>
        </p:txBody>
      </p:sp>
      <p:sp>
        <p:nvSpPr>
          <p:cNvPr id="16" name="Rectangle 15">
            <a:extLst>
              <a:ext uri="{FF2B5EF4-FFF2-40B4-BE49-F238E27FC236}">
                <a16:creationId xmlns:a16="http://schemas.microsoft.com/office/drawing/2014/main" id="{B43656C1-E348-4D8C-8940-B9BCB48059A9}"/>
              </a:ext>
            </a:extLst>
          </p:cNvPr>
          <p:cNvSpPr>
            <a:spLocks noGrp="1"/>
          </p:cNvSpPr>
          <p:nvPr/>
        </p:nvSpPr>
        <p:spPr>
          <a:xfrm>
            <a:off x="6172200" y="2266950"/>
            <a:ext cx="2781300" cy="228600"/>
          </a:xfrm>
          <a:prstGeom prst="rect">
            <a:avLst/>
          </a:prstGeom>
        </p:spPr>
        <p:txBody>
          <a:bodyPr lIns="0" tIns="0" rIns="0" bIns="0"/>
          <a:lstStyle/>
          <a:p>
            <a:pPr>
              <a:defRPr sz="1500" b="1" i="0">
                <a:solidFill>
                  <a:srgbClr val="B63A33"/>
                </a:solidFill>
              </a:defRPr>
            </a:pPr>
            <a:r>
              <a:rPr sz="1500" b="1" i="0">
                <a:solidFill>
                  <a:srgbClr val="B63A33"/>
                </a:solidFill>
              </a:rPr>
              <a:t>Tier 3: controlled and experimental</a:t>
            </a:r>
          </a:p>
        </p:txBody>
      </p:sp>
      <p:sp>
        <p:nvSpPr>
          <p:cNvPr id="17" name="Rectangle: Rounded Corners 16">
            <a:extLst>
              <a:ext uri="{FF2B5EF4-FFF2-40B4-BE49-F238E27FC236}">
                <a16:creationId xmlns:a16="http://schemas.microsoft.com/office/drawing/2014/main" id="{F997C0CB-E489-41A5-8844-8D8BC1760BBB}"/>
              </a:ext>
            </a:extLst>
          </p:cNvPr>
          <p:cNvSpPr>
            <a:spLocks noGrp="1"/>
          </p:cNvSpPr>
          <p:nvPr/>
        </p:nvSpPr>
        <p:spPr>
          <a:xfrm>
            <a:off x="781050" y="2781300"/>
            <a:ext cx="16725900" cy="1181100"/>
          </a:xfrm>
          <a:prstGeom prst="roundRect">
            <a:avLst>
              <a:gd name="adj" fmla="val 14516"/>
            </a:avLst>
          </a:prstGeom>
          <a:solidFill>
            <a:srgbClr val="FFFFFF"/>
          </a:solidFill>
        </p:spPr>
        <p:txBody>
          <a:bodyPr/>
          <a:lstStyle/>
          <a:p>
            <a:endParaRPr lang="en-DE"/>
          </a:p>
        </p:txBody>
      </p:sp>
      <p:sp>
        <p:nvSpPr>
          <p:cNvPr id="18" name="Rectangle: Rounded Corners 17">
            <a:extLst>
              <a:ext uri="{FF2B5EF4-FFF2-40B4-BE49-F238E27FC236}">
                <a16:creationId xmlns:a16="http://schemas.microsoft.com/office/drawing/2014/main" id="{A4D4CD91-8167-46DC-A06D-918867CF9966}"/>
              </a:ext>
            </a:extLst>
          </p:cNvPr>
          <p:cNvSpPr>
            <a:spLocks noGrp="1"/>
          </p:cNvSpPr>
          <p:nvPr/>
        </p:nvSpPr>
        <p:spPr>
          <a:xfrm>
            <a:off x="990600" y="2971800"/>
            <a:ext cx="514350" cy="76200"/>
          </a:xfrm>
          <a:prstGeom prst="roundRect">
            <a:avLst>
              <a:gd name="adj" fmla="val 50000"/>
            </a:avLst>
          </a:prstGeom>
          <a:solidFill>
            <a:srgbClr val="7A8793"/>
          </a:solidFill>
        </p:spPr>
        <p:txBody>
          <a:bodyPr/>
          <a:lstStyle/>
          <a:p>
            <a:endParaRPr lang="en-DE"/>
          </a:p>
        </p:txBody>
      </p:sp>
      <p:sp>
        <p:nvSpPr>
          <p:cNvPr id="19" name="Rectangle 18">
            <a:extLst>
              <a:ext uri="{FF2B5EF4-FFF2-40B4-BE49-F238E27FC236}">
                <a16:creationId xmlns:a16="http://schemas.microsoft.com/office/drawing/2014/main" id="{5679B5EC-B0C2-469A-B44A-D12B23C1A462}"/>
              </a:ext>
            </a:extLst>
          </p:cNvPr>
          <p:cNvSpPr>
            <a:spLocks noGrp="1"/>
          </p:cNvSpPr>
          <p:nvPr/>
        </p:nvSpPr>
        <p:spPr>
          <a:xfrm>
            <a:off x="990600" y="3105150"/>
            <a:ext cx="1619250" cy="266700"/>
          </a:xfrm>
          <a:prstGeom prst="rect">
            <a:avLst/>
          </a:prstGeom>
        </p:spPr>
        <p:txBody>
          <a:bodyPr lIns="0" tIns="0" rIns="0" bIns="0"/>
          <a:lstStyle/>
          <a:p>
            <a:pPr>
              <a:defRPr sz="1650" b="1" i="0">
                <a:solidFill>
                  <a:srgbClr val="7A8793"/>
                </a:solidFill>
              </a:defRPr>
            </a:pPr>
            <a:r>
              <a:rPr sz="1650" b="1" i="0">
                <a:solidFill>
                  <a:srgbClr val="7A8793"/>
                </a:solidFill>
              </a:rPr>
              <a:t>Tier 0</a:t>
            </a:r>
          </a:p>
        </p:txBody>
      </p:sp>
      <p:sp>
        <p:nvSpPr>
          <p:cNvPr id="20" name="Rectangle 19">
            <a:extLst>
              <a:ext uri="{FF2B5EF4-FFF2-40B4-BE49-F238E27FC236}">
                <a16:creationId xmlns:a16="http://schemas.microsoft.com/office/drawing/2014/main" id="{BB20F604-E5DF-44B9-9884-F5FD9F702221}"/>
              </a:ext>
            </a:extLst>
          </p:cNvPr>
          <p:cNvSpPr>
            <a:spLocks noGrp="1"/>
          </p:cNvSpPr>
          <p:nvPr/>
        </p:nvSpPr>
        <p:spPr>
          <a:xfrm>
            <a:off x="990600" y="3429000"/>
            <a:ext cx="1619250" cy="209550"/>
          </a:xfrm>
          <a:prstGeom prst="rect">
            <a:avLst/>
          </a:prstGeom>
        </p:spPr>
        <p:txBody>
          <a:bodyPr lIns="0" tIns="0" rIns="0" bIns="0"/>
          <a:lstStyle/>
          <a:p>
            <a:pPr>
              <a:defRPr sz="1350" b="0" i="0">
                <a:solidFill>
                  <a:srgbClr val="52606D"/>
                </a:solidFill>
              </a:defRPr>
            </a:pPr>
            <a:r>
              <a:rPr sz="1350" b="0" i="0">
                <a:solidFill>
                  <a:srgbClr val="52606D"/>
                </a:solidFill>
              </a:rPr>
              <a:t>Seed URLs</a:t>
            </a:r>
          </a:p>
        </p:txBody>
      </p:sp>
      <p:sp>
        <p:nvSpPr>
          <p:cNvPr id="21" name="Rectangle 20">
            <a:extLst>
              <a:ext uri="{FF2B5EF4-FFF2-40B4-BE49-F238E27FC236}">
                <a16:creationId xmlns:a16="http://schemas.microsoft.com/office/drawing/2014/main" id="{124AAFDA-C166-4CD8-9141-A98B227D3A93}"/>
              </a:ext>
            </a:extLst>
          </p:cNvPr>
          <p:cNvSpPr>
            <a:spLocks noGrp="1"/>
          </p:cNvSpPr>
          <p:nvPr/>
        </p:nvSpPr>
        <p:spPr>
          <a:xfrm>
            <a:off x="2762250" y="3257550"/>
            <a:ext cx="4819650" cy="228600"/>
          </a:xfrm>
          <a:prstGeom prst="rect">
            <a:avLst/>
          </a:prstGeom>
        </p:spPr>
        <p:txBody>
          <a:bodyPr lIns="0" tIns="0" rIns="0" bIns="0"/>
          <a:lstStyle/>
          <a:p>
            <a:pPr>
              <a:defRPr sz="1500" b="1" i="0">
                <a:solidFill>
                  <a:srgbClr val="172026"/>
                </a:solidFill>
              </a:defRPr>
            </a:pPr>
            <a:r>
              <a:rPr sz="1500" b="1" i="0">
                <a:solidFill>
                  <a:srgbClr val="172026"/>
                </a:solidFill>
              </a:rPr>
              <a:t>5 Jamulus / Choir@Home URLs from Prof. Hacker</a:t>
            </a:r>
          </a:p>
        </p:txBody>
      </p:sp>
      <p:sp>
        <p:nvSpPr>
          <p:cNvPr id="22" name="Rectangle 21">
            <a:extLst>
              <a:ext uri="{FF2B5EF4-FFF2-40B4-BE49-F238E27FC236}">
                <a16:creationId xmlns:a16="http://schemas.microsoft.com/office/drawing/2014/main" id="{B52C463A-AE38-45B1-A03E-1EAA53737AEA}"/>
              </a:ext>
            </a:extLst>
          </p:cNvPr>
          <p:cNvSpPr>
            <a:spLocks noGrp="1"/>
          </p:cNvSpPr>
          <p:nvPr/>
        </p:nvSpPr>
        <p:spPr>
          <a:xfrm>
            <a:off x="7734300" y="3257550"/>
            <a:ext cx="5505450" cy="228600"/>
          </a:xfrm>
          <a:prstGeom prst="rect">
            <a:avLst/>
          </a:prstGeom>
        </p:spPr>
        <p:txBody>
          <a:bodyPr lIns="0" tIns="0" rIns="0" bIns="0"/>
          <a:lstStyle/>
          <a:p>
            <a:pPr>
              <a:defRPr sz="1425" b="0" i="0">
                <a:solidFill>
                  <a:srgbClr val="52606D"/>
                </a:solidFill>
              </a:defRPr>
            </a:pPr>
            <a:r>
              <a:rPr sz="1425" b="0" i="0">
                <a:solidFill>
                  <a:srgbClr val="52606D"/>
                </a:solidFill>
              </a:rPr>
              <a:t>Guide search terms and inclusion rules</a:t>
            </a:r>
          </a:p>
        </p:txBody>
      </p:sp>
      <p:sp>
        <p:nvSpPr>
          <p:cNvPr id="23" name="Rectangle 22">
            <a:extLst>
              <a:ext uri="{FF2B5EF4-FFF2-40B4-BE49-F238E27FC236}">
                <a16:creationId xmlns:a16="http://schemas.microsoft.com/office/drawing/2014/main" id="{DAC44AC8-CAAD-4AE2-892C-958F7B5DB1DA}"/>
              </a:ext>
            </a:extLst>
          </p:cNvPr>
          <p:cNvSpPr>
            <a:spLocks noGrp="1"/>
          </p:cNvSpPr>
          <p:nvPr/>
        </p:nvSpPr>
        <p:spPr>
          <a:xfrm>
            <a:off x="13392150" y="3257550"/>
            <a:ext cx="3905250" cy="228600"/>
          </a:xfrm>
          <a:prstGeom prst="rect">
            <a:avLst/>
          </a:prstGeom>
        </p:spPr>
        <p:txBody>
          <a:bodyPr lIns="0" tIns="0" rIns="0" bIns="0"/>
          <a:lstStyle/>
          <a:p>
            <a:pPr>
              <a:defRPr sz="1425" b="1" i="0">
                <a:solidFill>
                  <a:srgbClr val="172026"/>
                </a:solidFill>
              </a:defRPr>
            </a:pPr>
            <a:r>
              <a:rPr sz="1425" b="1" i="0">
                <a:solidFill>
                  <a:srgbClr val="172026"/>
                </a:solidFill>
              </a:rPr>
              <a:t>Starts the corpus search</a:t>
            </a:r>
          </a:p>
        </p:txBody>
      </p:sp>
      <p:sp>
        <p:nvSpPr>
          <p:cNvPr id="24" name="Rectangle: Rounded Corners 23">
            <a:extLst>
              <a:ext uri="{FF2B5EF4-FFF2-40B4-BE49-F238E27FC236}">
                <a16:creationId xmlns:a16="http://schemas.microsoft.com/office/drawing/2014/main" id="{0CD379AE-CEDB-499B-A770-DB5EAA16BF75}"/>
              </a:ext>
            </a:extLst>
          </p:cNvPr>
          <p:cNvSpPr>
            <a:spLocks noGrp="1"/>
          </p:cNvSpPr>
          <p:nvPr/>
        </p:nvSpPr>
        <p:spPr>
          <a:xfrm>
            <a:off x="781050" y="4038600"/>
            <a:ext cx="16725900" cy="1181100"/>
          </a:xfrm>
          <a:prstGeom prst="roundRect">
            <a:avLst>
              <a:gd name="adj" fmla="val 14516"/>
            </a:avLst>
          </a:prstGeom>
          <a:solidFill>
            <a:srgbClr val="FFFFFF"/>
          </a:solidFill>
        </p:spPr>
        <p:txBody>
          <a:bodyPr/>
          <a:lstStyle/>
          <a:p>
            <a:endParaRPr lang="en-DE"/>
          </a:p>
        </p:txBody>
      </p:sp>
      <p:sp>
        <p:nvSpPr>
          <p:cNvPr id="25" name="Rectangle: Rounded Corners 24">
            <a:extLst>
              <a:ext uri="{FF2B5EF4-FFF2-40B4-BE49-F238E27FC236}">
                <a16:creationId xmlns:a16="http://schemas.microsoft.com/office/drawing/2014/main" id="{E43279D3-E467-4736-B405-2CF33A205C80}"/>
              </a:ext>
            </a:extLst>
          </p:cNvPr>
          <p:cNvSpPr>
            <a:spLocks noGrp="1"/>
          </p:cNvSpPr>
          <p:nvPr/>
        </p:nvSpPr>
        <p:spPr>
          <a:xfrm>
            <a:off x="990600" y="4229100"/>
            <a:ext cx="514350" cy="76200"/>
          </a:xfrm>
          <a:prstGeom prst="roundRect">
            <a:avLst>
              <a:gd name="adj" fmla="val 50000"/>
            </a:avLst>
          </a:prstGeom>
          <a:solidFill>
            <a:srgbClr val="007C89"/>
          </a:solidFill>
        </p:spPr>
        <p:txBody>
          <a:bodyPr/>
          <a:lstStyle/>
          <a:p>
            <a:endParaRPr lang="en-DE"/>
          </a:p>
        </p:txBody>
      </p:sp>
      <p:sp>
        <p:nvSpPr>
          <p:cNvPr id="26" name="Rectangle 25">
            <a:extLst>
              <a:ext uri="{FF2B5EF4-FFF2-40B4-BE49-F238E27FC236}">
                <a16:creationId xmlns:a16="http://schemas.microsoft.com/office/drawing/2014/main" id="{15D08A4D-6779-496D-8DA3-74C293C81C7D}"/>
              </a:ext>
            </a:extLst>
          </p:cNvPr>
          <p:cNvSpPr>
            <a:spLocks noGrp="1"/>
          </p:cNvSpPr>
          <p:nvPr/>
        </p:nvSpPr>
        <p:spPr>
          <a:xfrm>
            <a:off x="990600" y="4362450"/>
            <a:ext cx="1619250" cy="266700"/>
          </a:xfrm>
          <a:prstGeom prst="rect">
            <a:avLst/>
          </a:prstGeom>
        </p:spPr>
        <p:txBody>
          <a:bodyPr lIns="0" tIns="0" rIns="0" bIns="0"/>
          <a:lstStyle/>
          <a:p>
            <a:pPr>
              <a:defRPr sz="1650" b="1" i="0">
                <a:solidFill>
                  <a:srgbClr val="007C89"/>
                </a:solidFill>
              </a:defRPr>
            </a:pPr>
            <a:r>
              <a:rPr sz="1650" b="1" i="0">
                <a:solidFill>
                  <a:srgbClr val="007C89"/>
                </a:solidFill>
              </a:rPr>
              <a:t>Tier 1</a:t>
            </a:r>
          </a:p>
        </p:txBody>
      </p:sp>
      <p:sp>
        <p:nvSpPr>
          <p:cNvPr id="27" name="Rectangle 26">
            <a:extLst>
              <a:ext uri="{FF2B5EF4-FFF2-40B4-BE49-F238E27FC236}">
                <a16:creationId xmlns:a16="http://schemas.microsoft.com/office/drawing/2014/main" id="{DE8CE383-4565-406C-A9E7-8EF3EFEF65D1}"/>
              </a:ext>
            </a:extLst>
          </p:cNvPr>
          <p:cNvSpPr>
            <a:spLocks noGrp="1"/>
          </p:cNvSpPr>
          <p:nvPr/>
        </p:nvSpPr>
        <p:spPr>
          <a:xfrm>
            <a:off x="990600" y="4686300"/>
            <a:ext cx="1619250" cy="209550"/>
          </a:xfrm>
          <a:prstGeom prst="rect">
            <a:avLst/>
          </a:prstGeom>
        </p:spPr>
        <p:txBody>
          <a:bodyPr lIns="0" tIns="0" rIns="0" bIns="0"/>
          <a:lstStyle/>
          <a:p>
            <a:pPr>
              <a:defRPr sz="1350" b="0" i="0">
                <a:solidFill>
                  <a:srgbClr val="52606D"/>
                </a:solidFill>
              </a:defRPr>
            </a:pPr>
            <a:r>
              <a:rPr sz="1350" b="0" i="0">
                <a:solidFill>
                  <a:srgbClr val="52606D"/>
                </a:solidFill>
              </a:rPr>
              <a:t>YouTube virtual choirs</a:t>
            </a:r>
          </a:p>
        </p:txBody>
      </p:sp>
      <p:sp>
        <p:nvSpPr>
          <p:cNvPr id="28" name="Rectangle 27">
            <a:extLst>
              <a:ext uri="{FF2B5EF4-FFF2-40B4-BE49-F238E27FC236}">
                <a16:creationId xmlns:a16="http://schemas.microsoft.com/office/drawing/2014/main" id="{7808AB34-6A7B-43C3-B3C9-61F4583743C9}"/>
              </a:ext>
            </a:extLst>
          </p:cNvPr>
          <p:cNvSpPr>
            <a:spLocks noGrp="1"/>
          </p:cNvSpPr>
          <p:nvPr/>
        </p:nvSpPr>
        <p:spPr>
          <a:xfrm>
            <a:off x="2762250" y="4514850"/>
            <a:ext cx="4819650" cy="228600"/>
          </a:xfrm>
          <a:prstGeom prst="rect">
            <a:avLst/>
          </a:prstGeom>
        </p:spPr>
        <p:txBody>
          <a:bodyPr lIns="0" tIns="0" rIns="0" bIns="0"/>
          <a:lstStyle/>
          <a:p>
            <a:pPr>
              <a:defRPr sz="1500" b="1" i="0">
                <a:solidFill>
                  <a:srgbClr val="172026"/>
                </a:solidFill>
              </a:defRPr>
            </a:pPr>
            <a:r>
              <a:rPr sz="1500" b="1" i="0">
                <a:solidFill>
                  <a:srgbClr val="172026"/>
                </a:solidFill>
              </a:rPr>
              <a:t>20-30 public videos, curated by May 15</a:t>
            </a:r>
          </a:p>
        </p:txBody>
      </p:sp>
      <p:sp>
        <p:nvSpPr>
          <p:cNvPr id="29" name="Rectangle 28">
            <a:extLst>
              <a:ext uri="{FF2B5EF4-FFF2-40B4-BE49-F238E27FC236}">
                <a16:creationId xmlns:a16="http://schemas.microsoft.com/office/drawing/2014/main" id="{72EB9DD5-0A10-4DAE-B754-725C9F8D0B0D}"/>
              </a:ext>
            </a:extLst>
          </p:cNvPr>
          <p:cNvSpPr>
            <a:spLocks noGrp="1"/>
          </p:cNvSpPr>
          <p:nvPr/>
        </p:nvSpPr>
        <p:spPr>
          <a:xfrm>
            <a:off x="7734300" y="4514850"/>
            <a:ext cx="5505450" cy="228600"/>
          </a:xfrm>
          <a:prstGeom prst="rect">
            <a:avLst/>
          </a:prstGeom>
        </p:spPr>
        <p:txBody>
          <a:bodyPr lIns="0" tIns="0" rIns="0" bIns="0"/>
          <a:lstStyle/>
          <a:p>
            <a:pPr>
              <a:defRPr sz="1425" b="0" i="0">
                <a:solidFill>
                  <a:srgbClr val="52606D"/>
                </a:solidFill>
              </a:defRPr>
            </a:pPr>
            <a:r>
              <a:rPr sz="1425" b="0" i="0">
                <a:solidFill>
                  <a:srgbClr val="52606D"/>
                </a:solidFill>
              </a:rPr>
              <a:t>Pose, mouth movement, visible synchrony, ensemble audio</a:t>
            </a:r>
          </a:p>
        </p:txBody>
      </p:sp>
      <p:sp>
        <p:nvSpPr>
          <p:cNvPr id="30" name="Rectangle 29">
            <a:extLst>
              <a:ext uri="{FF2B5EF4-FFF2-40B4-BE49-F238E27FC236}">
                <a16:creationId xmlns:a16="http://schemas.microsoft.com/office/drawing/2014/main" id="{5C2A8F80-3C1B-4382-A47D-5A41BA5CAED7}"/>
              </a:ext>
            </a:extLst>
          </p:cNvPr>
          <p:cNvSpPr>
            <a:spLocks noGrp="1"/>
          </p:cNvSpPr>
          <p:nvPr/>
        </p:nvSpPr>
        <p:spPr>
          <a:xfrm>
            <a:off x="13392150" y="4514850"/>
            <a:ext cx="3905250" cy="228600"/>
          </a:xfrm>
          <a:prstGeom prst="rect">
            <a:avLst/>
          </a:prstGeom>
        </p:spPr>
        <p:txBody>
          <a:bodyPr lIns="0" tIns="0" rIns="0" bIns="0"/>
          <a:lstStyle/>
          <a:p>
            <a:pPr>
              <a:defRPr sz="1425" b="1" i="0">
                <a:solidFill>
                  <a:srgbClr val="172026"/>
                </a:solidFill>
              </a:defRPr>
            </a:pPr>
            <a:r>
              <a:rPr sz="1425" b="1" i="0">
                <a:solidFill>
                  <a:srgbClr val="172026"/>
                </a:solidFill>
              </a:rPr>
              <a:t>Visual coordination / H3 sanity check</a:t>
            </a:r>
          </a:p>
        </p:txBody>
      </p:sp>
      <p:sp>
        <p:nvSpPr>
          <p:cNvPr id="31" name="Rectangle: Rounded Corners 30">
            <a:extLst>
              <a:ext uri="{FF2B5EF4-FFF2-40B4-BE49-F238E27FC236}">
                <a16:creationId xmlns:a16="http://schemas.microsoft.com/office/drawing/2014/main" id="{F5F4EE2D-617D-4380-95A5-F77E3543ABF4}"/>
              </a:ext>
            </a:extLst>
          </p:cNvPr>
          <p:cNvSpPr>
            <a:spLocks noGrp="1"/>
          </p:cNvSpPr>
          <p:nvPr/>
        </p:nvSpPr>
        <p:spPr>
          <a:xfrm>
            <a:off x="781050" y="5295900"/>
            <a:ext cx="16725900" cy="1181100"/>
          </a:xfrm>
          <a:prstGeom prst="roundRect">
            <a:avLst>
              <a:gd name="adj" fmla="val 14516"/>
            </a:avLst>
          </a:prstGeom>
          <a:solidFill>
            <a:srgbClr val="FFFFFF"/>
          </a:solidFill>
        </p:spPr>
        <p:txBody>
          <a:bodyPr/>
          <a:lstStyle/>
          <a:p>
            <a:endParaRPr lang="en-DE"/>
          </a:p>
        </p:txBody>
      </p:sp>
      <p:sp>
        <p:nvSpPr>
          <p:cNvPr id="32" name="Rectangle: Rounded Corners 31">
            <a:extLst>
              <a:ext uri="{FF2B5EF4-FFF2-40B4-BE49-F238E27FC236}">
                <a16:creationId xmlns:a16="http://schemas.microsoft.com/office/drawing/2014/main" id="{18DC90B4-0BF5-4138-A546-C2D71762DA4B}"/>
              </a:ext>
            </a:extLst>
          </p:cNvPr>
          <p:cNvSpPr>
            <a:spLocks noGrp="1"/>
          </p:cNvSpPr>
          <p:nvPr/>
        </p:nvSpPr>
        <p:spPr>
          <a:xfrm>
            <a:off x="990600" y="5486400"/>
            <a:ext cx="514350" cy="76200"/>
          </a:xfrm>
          <a:prstGeom prst="roundRect">
            <a:avLst>
              <a:gd name="adj" fmla="val 50000"/>
            </a:avLst>
          </a:prstGeom>
          <a:solidFill>
            <a:srgbClr val="C58A23"/>
          </a:solidFill>
        </p:spPr>
        <p:txBody>
          <a:bodyPr/>
          <a:lstStyle/>
          <a:p>
            <a:endParaRPr lang="en-DE"/>
          </a:p>
        </p:txBody>
      </p:sp>
      <p:sp>
        <p:nvSpPr>
          <p:cNvPr id="33" name="Rectangle 32">
            <a:extLst>
              <a:ext uri="{FF2B5EF4-FFF2-40B4-BE49-F238E27FC236}">
                <a16:creationId xmlns:a16="http://schemas.microsoft.com/office/drawing/2014/main" id="{79E17F49-9D3E-4D90-9985-2329DA0C7E96}"/>
              </a:ext>
            </a:extLst>
          </p:cNvPr>
          <p:cNvSpPr>
            <a:spLocks noGrp="1"/>
          </p:cNvSpPr>
          <p:nvPr/>
        </p:nvSpPr>
        <p:spPr>
          <a:xfrm>
            <a:off x="990600" y="5619750"/>
            <a:ext cx="1619250" cy="266700"/>
          </a:xfrm>
          <a:prstGeom prst="rect">
            <a:avLst/>
          </a:prstGeom>
        </p:spPr>
        <p:txBody>
          <a:bodyPr lIns="0" tIns="0" rIns="0" bIns="0"/>
          <a:lstStyle/>
          <a:p>
            <a:pPr>
              <a:defRPr sz="1650" b="1" i="0">
                <a:solidFill>
                  <a:srgbClr val="C58A23"/>
                </a:solidFill>
              </a:defRPr>
            </a:pPr>
            <a:r>
              <a:rPr sz="1650" b="1" i="0">
                <a:solidFill>
                  <a:srgbClr val="C58A23"/>
                </a:solidFill>
              </a:rPr>
              <a:t>Tier 2</a:t>
            </a:r>
          </a:p>
        </p:txBody>
      </p:sp>
      <p:sp>
        <p:nvSpPr>
          <p:cNvPr id="34" name="Rectangle 33">
            <a:extLst>
              <a:ext uri="{FF2B5EF4-FFF2-40B4-BE49-F238E27FC236}">
                <a16:creationId xmlns:a16="http://schemas.microsoft.com/office/drawing/2014/main" id="{7E8951D6-523A-44F7-AD0B-9EF9FC279BF5}"/>
              </a:ext>
            </a:extLst>
          </p:cNvPr>
          <p:cNvSpPr>
            <a:spLocks noGrp="1"/>
          </p:cNvSpPr>
          <p:nvPr/>
        </p:nvSpPr>
        <p:spPr>
          <a:xfrm>
            <a:off x="990600" y="5943600"/>
            <a:ext cx="1619250" cy="209550"/>
          </a:xfrm>
          <a:prstGeom prst="rect">
            <a:avLst/>
          </a:prstGeom>
        </p:spPr>
        <p:txBody>
          <a:bodyPr lIns="0" tIns="0" rIns="0" bIns="0"/>
          <a:lstStyle/>
          <a:p>
            <a:pPr>
              <a:defRPr sz="1350" b="0" i="0">
                <a:solidFill>
                  <a:srgbClr val="52606D"/>
                </a:solidFill>
              </a:defRPr>
            </a:pPr>
            <a:r>
              <a:rPr sz="1350" b="0" i="0">
                <a:solidFill>
                  <a:srgbClr val="52606D"/>
                </a:solidFill>
              </a:rPr>
              <a:t>Academic multitrack</a:t>
            </a:r>
          </a:p>
        </p:txBody>
      </p:sp>
      <p:sp>
        <p:nvSpPr>
          <p:cNvPr id="35" name="Rectangle 34">
            <a:extLst>
              <a:ext uri="{FF2B5EF4-FFF2-40B4-BE49-F238E27FC236}">
                <a16:creationId xmlns:a16="http://schemas.microsoft.com/office/drawing/2014/main" id="{D4B48893-19D5-484F-8D29-F8874DDBFF41}"/>
              </a:ext>
            </a:extLst>
          </p:cNvPr>
          <p:cNvSpPr>
            <a:spLocks noGrp="1"/>
          </p:cNvSpPr>
          <p:nvPr/>
        </p:nvSpPr>
        <p:spPr>
          <a:xfrm>
            <a:off x="2762250" y="5772150"/>
            <a:ext cx="4819650" cy="228600"/>
          </a:xfrm>
          <a:prstGeom prst="rect">
            <a:avLst/>
          </a:prstGeom>
        </p:spPr>
        <p:txBody>
          <a:bodyPr lIns="0" tIns="0" rIns="0" bIns="0"/>
          <a:lstStyle/>
          <a:p>
            <a:pPr>
              <a:defRPr sz="1500" b="1" i="0">
                <a:solidFill>
                  <a:srgbClr val="172026"/>
                </a:solidFill>
              </a:defRPr>
            </a:pPr>
            <a:r>
              <a:rPr sz="1500" b="1" i="0">
                <a:solidFill>
                  <a:srgbClr val="172026"/>
                </a:solidFill>
              </a:rPr>
              <a:t>Dagstuhl ChoirSet, ESMUC, ChoralSynth</a:t>
            </a:r>
          </a:p>
        </p:txBody>
      </p:sp>
      <p:sp>
        <p:nvSpPr>
          <p:cNvPr id="36" name="Rectangle 35">
            <a:extLst>
              <a:ext uri="{FF2B5EF4-FFF2-40B4-BE49-F238E27FC236}">
                <a16:creationId xmlns:a16="http://schemas.microsoft.com/office/drawing/2014/main" id="{5ADF3B0D-3744-4D70-8477-4D46A421C2BC}"/>
              </a:ext>
            </a:extLst>
          </p:cNvPr>
          <p:cNvSpPr>
            <a:spLocks noGrp="1"/>
          </p:cNvSpPr>
          <p:nvPr/>
        </p:nvSpPr>
        <p:spPr>
          <a:xfrm>
            <a:off x="7734300" y="5772150"/>
            <a:ext cx="5505450" cy="228600"/>
          </a:xfrm>
          <a:prstGeom prst="rect">
            <a:avLst/>
          </a:prstGeom>
        </p:spPr>
        <p:txBody>
          <a:bodyPr lIns="0" tIns="0" rIns="0" bIns="0"/>
          <a:lstStyle/>
          <a:p>
            <a:pPr>
              <a:defRPr sz="1425" b="0" i="0">
                <a:solidFill>
                  <a:srgbClr val="52606D"/>
                </a:solidFill>
              </a:defRPr>
            </a:pPr>
            <a:r>
              <a:rPr sz="1425" b="0" i="0">
                <a:solidFill>
                  <a:srgbClr val="52606D"/>
                </a:solidFill>
              </a:rPr>
              <a:t>Separate singer tracks for pitch, onsets, Granger influence</a:t>
            </a:r>
          </a:p>
        </p:txBody>
      </p:sp>
      <p:sp>
        <p:nvSpPr>
          <p:cNvPr id="37" name="Rectangle 36">
            <a:extLst>
              <a:ext uri="{FF2B5EF4-FFF2-40B4-BE49-F238E27FC236}">
                <a16:creationId xmlns:a16="http://schemas.microsoft.com/office/drawing/2014/main" id="{3CA6C8DB-1208-45BC-87E6-8F960EC5E896}"/>
              </a:ext>
            </a:extLst>
          </p:cNvPr>
          <p:cNvSpPr>
            <a:spLocks noGrp="1"/>
          </p:cNvSpPr>
          <p:nvPr/>
        </p:nvSpPr>
        <p:spPr>
          <a:xfrm>
            <a:off x="13392150" y="5772150"/>
            <a:ext cx="3905250" cy="228600"/>
          </a:xfrm>
          <a:prstGeom prst="rect">
            <a:avLst/>
          </a:prstGeom>
        </p:spPr>
        <p:txBody>
          <a:bodyPr lIns="0" tIns="0" rIns="0" bIns="0"/>
          <a:lstStyle/>
          <a:p>
            <a:pPr>
              <a:defRPr sz="1425" b="1" i="0">
                <a:solidFill>
                  <a:srgbClr val="172026"/>
                </a:solidFill>
              </a:defRPr>
            </a:pPr>
            <a:r>
              <a:rPr sz="1425" b="1" i="0">
                <a:solidFill>
                  <a:srgbClr val="172026"/>
                </a:solidFill>
              </a:rPr>
              <a:t>A(t), N(t), directed graph</a:t>
            </a:r>
          </a:p>
        </p:txBody>
      </p:sp>
      <p:sp>
        <p:nvSpPr>
          <p:cNvPr id="38" name="Rectangle: Rounded Corners 37">
            <a:extLst>
              <a:ext uri="{FF2B5EF4-FFF2-40B4-BE49-F238E27FC236}">
                <a16:creationId xmlns:a16="http://schemas.microsoft.com/office/drawing/2014/main" id="{5FCC4FE7-0058-4345-A0A3-D5679D6173ED}"/>
              </a:ext>
            </a:extLst>
          </p:cNvPr>
          <p:cNvSpPr>
            <a:spLocks noGrp="1"/>
          </p:cNvSpPr>
          <p:nvPr/>
        </p:nvSpPr>
        <p:spPr>
          <a:xfrm>
            <a:off x="781050" y="6553200"/>
            <a:ext cx="16725900" cy="1181100"/>
          </a:xfrm>
          <a:prstGeom prst="roundRect">
            <a:avLst>
              <a:gd name="adj" fmla="val 14516"/>
            </a:avLst>
          </a:prstGeom>
          <a:solidFill>
            <a:srgbClr val="FFFFFF"/>
          </a:solidFill>
        </p:spPr>
        <p:txBody>
          <a:bodyPr/>
          <a:lstStyle/>
          <a:p>
            <a:endParaRPr lang="en-DE"/>
          </a:p>
        </p:txBody>
      </p:sp>
      <p:sp>
        <p:nvSpPr>
          <p:cNvPr id="39" name="Rectangle: Rounded Corners 38">
            <a:extLst>
              <a:ext uri="{FF2B5EF4-FFF2-40B4-BE49-F238E27FC236}">
                <a16:creationId xmlns:a16="http://schemas.microsoft.com/office/drawing/2014/main" id="{6F37BD18-C1DF-4AAB-8918-F21541248472}"/>
              </a:ext>
            </a:extLst>
          </p:cNvPr>
          <p:cNvSpPr>
            <a:spLocks noGrp="1"/>
          </p:cNvSpPr>
          <p:nvPr/>
        </p:nvSpPr>
        <p:spPr>
          <a:xfrm>
            <a:off x="990600" y="6743700"/>
            <a:ext cx="514350" cy="76200"/>
          </a:xfrm>
          <a:prstGeom prst="roundRect">
            <a:avLst>
              <a:gd name="adj" fmla="val 50000"/>
            </a:avLst>
          </a:prstGeom>
          <a:solidFill>
            <a:srgbClr val="B63A33"/>
          </a:solidFill>
        </p:spPr>
        <p:txBody>
          <a:bodyPr/>
          <a:lstStyle/>
          <a:p>
            <a:endParaRPr lang="en-DE"/>
          </a:p>
        </p:txBody>
      </p:sp>
      <p:sp>
        <p:nvSpPr>
          <p:cNvPr id="40" name="Rectangle 39">
            <a:extLst>
              <a:ext uri="{FF2B5EF4-FFF2-40B4-BE49-F238E27FC236}">
                <a16:creationId xmlns:a16="http://schemas.microsoft.com/office/drawing/2014/main" id="{6C68FE88-08E5-4DB7-8E6A-1931FA1D3F2E}"/>
              </a:ext>
            </a:extLst>
          </p:cNvPr>
          <p:cNvSpPr>
            <a:spLocks noGrp="1"/>
          </p:cNvSpPr>
          <p:nvPr/>
        </p:nvSpPr>
        <p:spPr>
          <a:xfrm>
            <a:off x="990600" y="6877050"/>
            <a:ext cx="1619250" cy="266700"/>
          </a:xfrm>
          <a:prstGeom prst="rect">
            <a:avLst/>
          </a:prstGeom>
        </p:spPr>
        <p:txBody>
          <a:bodyPr lIns="0" tIns="0" rIns="0" bIns="0"/>
          <a:lstStyle/>
          <a:p>
            <a:pPr>
              <a:defRPr sz="1650" b="1" i="0">
                <a:solidFill>
                  <a:srgbClr val="B63A33"/>
                </a:solidFill>
              </a:defRPr>
            </a:pPr>
            <a:r>
              <a:rPr sz="1650" b="1" i="0">
                <a:solidFill>
                  <a:srgbClr val="B63A33"/>
                </a:solidFill>
              </a:rPr>
              <a:t>Tier 3</a:t>
            </a:r>
          </a:p>
        </p:txBody>
      </p:sp>
      <p:sp>
        <p:nvSpPr>
          <p:cNvPr id="41" name="Rectangle 40">
            <a:extLst>
              <a:ext uri="{FF2B5EF4-FFF2-40B4-BE49-F238E27FC236}">
                <a16:creationId xmlns:a16="http://schemas.microsoft.com/office/drawing/2014/main" id="{8BE22062-45AC-4B19-8800-4A524A99506B}"/>
              </a:ext>
            </a:extLst>
          </p:cNvPr>
          <p:cNvSpPr>
            <a:spLocks noGrp="1"/>
          </p:cNvSpPr>
          <p:nvPr/>
        </p:nvSpPr>
        <p:spPr>
          <a:xfrm>
            <a:off x="990600" y="7200900"/>
            <a:ext cx="1619250" cy="209550"/>
          </a:xfrm>
          <a:prstGeom prst="rect">
            <a:avLst/>
          </a:prstGeom>
        </p:spPr>
        <p:txBody>
          <a:bodyPr lIns="0" tIns="0" rIns="0" bIns="0"/>
          <a:lstStyle/>
          <a:p>
            <a:pPr>
              <a:defRPr sz="1350" b="0" i="0">
                <a:solidFill>
                  <a:srgbClr val="52606D"/>
                </a:solidFill>
              </a:defRPr>
            </a:pPr>
            <a:r>
              <a:rPr sz="1350" b="0" i="0">
                <a:solidFill>
                  <a:srgbClr val="52606D"/>
                </a:solidFill>
              </a:rPr>
              <a:t>Latency injection</a:t>
            </a:r>
          </a:p>
        </p:txBody>
      </p:sp>
      <p:sp>
        <p:nvSpPr>
          <p:cNvPr id="42" name="Rectangle 41">
            <a:extLst>
              <a:ext uri="{FF2B5EF4-FFF2-40B4-BE49-F238E27FC236}">
                <a16:creationId xmlns:a16="http://schemas.microsoft.com/office/drawing/2014/main" id="{BD98EF71-347C-4EBF-8273-CDC6852FC9DF}"/>
              </a:ext>
            </a:extLst>
          </p:cNvPr>
          <p:cNvSpPr>
            <a:spLocks noGrp="1"/>
          </p:cNvSpPr>
          <p:nvPr/>
        </p:nvSpPr>
        <p:spPr>
          <a:xfrm>
            <a:off x="2762250" y="7029450"/>
            <a:ext cx="4819650" cy="228600"/>
          </a:xfrm>
          <a:prstGeom prst="rect">
            <a:avLst/>
          </a:prstGeom>
        </p:spPr>
        <p:txBody>
          <a:bodyPr lIns="0" tIns="0" rIns="0" bIns="0"/>
          <a:lstStyle/>
          <a:p>
            <a:pPr>
              <a:defRPr sz="1500" b="1" i="0">
                <a:solidFill>
                  <a:srgbClr val="172026"/>
                </a:solidFill>
              </a:defRPr>
            </a:pPr>
            <a:r>
              <a:rPr sz="1500" b="1" i="0">
                <a:solidFill>
                  <a:srgbClr val="172026"/>
                </a:solidFill>
              </a:rPr>
              <a:t>Artificial Zoom-class / low-latency versions of Tier 2</a:t>
            </a:r>
          </a:p>
        </p:txBody>
      </p:sp>
      <p:sp>
        <p:nvSpPr>
          <p:cNvPr id="43" name="Rectangle 42">
            <a:extLst>
              <a:ext uri="{FF2B5EF4-FFF2-40B4-BE49-F238E27FC236}">
                <a16:creationId xmlns:a16="http://schemas.microsoft.com/office/drawing/2014/main" id="{2887BA2D-958A-436B-BD76-069981DAB282}"/>
              </a:ext>
            </a:extLst>
          </p:cNvPr>
          <p:cNvSpPr>
            <a:spLocks noGrp="1"/>
          </p:cNvSpPr>
          <p:nvPr/>
        </p:nvSpPr>
        <p:spPr>
          <a:xfrm>
            <a:off x="7734300" y="7029450"/>
            <a:ext cx="5505450" cy="228600"/>
          </a:xfrm>
          <a:prstGeom prst="rect">
            <a:avLst/>
          </a:prstGeom>
        </p:spPr>
        <p:txBody>
          <a:bodyPr lIns="0" tIns="0" rIns="0" bIns="0"/>
          <a:lstStyle/>
          <a:p>
            <a:pPr>
              <a:defRPr sz="1425" b="0" i="0">
                <a:solidFill>
                  <a:srgbClr val="52606D"/>
                </a:solidFill>
              </a:defRPr>
            </a:pPr>
            <a:r>
              <a:rPr sz="1425" b="0" i="0">
                <a:solidFill>
                  <a:srgbClr val="52606D"/>
                </a:solidFill>
              </a:rPr>
              <a:t>Add delay, jitter, packet loss, recompute E(t)</a:t>
            </a:r>
          </a:p>
        </p:txBody>
      </p:sp>
      <p:sp>
        <p:nvSpPr>
          <p:cNvPr id="44" name="Rectangle 43">
            <a:extLst>
              <a:ext uri="{FF2B5EF4-FFF2-40B4-BE49-F238E27FC236}">
                <a16:creationId xmlns:a16="http://schemas.microsoft.com/office/drawing/2014/main" id="{B0563DD6-8B46-4F38-8C8D-D18EE20BB56B}"/>
              </a:ext>
            </a:extLst>
          </p:cNvPr>
          <p:cNvSpPr>
            <a:spLocks noGrp="1"/>
          </p:cNvSpPr>
          <p:nvPr/>
        </p:nvSpPr>
        <p:spPr>
          <a:xfrm>
            <a:off x="13392150" y="7029450"/>
            <a:ext cx="3905250" cy="228600"/>
          </a:xfrm>
          <a:prstGeom prst="rect">
            <a:avLst/>
          </a:prstGeom>
        </p:spPr>
        <p:txBody>
          <a:bodyPr lIns="0" tIns="0" rIns="0" bIns="0"/>
          <a:lstStyle/>
          <a:p>
            <a:pPr>
              <a:defRPr sz="1425" b="1" i="0">
                <a:solidFill>
                  <a:srgbClr val="172026"/>
                </a:solidFill>
              </a:defRPr>
            </a:pPr>
            <a:r>
              <a:rPr sz="1425" b="1" i="0">
                <a:solidFill>
                  <a:srgbClr val="172026"/>
                </a:solidFill>
              </a:rPr>
              <a:t>Clean H1 test</a:t>
            </a:r>
          </a:p>
        </p:txBody>
      </p:sp>
      <p:sp>
        <p:nvSpPr>
          <p:cNvPr id="45" name="Rectangle: Rounded Corners 44">
            <a:extLst>
              <a:ext uri="{FF2B5EF4-FFF2-40B4-BE49-F238E27FC236}">
                <a16:creationId xmlns:a16="http://schemas.microsoft.com/office/drawing/2014/main" id="{635D9415-8D65-4E5E-BE30-DF7745846E70}"/>
              </a:ext>
            </a:extLst>
          </p:cNvPr>
          <p:cNvSpPr>
            <a:spLocks noGrp="1"/>
          </p:cNvSpPr>
          <p:nvPr/>
        </p:nvSpPr>
        <p:spPr>
          <a:xfrm>
            <a:off x="781050" y="9159240"/>
            <a:ext cx="16725900" cy="556260"/>
          </a:xfrm>
          <a:prstGeom prst="roundRect">
            <a:avLst>
              <a:gd name="adj" fmla="val 30822"/>
            </a:avLst>
          </a:prstGeom>
          <a:solidFill>
            <a:srgbClr val="172026"/>
          </a:solidFill>
        </p:spPr>
        <p:txBody>
          <a:bodyPr/>
          <a:lstStyle/>
          <a:p>
            <a:endParaRPr lang="en-DE"/>
          </a:p>
        </p:txBody>
      </p:sp>
      <p:sp>
        <p:nvSpPr>
          <p:cNvPr id="46" name="Rectangle 45">
            <a:extLst>
              <a:ext uri="{FF2B5EF4-FFF2-40B4-BE49-F238E27FC236}">
                <a16:creationId xmlns:a16="http://schemas.microsoft.com/office/drawing/2014/main" id="{A3DC8EAA-EE1F-4C07-B6FA-9020CBFFC712}"/>
              </a:ext>
            </a:extLst>
          </p:cNvPr>
          <p:cNvSpPr>
            <a:spLocks noGrp="1"/>
          </p:cNvSpPr>
          <p:nvPr/>
        </p:nvSpPr>
        <p:spPr>
          <a:xfrm>
            <a:off x="1009650" y="9296400"/>
            <a:ext cx="1714500" cy="266700"/>
          </a:xfrm>
          <a:prstGeom prst="rect">
            <a:avLst/>
          </a:prstGeom>
        </p:spPr>
        <p:txBody>
          <a:bodyPr lIns="0" tIns="0" rIns="0" bIns="0"/>
          <a:lstStyle/>
          <a:p>
            <a:pPr>
              <a:defRPr sz="1650" b="1" i="0">
                <a:solidFill>
                  <a:srgbClr val="FFFFFF"/>
                </a:solidFill>
              </a:defRPr>
            </a:pPr>
            <a:r>
              <a:rPr sz="1650" b="1" i="0">
                <a:solidFill>
                  <a:srgbClr val="FFFFFF"/>
                </a:solidFill>
              </a:rPr>
              <a:t>Key limitation</a:t>
            </a:r>
          </a:p>
        </p:txBody>
      </p:sp>
      <p:sp>
        <p:nvSpPr>
          <p:cNvPr id="47" name="Rectangle 46">
            <a:extLst>
              <a:ext uri="{FF2B5EF4-FFF2-40B4-BE49-F238E27FC236}">
                <a16:creationId xmlns:a16="http://schemas.microsoft.com/office/drawing/2014/main" id="{FAC3B514-CC0C-4930-86B4-97D26B419B97}"/>
              </a:ext>
            </a:extLst>
          </p:cNvPr>
          <p:cNvSpPr>
            <a:spLocks noGrp="1"/>
          </p:cNvSpPr>
          <p:nvPr/>
        </p:nvSpPr>
        <p:spPr>
          <a:xfrm>
            <a:off x="2895600" y="9296400"/>
            <a:ext cx="14382750" cy="266700"/>
          </a:xfrm>
          <a:prstGeom prst="rect">
            <a:avLst/>
          </a:prstGeom>
        </p:spPr>
        <p:txBody>
          <a:bodyPr lIns="0" tIns="0" rIns="0" bIns="0"/>
          <a:lstStyle/>
          <a:p>
            <a:pPr>
              <a:defRPr sz="1650" b="0" i="0">
                <a:solidFill>
                  <a:srgbClr val="EAF0EF"/>
                </a:solidFill>
              </a:defRPr>
            </a:pPr>
            <a:r>
              <a:rPr sz="1650" b="0" i="0">
                <a:solidFill>
                  <a:srgbClr val="EAF0EF"/>
                </a:solidFill>
              </a:rPr>
              <a:t>Tier 1 YouTube audio is mixed stereo, so H1 and the influence graph rely on Tier 2 and Tier 3.</a:t>
            </a:r>
          </a:p>
        </p:txBody>
      </p:sp>
    </p:spTree>
    <p:extLst>
      <p:ext uri="{BB962C8B-B14F-4D97-AF65-F5344CB8AC3E}">
        <p14:creationId xmlns:p14="http://schemas.microsoft.com/office/powerpoint/2010/main" val="338840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bg">
            <a:extLst>
              <a:ext uri="{FF2B5EF4-FFF2-40B4-BE49-F238E27FC236}">
                <a16:creationId xmlns:a16="http://schemas.microsoft.com/office/drawing/2014/main" id="{A96706DB-834A-4B45-98FD-AC7624CF62F1}"/>
              </a:ext>
            </a:extLst>
          </p:cNvPr>
          <p:cNvSpPr>
            <a:spLocks noGrp="1"/>
          </p:cNvSpPr>
          <p:nvPr/>
        </p:nvSpPr>
        <p:spPr>
          <a:xfrm>
            <a:off x="0" y="0"/>
            <a:ext cx="18288000" cy="10287000"/>
          </a:xfrm>
          <a:prstGeom prst="rect">
            <a:avLst/>
          </a:prstGeom>
          <a:solidFill>
            <a:srgbClr val="F7F9F8"/>
          </a:solidFill>
        </p:spPr>
        <p:txBody>
          <a:bodyPr/>
          <a:lstStyle/>
          <a:p>
            <a:endParaRPr lang="en-DE"/>
          </a:p>
        </p:txBody>
      </p:sp>
      <p:sp>
        <p:nvSpPr>
          <p:cNvPr id="2" name="Rectangle 1">
            <a:extLst>
              <a:ext uri="{FF2B5EF4-FFF2-40B4-BE49-F238E27FC236}">
                <a16:creationId xmlns:a16="http://schemas.microsoft.com/office/drawing/2014/main" id="{D6825BD9-7941-4867-9569-0CD8F54E822D}"/>
              </a:ext>
            </a:extLst>
          </p:cNvPr>
          <p:cNvSpPr>
            <a:spLocks noGrp="1"/>
          </p:cNvSpPr>
          <p:nvPr/>
        </p:nvSpPr>
        <p:spPr>
          <a:xfrm>
            <a:off x="0" y="0"/>
            <a:ext cx="4572000" cy="10287000"/>
          </a:xfrm>
          <a:prstGeom prst="rect">
            <a:avLst/>
          </a:prstGeom>
          <a:solidFill>
            <a:srgbClr val="FFFFFF"/>
          </a:solidFill>
        </p:spPr>
        <p:txBody>
          <a:bodyPr/>
          <a:lstStyle/>
          <a:p>
            <a:endParaRPr lang="en-DE"/>
          </a:p>
        </p:txBody>
      </p:sp>
      <p:sp>
        <p:nvSpPr>
          <p:cNvPr id="3" name="Rectangle 2">
            <a:extLst>
              <a:ext uri="{FF2B5EF4-FFF2-40B4-BE49-F238E27FC236}">
                <a16:creationId xmlns:a16="http://schemas.microsoft.com/office/drawing/2014/main" id="{4448F3D3-5D27-41B5-A619-9DC547747D73}"/>
              </a:ext>
            </a:extLst>
          </p:cNvPr>
          <p:cNvSpPr>
            <a:spLocks noGrp="1"/>
          </p:cNvSpPr>
          <p:nvPr/>
        </p:nvSpPr>
        <p:spPr>
          <a:xfrm>
            <a:off x="4572000" y="0"/>
            <a:ext cx="4572000" cy="10287000"/>
          </a:xfrm>
          <a:prstGeom prst="rect">
            <a:avLst/>
          </a:prstGeom>
          <a:solidFill>
            <a:srgbClr val="F3F7F7"/>
          </a:solidFill>
        </p:spPr>
        <p:txBody>
          <a:bodyPr/>
          <a:lstStyle/>
          <a:p>
            <a:endParaRPr lang="en-DE"/>
          </a:p>
        </p:txBody>
      </p:sp>
      <p:sp>
        <p:nvSpPr>
          <p:cNvPr id="4" name="Rectangle 3">
            <a:extLst>
              <a:ext uri="{FF2B5EF4-FFF2-40B4-BE49-F238E27FC236}">
                <a16:creationId xmlns:a16="http://schemas.microsoft.com/office/drawing/2014/main" id="{06D01A01-CF03-434F-B570-6F1809864C8A}"/>
              </a:ext>
            </a:extLst>
          </p:cNvPr>
          <p:cNvSpPr>
            <a:spLocks noGrp="1"/>
          </p:cNvSpPr>
          <p:nvPr/>
        </p:nvSpPr>
        <p:spPr>
          <a:xfrm>
            <a:off x="9144000" y="0"/>
            <a:ext cx="4572000" cy="10287000"/>
          </a:xfrm>
          <a:prstGeom prst="rect">
            <a:avLst/>
          </a:prstGeom>
          <a:solidFill>
            <a:srgbClr val="FAF9F4"/>
          </a:solidFill>
        </p:spPr>
        <p:txBody>
          <a:bodyPr/>
          <a:lstStyle/>
          <a:p>
            <a:endParaRPr lang="en-DE"/>
          </a:p>
        </p:txBody>
      </p:sp>
      <p:sp>
        <p:nvSpPr>
          <p:cNvPr id="5" name="Rectangle 4">
            <a:extLst>
              <a:ext uri="{FF2B5EF4-FFF2-40B4-BE49-F238E27FC236}">
                <a16:creationId xmlns:a16="http://schemas.microsoft.com/office/drawing/2014/main" id="{671515F5-C4EF-4502-A75F-998D7CD0E7CF}"/>
              </a:ext>
            </a:extLst>
          </p:cNvPr>
          <p:cNvSpPr>
            <a:spLocks noGrp="1"/>
          </p:cNvSpPr>
          <p:nvPr/>
        </p:nvSpPr>
        <p:spPr>
          <a:xfrm>
            <a:off x="13716000" y="0"/>
            <a:ext cx="4572000" cy="10287000"/>
          </a:xfrm>
          <a:prstGeom prst="rect">
            <a:avLst/>
          </a:prstGeom>
          <a:solidFill>
            <a:srgbClr val="F6F8FA"/>
          </a:solidFill>
        </p:spPr>
        <p:txBody>
          <a:bodyPr/>
          <a:lstStyle/>
          <a:p>
            <a:endParaRPr lang="en-DE"/>
          </a:p>
        </p:txBody>
      </p:sp>
      <p:sp>
        <p:nvSpPr>
          <p:cNvPr id="6" name="Oval 5">
            <a:extLst>
              <a:ext uri="{FF2B5EF4-FFF2-40B4-BE49-F238E27FC236}">
                <a16:creationId xmlns:a16="http://schemas.microsoft.com/office/drawing/2014/main" id="{BBA277A3-6550-41D7-AB33-4B0EDEBA6358}"/>
              </a:ext>
            </a:extLst>
          </p:cNvPr>
          <p:cNvSpPr>
            <a:spLocks noGrp="1"/>
          </p:cNvSpPr>
          <p:nvPr/>
        </p:nvSpPr>
        <p:spPr>
          <a:xfrm>
            <a:off x="781050" y="1066800"/>
            <a:ext cx="114300" cy="114300"/>
          </a:xfrm>
          <a:prstGeom prst="ellipse">
            <a:avLst/>
          </a:prstGeom>
          <a:solidFill>
            <a:srgbClr val="2E7D55"/>
          </a:solidFill>
        </p:spPr>
        <p:txBody>
          <a:bodyPr/>
          <a:lstStyle/>
          <a:p>
            <a:endParaRPr lang="en-DE"/>
          </a:p>
        </p:txBody>
      </p:sp>
      <p:sp>
        <p:nvSpPr>
          <p:cNvPr id="7" name="Rectangle 6">
            <a:extLst>
              <a:ext uri="{FF2B5EF4-FFF2-40B4-BE49-F238E27FC236}">
                <a16:creationId xmlns:a16="http://schemas.microsoft.com/office/drawing/2014/main" id="{8A0CC756-76CB-42DD-9D66-7CAAAA325B7E}"/>
              </a:ext>
            </a:extLst>
          </p:cNvPr>
          <p:cNvSpPr>
            <a:spLocks noGrp="1"/>
          </p:cNvSpPr>
          <p:nvPr/>
        </p:nvSpPr>
        <p:spPr>
          <a:xfrm>
            <a:off x="990600" y="1028700"/>
            <a:ext cx="1524000" cy="190500"/>
          </a:xfrm>
          <a:prstGeom prst="rect">
            <a:avLst/>
          </a:prstGeom>
        </p:spPr>
        <p:txBody>
          <a:bodyPr lIns="0" tIns="0" rIns="0" bIns="0"/>
          <a:lstStyle/>
          <a:p>
            <a:pPr>
              <a:defRPr sz="1200" b="1" i="0">
                <a:solidFill>
                  <a:srgbClr val="7A8793"/>
                </a:solidFill>
              </a:defRPr>
            </a:pPr>
            <a:r>
              <a:rPr sz="1200" b="1" i="0">
                <a:solidFill>
                  <a:srgbClr val="7A8793"/>
                </a:solidFill>
              </a:rPr>
              <a:t>OVERALL PROJECT PLAN</a:t>
            </a:r>
          </a:p>
        </p:txBody>
      </p:sp>
      <p:sp>
        <p:nvSpPr>
          <p:cNvPr id="8" name="slide-title">
            <a:extLst>
              <a:ext uri="{FF2B5EF4-FFF2-40B4-BE49-F238E27FC236}">
                <a16:creationId xmlns:a16="http://schemas.microsoft.com/office/drawing/2014/main" id="{DBDA9A7B-1096-48A9-8ED7-DE0711A4ADBA}"/>
              </a:ext>
            </a:extLst>
          </p:cNvPr>
          <p:cNvSpPr>
            <a:spLocks noGrp="1"/>
          </p:cNvSpPr>
          <p:nvPr/>
        </p:nvSpPr>
        <p:spPr>
          <a:xfrm>
            <a:off x="781050" y="1314450"/>
            <a:ext cx="16040100" cy="552450"/>
          </a:xfrm>
          <a:prstGeom prst="rect">
            <a:avLst/>
          </a:prstGeom>
        </p:spPr>
        <p:txBody>
          <a:bodyPr lIns="0" tIns="0" rIns="0" bIns="0"/>
          <a:lstStyle/>
          <a:p>
            <a:pPr>
              <a:defRPr sz="3600" b="1" i="0">
                <a:solidFill>
                  <a:srgbClr val="172026"/>
                </a:solidFill>
              </a:defRPr>
            </a:pPr>
            <a:r>
              <a:rPr sz="3600" b="1" i="0">
                <a:solidFill>
                  <a:srgbClr val="172026"/>
                </a:solidFill>
              </a:rPr>
              <a:t>Plan: scope now, build next, synthesize in July</a:t>
            </a:r>
          </a:p>
        </p:txBody>
      </p:sp>
      <p:sp>
        <p:nvSpPr>
          <p:cNvPr id="9" name="Rectangle 8">
            <a:extLst>
              <a:ext uri="{FF2B5EF4-FFF2-40B4-BE49-F238E27FC236}">
                <a16:creationId xmlns:a16="http://schemas.microsoft.com/office/drawing/2014/main" id="{396C3664-1F94-4B3F-89F9-36B77779AA70}"/>
              </a:ext>
            </a:extLst>
          </p:cNvPr>
          <p:cNvSpPr>
            <a:spLocks noGrp="1"/>
          </p:cNvSpPr>
          <p:nvPr/>
        </p:nvSpPr>
        <p:spPr>
          <a:xfrm>
            <a:off x="16821150" y="1676400"/>
            <a:ext cx="685800" cy="190500"/>
          </a:xfrm>
          <a:prstGeom prst="rect">
            <a:avLst/>
          </a:prstGeom>
        </p:spPr>
        <p:txBody>
          <a:bodyPr lIns="0" tIns="0" rIns="0" bIns="0"/>
          <a:lstStyle/>
          <a:p>
            <a:pPr>
              <a:defRPr sz="1350" b="0" i="0">
                <a:solidFill>
                  <a:srgbClr val="7A8793"/>
                </a:solidFill>
              </a:defRPr>
            </a:pPr>
            <a:r>
              <a:rPr sz="1350" b="0" i="0">
                <a:solidFill>
                  <a:srgbClr val="7A8793"/>
                </a:solidFill>
              </a:rPr>
              <a:t>05</a:t>
            </a:r>
          </a:p>
        </p:txBody>
      </p:sp>
      <p:sp>
        <p:nvSpPr>
          <p:cNvPr id="10" name="title-rule">
            <a:extLst>
              <a:ext uri="{FF2B5EF4-FFF2-40B4-BE49-F238E27FC236}">
                <a16:creationId xmlns:a16="http://schemas.microsoft.com/office/drawing/2014/main" id="{5BE42A24-9BB2-451E-B224-06F34A997D8F}"/>
              </a:ext>
            </a:extLst>
          </p:cNvPr>
          <p:cNvSpPr>
            <a:spLocks noGrp="1"/>
          </p:cNvSpPr>
          <p:nvPr/>
        </p:nvSpPr>
        <p:spPr>
          <a:xfrm>
            <a:off x="781050" y="2133600"/>
            <a:ext cx="16725900" cy="19050"/>
          </a:xfrm>
          <a:prstGeom prst="rect">
            <a:avLst/>
          </a:prstGeom>
          <a:solidFill>
            <a:srgbClr val="D9E0DF"/>
          </a:solidFill>
          <a:ln w="0">
            <a:solidFill>
              <a:srgbClr val="D9E0DF"/>
            </a:solidFill>
            <a:prstDash val="solid"/>
          </a:ln>
        </p:spPr>
        <p:txBody>
          <a:bodyPr/>
          <a:lstStyle/>
          <a:p>
            <a:endParaRPr lang="en-DE"/>
          </a:p>
        </p:txBody>
      </p:sp>
      <p:sp>
        <p:nvSpPr>
          <p:cNvPr id="11" name="Rectangle 10">
            <a:extLst>
              <a:ext uri="{FF2B5EF4-FFF2-40B4-BE49-F238E27FC236}">
                <a16:creationId xmlns:a16="http://schemas.microsoft.com/office/drawing/2014/main" id="{79EBE12D-913B-455E-8FBA-78D1AB0BF48F}"/>
              </a:ext>
            </a:extLst>
          </p:cNvPr>
          <p:cNvSpPr>
            <a:spLocks noGrp="1"/>
          </p:cNvSpPr>
          <p:nvPr/>
        </p:nvSpPr>
        <p:spPr>
          <a:xfrm>
            <a:off x="781050" y="2419350"/>
            <a:ext cx="3679698" cy="1143000"/>
          </a:xfrm>
          <a:prstGeom prst="rect">
            <a:avLst/>
          </a:prstGeom>
          <a:solidFill>
            <a:srgbClr val="2E7D55"/>
          </a:solidFill>
        </p:spPr>
        <p:txBody>
          <a:bodyPr/>
          <a:lstStyle/>
          <a:p>
            <a:endParaRPr lang="en-DE"/>
          </a:p>
        </p:txBody>
      </p:sp>
      <p:sp>
        <p:nvSpPr>
          <p:cNvPr id="12" name="Rectangle 11">
            <a:extLst>
              <a:ext uri="{FF2B5EF4-FFF2-40B4-BE49-F238E27FC236}">
                <a16:creationId xmlns:a16="http://schemas.microsoft.com/office/drawing/2014/main" id="{9D050C23-02DE-46EB-8FCE-6A924E73CD48}"/>
              </a:ext>
            </a:extLst>
          </p:cNvPr>
          <p:cNvSpPr>
            <a:spLocks noGrp="1"/>
          </p:cNvSpPr>
          <p:nvPr/>
        </p:nvSpPr>
        <p:spPr>
          <a:xfrm>
            <a:off x="990600" y="2609850"/>
            <a:ext cx="3257550" cy="304800"/>
          </a:xfrm>
          <a:prstGeom prst="rect">
            <a:avLst/>
          </a:prstGeom>
        </p:spPr>
        <p:txBody>
          <a:bodyPr lIns="0" tIns="0" rIns="0" bIns="0"/>
          <a:lstStyle/>
          <a:p>
            <a:pPr>
              <a:defRPr sz="1950" b="1" i="0">
                <a:solidFill>
                  <a:srgbClr val="FFFFFF"/>
                </a:solidFill>
              </a:defRPr>
            </a:pPr>
            <a:r>
              <a:rPr sz="1950" b="1" i="0">
                <a:solidFill>
                  <a:srgbClr val="FFFFFF"/>
                </a:solidFill>
              </a:rPr>
              <a:t>Phase 1</a:t>
            </a:r>
          </a:p>
        </p:txBody>
      </p:sp>
      <p:sp>
        <p:nvSpPr>
          <p:cNvPr id="13" name="Rectangle 12">
            <a:extLst>
              <a:ext uri="{FF2B5EF4-FFF2-40B4-BE49-F238E27FC236}">
                <a16:creationId xmlns:a16="http://schemas.microsoft.com/office/drawing/2014/main" id="{E10A5CBB-E720-499C-B250-096DE94A21C5}"/>
              </a:ext>
            </a:extLst>
          </p:cNvPr>
          <p:cNvSpPr>
            <a:spLocks noGrp="1"/>
          </p:cNvSpPr>
          <p:nvPr/>
        </p:nvSpPr>
        <p:spPr>
          <a:xfrm>
            <a:off x="990600" y="2933700"/>
            <a:ext cx="3257550" cy="209550"/>
          </a:xfrm>
          <a:prstGeom prst="rect">
            <a:avLst/>
          </a:prstGeom>
        </p:spPr>
        <p:txBody>
          <a:bodyPr lIns="0" tIns="0" rIns="0" bIns="0"/>
          <a:lstStyle/>
          <a:p>
            <a:pPr>
              <a:defRPr sz="1350" b="1" i="0">
                <a:solidFill>
                  <a:srgbClr val="ECF4F3"/>
                </a:solidFill>
              </a:defRPr>
            </a:pPr>
            <a:r>
              <a:rPr sz="1350" b="1" i="0">
                <a:solidFill>
                  <a:srgbClr val="ECF4F3"/>
                </a:solidFill>
              </a:rPr>
              <a:t>Apr 16-Apr 30</a:t>
            </a:r>
          </a:p>
        </p:txBody>
      </p:sp>
      <p:sp>
        <p:nvSpPr>
          <p:cNvPr id="14" name="Rectangle 13">
            <a:extLst>
              <a:ext uri="{FF2B5EF4-FFF2-40B4-BE49-F238E27FC236}">
                <a16:creationId xmlns:a16="http://schemas.microsoft.com/office/drawing/2014/main" id="{66DE303F-F81F-4B50-813E-1C7915012335}"/>
              </a:ext>
            </a:extLst>
          </p:cNvPr>
          <p:cNvSpPr>
            <a:spLocks noGrp="1"/>
          </p:cNvSpPr>
          <p:nvPr/>
        </p:nvSpPr>
        <p:spPr>
          <a:xfrm>
            <a:off x="990600" y="3162300"/>
            <a:ext cx="3257550" cy="209550"/>
          </a:xfrm>
          <a:prstGeom prst="rect">
            <a:avLst/>
          </a:prstGeom>
        </p:spPr>
        <p:txBody>
          <a:bodyPr lIns="0" tIns="0" rIns="0" bIns="0"/>
          <a:lstStyle/>
          <a:p>
            <a:pPr>
              <a:defRPr sz="1350" b="0" i="0">
                <a:solidFill>
                  <a:srgbClr val="ECF4F3"/>
                </a:solidFill>
              </a:defRPr>
            </a:pPr>
            <a:r>
              <a:rPr sz="1350" b="0" i="0">
                <a:solidFill>
                  <a:srgbClr val="ECF4F3"/>
                </a:solidFill>
              </a:rPr>
              <a:t>Scope, dataset strategy, repo scaffold</a:t>
            </a:r>
          </a:p>
        </p:txBody>
      </p:sp>
      <p:sp>
        <p:nvSpPr>
          <p:cNvPr id="15" name="Rectangle 14">
            <a:extLst>
              <a:ext uri="{FF2B5EF4-FFF2-40B4-BE49-F238E27FC236}">
                <a16:creationId xmlns:a16="http://schemas.microsoft.com/office/drawing/2014/main" id="{65B25B0C-BA2F-43A3-AD99-2C272CB39962}"/>
              </a:ext>
            </a:extLst>
          </p:cNvPr>
          <p:cNvSpPr>
            <a:spLocks noGrp="1"/>
          </p:cNvSpPr>
          <p:nvPr/>
        </p:nvSpPr>
        <p:spPr>
          <a:xfrm>
            <a:off x="4460748" y="2419350"/>
            <a:ext cx="9031986" cy="1143000"/>
          </a:xfrm>
          <a:prstGeom prst="rect">
            <a:avLst/>
          </a:prstGeom>
          <a:solidFill>
            <a:srgbClr val="007C89"/>
          </a:solidFill>
        </p:spPr>
        <p:txBody>
          <a:bodyPr/>
          <a:lstStyle/>
          <a:p>
            <a:endParaRPr lang="en-DE"/>
          </a:p>
        </p:txBody>
      </p:sp>
      <p:sp>
        <p:nvSpPr>
          <p:cNvPr id="16" name="Rectangle 15">
            <a:extLst>
              <a:ext uri="{FF2B5EF4-FFF2-40B4-BE49-F238E27FC236}">
                <a16:creationId xmlns:a16="http://schemas.microsoft.com/office/drawing/2014/main" id="{FE2520D5-FEAF-427B-82ED-0071FA95365E}"/>
              </a:ext>
            </a:extLst>
          </p:cNvPr>
          <p:cNvSpPr>
            <a:spLocks noGrp="1"/>
          </p:cNvSpPr>
          <p:nvPr/>
        </p:nvSpPr>
        <p:spPr>
          <a:xfrm>
            <a:off x="4667250" y="2609850"/>
            <a:ext cx="8610600" cy="304800"/>
          </a:xfrm>
          <a:prstGeom prst="rect">
            <a:avLst/>
          </a:prstGeom>
        </p:spPr>
        <p:txBody>
          <a:bodyPr lIns="0" tIns="0" rIns="0" bIns="0"/>
          <a:lstStyle/>
          <a:p>
            <a:pPr>
              <a:defRPr sz="1950" b="1" i="0">
                <a:solidFill>
                  <a:srgbClr val="FFFFFF"/>
                </a:solidFill>
              </a:defRPr>
            </a:pPr>
            <a:r>
              <a:rPr sz="1950" b="1" i="0">
                <a:solidFill>
                  <a:srgbClr val="FFFFFF"/>
                </a:solidFill>
              </a:rPr>
              <a:t>Phase 2</a:t>
            </a:r>
          </a:p>
        </p:txBody>
      </p:sp>
      <p:sp>
        <p:nvSpPr>
          <p:cNvPr id="17" name="Rectangle 16">
            <a:extLst>
              <a:ext uri="{FF2B5EF4-FFF2-40B4-BE49-F238E27FC236}">
                <a16:creationId xmlns:a16="http://schemas.microsoft.com/office/drawing/2014/main" id="{97314069-A2B5-4E41-9E88-E2DE4328A5F2}"/>
              </a:ext>
            </a:extLst>
          </p:cNvPr>
          <p:cNvSpPr>
            <a:spLocks noGrp="1"/>
          </p:cNvSpPr>
          <p:nvPr/>
        </p:nvSpPr>
        <p:spPr>
          <a:xfrm>
            <a:off x="4667250" y="2933700"/>
            <a:ext cx="8610600" cy="209550"/>
          </a:xfrm>
          <a:prstGeom prst="rect">
            <a:avLst/>
          </a:prstGeom>
        </p:spPr>
        <p:txBody>
          <a:bodyPr lIns="0" tIns="0" rIns="0" bIns="0"/>
          <a:lstStyle/>
          <a:p>
            <a:pPr>
              <a:defRPr sz="1350" b="1" i="0">
                <a:solidFill>
                  <a:srgbClr val="ECF4F3"/>
                </a:solidFill>
              </a:defRPr>
            </a:pPr>
            <a:r>
              <a:rPr sz="1350" b="1" i="0">
                <a:solidFill>
                  <a:srgbClr val="ECF4F3"/>
                </a:solidFill>
              </a:rPr>
              <a:t>May 1-Jul 7</a:t>
            </a:r>
          </a:p>
        </p:txBody>
      </p:sp>
      <p:sp>
        <p:nvSpPr>
          <p:cNvPr id="18" name="Rectangle 17">
            <a:extLst>
              <a:ext uri="{FF2B5EF4-FFF2-40B4-BE49-F238E27FC236}">
                <a16:creationId xmlns:a16="http://schemas.microsoft.com/office/drawing/2014/main" id="{E4B136CF-D73A-456D-A9C4-00382481491E}"/>
              </a:ext>
            </a:extLst>
          </p:cNvPr>
          <p:cNvSpPr>
            <a:spLocks noGrp="1"/>
          </p:cNvSpPr>
          <p:nvPr/>
        </p:nvSpPr>
        <p:spPr>
          <a:xfrm>
            <a:off x="4667250" y="3162300"/>
            <a:ext cx="8610600" cy="209550"/>
          </a:xfrm>
          <a:prstGeom prst="rect">
            <a:avLst/>
          </a:prstGeom>
        </p:spPr>
        <p:txBody>
          <a:bodyPr lIns="0" tIns="0" rIns="0" bIns="0"/>
          <a:lstStyle/>
          <a:p>
            <a:pPr>
              <a:defRPr sz="1350" b="0" i="0">
                <a:solidFill>
                  <a:srgbClr val="ECF4F3"/>
                </a:solidFill>
              </a:defRPr>
            </a:pPr>
            <a:r>
              <a:rPr sz="1350" b="0" i="0">
                <a:solidFill>
                  <a:srgbClr val="ECF4F3"/>
                </a:solidFill>
              </a:rPr>
              <a:t>Audio, video, network pipelines; E(t)</a:t>
            </a:r>
          </a:p>
        </p:txBody>
      </p:sp>
      <p:sp>
        <p:nvSpPr>
          <p:cNvPr id="19" name="Rectangle 18">
            <a:extLst>
              <a:ext uri="{FF2B5EF4-FFF2-40B4-BE49-F238E27FC236}">
                <a16:creationId xmlns:a16="http://schemas.microsoft.com/office/drawing/2014/main" id="{87ED263E-7C81-4809-8932-26543F4DDDE8}"/>
              </a:ext>
            </a:extLst>
          </p:cNvPr>
          <p:cNvSpPr>
            <a:spLocks noGrp="1"/>
          </p:cNvSpPr>
          <p:nvPr/>
        </p:nvSpPr>
        <p:spPr>
          <a:xfrm>
            <a:off x="13492734" y="2419350"/>
            <a:ext cx="4014216" cy="1143000"/>
          </a:xfrm>
          <a:prstGeom prst="rect">
            <a:avLst/>
          </a:prstGeom>
          <a:solidFill>
            <a:srgbClr val="B63A33"/>
          </a:solidFill>
        </p:spPr>
        <p:txBody>
          <a:bodyPr/>
          <a:lstStyle/>
          <a:p>
            <a:endParaRPr lang="en-DE"/>
          </a:p>
        </p:txBody>
      </p:sp>
      <p:sp>
        <p:nvSpPr>
          <p:cNvPr id="20" name="Rectangle 19">
            <a:extLst>
              <a:ext uri="{FF2B5EF4-FFF2-40B4-BE49-F238E27FC236}">
                <a16:creationId xmlns:a16="http://schemas.microsoft.com/office/drawing/2014/main" id="{D616B478-F42F-4EAF-BA23-22CAB5AEE49B}"/>
              </a:ext>
            </a:extLst>
          </p:cNvPr>
          <p:cNvSpPr>
            <a:spLocks noGrp="1"/>
          </p:cNvSpPr>
          <p:nvPr/>
        </p:nvSpPr>
        <p:spPr>
          <a:xfrm>
            <a:off x="13696950" y="2609850"/>
            <a:ext cx="3600450" cy="304800"/>
          </a:xfrm>
          <a:prstGeom prst="rect">
            <a:avLst/>
          </a:prstGeom>
        </p:spPr>
        <p:txBody>
          <a:bodyPr lIns="0" tIns="0" rIns="0" bIns="0"/>
          <a:lstStyle/>
          <a:p>
            <a:pPr>
              <a:defRPr sz="1950" b="1" i="0">
                <a:solidFill>
                  <a:srgbClr val="FFFFFF"/>
                </a:solidFill>
              </a:defRPr>
            </a:pPr>
            <a:r>
              <a:rPr sz="1950" b="1" i="0">
                <a:solidFill>
                  <a:srgbClr val="FFFFFF"/>
                </a:solidFill>
              </a:rPr>
              <a:t>Phase 3</a:t>
            </a:r>
          </a:p>
        </p:txBody>
      </p:sp>
      <p:sp>
        <p:nvSpPr>
          <p:cNvPr id="21" name="Rectangle 20">
            <a:extLst>
              <a:ext uri="{FF2B5EF4-FFF2-40B4-BE49-F238E27FC236}">
                <a16:creationId xmlns:a16="http://schemas.microsoft.com/office/drawing/2014/main" id="{B86F5CE7-6C55-4B63-BDA5-B7B25388EBE2}"/>
              </a:ext>
            </a:extLst>
          </p:cNvPr>
          <p:cNvSpPr>
            <a:spLocks noGrp="1"/>
          </p:cNvSpPr>
          <p:nvPr/>
        </p:nvSpPr>
        <p:spPr>
          <a:xfrm>
            <a:off x="13696950" y="2933700"/>
            <a:ext cx="3600450" cy="209550"/>
          </a:xfrm>
          <a:prstGeom prst="rect">
            <a:avLst/>
          </a:prstGeom>
        </p:spPr>
        <p:txBody>
          <a:bodyPr lIns="0" tIns="0" rIns="0" bIns="0"/>
          <a:lstStyle/>
          <a:p>
            <a:pPr>
              <a:defRPr sz="1350" b="1" i="0">
                <a:solidFill>
                  <a:srgbClr val="ECF4F3"/>
                </a:solidFill>
              </a:defRPr>
            </a:pPr>
            <a:r>
              <a:rPr sz="1350" b="1" i="0">
                <a:solidFill>
                  <a:srgbClr val="ECF4F3"/>
                </a:solidFill>
              </a:rPr>
              <a:t>Jul 8-Jul 31</a:t>
            </a:r>
          </a:p>
        </p:txBody>
      </p:sp>
      <p:sp>
        <p:nvSpPr>
          <p:cNvPr id="22" name="Rectangle 21">
            <a:extLst>
              <a:ext uri="{FF2B5EF4-FFF2-40B4-BE49-F238E27FC236}">
                <a16:creationId xmlns:a16="http://schemas.microsoft.com/office/drawing/2014/main" id="{518CEBBA-5B74-46C1-8130-2CB2C7623014}"/>
              </a:ext>
            </a:extLst>
          </p:cNvPr>
          <p:cNvSpPr>
            <a:spLocks noGrp="1"/>
          </p:cNvSpPr>
          <p:nvPr/>
        </p:nvSpPr>
        <p:spPr>
          <a:xfrm>
            <a:off x="13696950" y="3162300"/>
            <a:ext cx="3600450" cy="209550"/>
          </a:xfrm>
          <a:prstGeom prst="rect">
            <a:avLst/>
          </a:prstGeom>
        </p:spPr>
        <p:txBody>
          <a:bodyPr lIns="0" tIns="0" rIns="0" bIns="0"/>
          <a:lstStyle/>
          <a:p>
            <a:pPr>
              <a:defRPr sz="1350" b="0" i="0">
                <a:solidFill>
                  <a:srgbClr val="ECF4F3"/>
                </a:solidFill>
              </a:defRPr>
            </a:pPr>
            <a:r>
              <a:rPr sz="1350" b="0" i="0">
                <a:solidFill>
                  <a:srgbClr val="ECF4F3"/>
                </a:solidFill>
              </a:rPr>
              <a:t>Paper, dashboard, final presentation</a:t>
            </a:r>
          </a:p>
        </p:txBody>
      </p:sp>
      <p:sp>
        <p:nvSpPr>
          <p:cNvPr id="23" name="Oval 22">
            <a:extLst>
              <a:ext uri="{FF2B5EF4-FFF2-40B4-BE49-F238E27FC236}">
                <a16:creationId xmlns:a16="http://schemas.microsoft.com/office/drawing/2014/main" id="{12775D50-1ECB-4249-B6E8-CCB478CE249A}"/>
              </a:ext>
            </a:extLst>
          </p:cNvPr>
          <p:cNvSpPr>
            <a:spLocks noGrp="1"/>
          </p:cNvSpPr>
          <p:nvPr/>
        </p:nvSpPr>
        <p:spPr>
          <a:xfrm>
            <a:off x="1352550" y="3695700"/>
            <a:ext cx="114300" cy="114300"/>
          </a:xfrm>
          <a:prstGeom prst="ellipse">
            <a:avLst/>
          </a:prstGeom>
          <a:solidFill>
            <a:srgbClr val="7A8793"/>
          </a:solidFill>
        </p:spPr>
        <p:txBody>
          <a:bodyPr/>
          <a:lstStyle/>
          <a:p>
            <a:endParaRPr lang="en-DE"/>
          </a:p>
        </p:txBody>
      </p:sp>
      <p:sp>
        <p:nvSpPr>
          <p:cNvPr id="24" name="Rectangle 23">
            <a:extLst>
              <a:ext uri="{FF2B5EF4-FFF2-40B4-BE49-F238E27FC236}">
                <a16:creationId xmlns:a16="http://schemas.microsoft.com/office/drawing/2014/main" id="{8EADB102-976E-4F75-88E3-404213F79A12}"/>
              </a:ext>
            </a:extLst>
          </p:cNvPr>
          <p:cNvSpPr>
            <a:spLocks noGrp="1"/>
          </p:cNvSpPr>
          <p:nvPr/>
        </p:nvSpPr>
        <p:spPr>
          <a:xfrm>
            <a:off x="781050" y="3886200"/>
            <a:ext cx="1238250" cy="190500"/>
          </a:xfrm>
          <a:prstGeom prst="rect">
            <a:avLst/>
          </a:prstGeom>
        </p:spPr>
        <p:txBody>
          <a:bodyPr lIns="0" tIns="0" rIns="0" bIns="0"/>
          <a:lstStyle/>
          <a:p>
            <a:pPr>
              <a:defRPr sz="1200" b="0" i="0">
                <a:solidFill>
                  <a:srgbClr val="7A8793"/>
                </a:solidFill>
              </a:defRPr>
            </a:pPr>
            <a:r>
              <a:rPr sz="1200" b="0" i="0">
                <a:solidFill>
                  <a:srgbClr val="7A8793"/>
                </a:solidFill>
              </a:rPr>
              <a:t>VS#1 Apr 16</a:t>
            </a:r>
          </a:p>
        </p:txBody>
      </p:sp>
      <p:sp>
        <p:nvSpPr>
          <p:cNvPr id="25" name="Oval 24">
            <a:extLst>
              <a:ext uri="{FF2B5EF4-FFF2-40B4-BE49-F238E27FC236}">
                <a16:creationId xmlns:a16="http://schemas.microsoft.com/office/drawing/2014/main" id="{D2D9BE5B-0116-4461-8C9F-83C48738D7CB}"/>
              </a:ext>
            </a:extLst>
          </p:cNvPr>
          <p:cNvSpPr>
            <a:spLocks noGrp="1"/>
          </p:cNvSpPr>
          <p:nvPr/>
        </p:nvSpPr>
        <p:spPr>
          <a:xfrm>
            <a:off x="3924300" y="3695700"/>
            <a:ext cx="171450" cy="171450"/>
          </a:xfrm>
          <a:prstGeom prst="ellipse">
            <a:avLst/>
          </a:prstGeom>
          <a:solidFill>
            <a:srgbClr val="B63A33"/>
          </a:solidFill>
        </p:spPr>
        <p:txBody>
          <a:bodyPr/>
          <a:lstStyle/>
          <a:p>
            <a:endParaRPr lang="en-DE"/>
          </a:p>
        </p:txBody>
      </p:sp>
      <p:sp>
        <p:nvSpPr>
          <p:cNvPr id="26" name="Rectangle 25">
            <a:extLst>
              <a:ext uri="{FF2B5EF4-FFF2-40B4-BE49-F238E27FC236}">
                <a16:creationId xmlns:a16="http://schemas.microsoft.com/office/drawing/2014/main" id="{074CFF8D-C485-4EF5-B4BB-33C7C591AE03}"/>
              </a:ext>
            </a:extLst>
          </p:cNvPr>
          <p:cNvSpPr>
            <a:spLocks noGrp="1"/>
          </p:cNvSpPr>
          <p:nvPr/>
        </p:nvSpPr>
        <p:spPr>
          <a:xfrm>
            <a:off x="3371850" y="3943350"/>
            <a:ext cx="1238250" cy="190500"/>
          </a:xfrm>
          <a:prstGeom prst="rect">
            <a:avLst/>
          </a:prstGeom>
        </p:spPr>
        <p:txBody>
          <a:bodyPr lIns="0" tIns="0" rIns="0" bIns="0"/>
          <a:lstStyle/>
          <a:p>
            <a:pPr>
              <a:defRPr sz="1200" b="1" i="0">
                <a:solidFill>
                  <a:srgbClr val="B63A33"/>
                </a:solidFill>
              </a:defRPr>
            </a:pPr>
            <a:r>
              <a:rPr sz="1200" b="1" i="0">
                <a:solidFill>
                  <a:srgbClr val="B63A33"/>
                </a:solidFill>
              </a:rPr>
              <a:t>VS#2 Apr 30</a:t>
            </a:r>
          </a:p>
        </p:txBody>
      </p:sp>
      <p:sp>
        <p:nvSpPr>
          <p:cNvPr id="27" name="Oval 26">
            <a:extLst>
              <a:ext uri="{FF2B5EF4-FFF2-40B4-BE49-F238E27FC236}">
                <a16:creationId xmlns:a16="http://schemas.microsoft.com/office/drawing/2014/main" id="{44283681-202B-4DCA-9066-F861030F90A3}"/>
              </a:ext>
            </a:extLst>
          </p:cNvPr>
          <p:cNvSpPr>
            <a:spLocks noGrp="1"/>
          </p:cNvSpPr>
          <p:nvPr/>
        </p:nvSpPr>
        <p:spPr>
          <a:xfrm>
            <a:off x="6515100" y="3695700"/>
            <a:ext cx="114300" cy="114300"/>
          </a:xfrm>
          <a:prstGeom prst="ellipse">
            <a:avLst/>
          </a:prstGeom>
          <a:solidFill>
            <a:srgbClr val="7A8793"/>
          </a:solidFill>
        </p:spPr>
        <p:txBody>
          <a:bodyPr/>
          <a:lstStyle/>
          <a:p>
            <a:endParaRPr lang="en-DE"/>
          </a:p>
        </p:txBody>
      </p:sp>
      <p:sp>
        <p:nvSpPr>
          <p:cNvPr id="28" name="Rectangle 27">
            <a:extLst>
              <a:ext uri="{FF2B5EF4-FFF2-40B4-BE49-F238E27FC236}">
                <a16:creationId xmlns:a16="http://schemas.microsoft.com/office/drawing/2014/main" id="{5AD3130B-62B0-4C1A-8E95-84B8E9BE987F}"/>
              </a:ext>
            </a:extLst>
          </p:cNvPr>
          <p:cNvSpPr>
            <a:spLocks noGrp="1"/>
          </p:cNvSpPr>
          <p:nvPr/>
        </p:nvSpPr>
        <p:spPr>
          <a:xfrm>
            <a:off x="5943600" y="3886200"/>
            <a:ext cx="1238250" cy="190500"/>
          </a:xfrm>
          <a:prstGeom prst="rect">
            <a:avLst/>
          </a:prstGeom>
        </p:spPr>
        <p:txBody>
          <a:bodyPr lIns="0" tIns="0" rIns="0" bIns="0"/>
          <a:lstStyle/>
          <a:p>
            <a:pPr>
              <a:defRPr sz="1200" b="0" i="0">
                <a:solidFill>
                  <a:srgbClr val="7A8793"/>
                </a:solidFill>
              </a:defRPr>
            </a:pPr>
            <a:r>
              <a:rPr sz="1200" b="0" i="0">
                <a:solidFill>
                  <a:srgbClr val="7A8793"/>
                </a:solidFill>
              </a:rPr>
              <a:t>VS#3 May 21</a:t>
            </a:r>
          </a:p>
        </p:txBody>
      </p:sp>
      <p:sp>
        <p:nvSpPr>
          <p:cNvPr id="29" name="Oval 28">
            <a:extLst>
              <a:ext uri="{FF2B5EF4-FFF2-40B4-BE49-F238E27FC236}">
                <a16:creationId xmlns:a16="http://schemas.microsoft.com/office/drawing/2014/main" id="{E2D4B7CB-769C-4D06-A5C5-66EA44D47147}"/>
              </a:ext>
            </a:extLst>
          </p:cNvPr>
          <p:cNvSpPr>
            <a:spLocks noGrp="1"/>
          </p:cNvSpPr>
          <p:nvPr/>
        </p:nvSpPr>
        <p:spPr>
          <a:xfrm>
            <a:off x="9086850" y="3695700"/>
            <a:ext cx="114300" cy="114300"/>
          </a:xfrm>
          <a:prstGeom prst="ellipse">
            <a:avLst/>
          </a:prstGeom>
          <a:solidFill>
            <a:srgbClr val="7A8793"/>
          </a:solidFill>
        </p:spPr>
        <p:txBody>
          <a:bodyPr/>
          <a:lstStyle/>
          <a:p>
            <a:endParaRPr lang="en-DE"/>
          </a:p>
        </p:txBody>
      </p:sp>
      <p:sp>
        <p:nvSpPr>
          <p:cNvPr id="30" name="Rectangle 29">
            <a:extLst>
              <a:ext uri="{FF2B5EF4-FFF2-40B4-BE49-F238E27FC236}">
                <a16:creationId xmlns:a16="http://schemas.microsoft.com/office/drawing/2014/main" id="{4262C0B5-7A3E-4E09-AFBD-F75E00B030A4}"/>
              </a:ext>
            </a:extLst>
          </p:cNvPr>
          <p:cNvSpPr>
            <a:spLocks noGrp="1"/>
          </p:cNvSpPr>
          <p:nvPr/>
        </p:nvSpPr>
        <p:spPr>
          <a:xfrm>
            <a:off x="8534400" y="3886200"/>
            <a:ext cx="1238250" cy="190500"/>
          </a:xfrm>
          <a:prstGeom prst="rect">
            <a:avLst/>
          </a:prstGeom>
        </p:spPr>
        <p:txBody>
          <a:bodyPr lIns="0" tIns="0" rIns="0" bIns="0"/>
          <a:lstStyle/>
          <a:p>
            <a:pPr>
              <a:defRPr sz="1200" b="0" i="0">
                <a:solidFill>
                  <a:srgbClr val="7A8793"/>
                </a:solidFill>
              </a:defRPr>
            </a:pPr>
            <a:r>
              <a:rPr sz="1200" b="0" i="0">
                <a:solidFill>
                  <a:srgbClr val="7A8793"/>
                </a:solidFill>
              </a:rPr>
              <a:t>VS#4 Jun 11</a:t>
            </a:r>
          </a:p>
        </p:txBody>
      </p:sp>
      <p:sp>
        <p:nvSpPr>
          <p:cNvPr id="31" name="Oval 30">
            <a:extLst>
              <a:ext uri="{FF2B5EF4-FFF2-40B4-BE49-F238E27FC236}">
                <a16:creationId xmlns:a16="http://schemas.microsoft.com/office/drawing/2014/main" id="{AC39774E-FBC6-4FAF-A7B6-6ED0CD4F3817}"/>
              </a:ext>
            </a:extLst>
          </p:cNvPr>
          <p:cNvSpPr>
            <a:spLocks noGrp="1"/>
          </p:cNvSpPr>
          <p:nvPr/>
        </p:nvSpPr>
        <p:spPr>
          <a:xfrm>
            <a:off x="11677650" y="3695700"/>
            <a:ext cx="114300" cy="114300"/>
          </a:xfrm>
          <a:prstGeom prst="ellipse">
            <a:avLst/>
          </a:prstGeom>
          <a:solidFill>
            <a:srgbClr val="7A8793"/>
          </a:solidFill>
        </p:spPr>
        <p:txBody>
          <a:bodyPr/>
          <a:lstStyle/>
          <a:p>
            <a:endParaRPr lang="en-DE"/>
          </a:p>
        </p:txBody>
      </p:sp>
      <p:sp>
        <p:nvSpPr>
          <p:cNvPr id="32" name="Rectangle 31">
            <a:extLst>
              <a:ext uri="{FF2B5EF4-FFF2-40B4-BE49-F238E27FC236}">
                <a16:creationId xmlns:a16="http://schemas.microsoft.com/office/drawing/2014/main" id="{2BFDA4F2-DC11-4875-B64D-6CAB978E99DC}"/>
              </a:ext>
            </a:extLst>
          </p:cNvPr>
          <p:cNvSpPr>
            <a:spLocks noGrp="1"/>
          </p:cNvSpPr>
          <p:nvPr/>
        </p:nvSpPr>
        <p:spPr>
          <a:xfrm>
            <a:off x="11106150" y="3886200"/>
            <a:ext cx="1238250" cy="190500"/>
          </a:xfrm>
          <a:prstGeom prst="rect">
            <a:avLst/>
          </a:prstGeom>
        </p:spPr>
        <p:txBody>
          <a:bodyPr lIns="0" tIns="0" rIns="0" bIns="0"/>
          <a:lstStyle/>
          <a:p>
            <a:pPr>
              <a:defRPr sz="1200" b="0" i="0">
                <a:solidFill>
                  <a:srgbClr val="7A8793"/>
                </a:solidFill>
              </a:defRPr>
            </a:pPr>
            <a:r>
              <a:rPr sz="1200" b="0" i="0">
                <a:solidFill>
                  <a:srgbClr val="7A8793"/>
                </a:solidFill>
              </a:rPr>
              <a:t>VS#5 Jun 25</a:t>
            </a:r>
          </a:p>
        </p:txBody>
      </p:sp>
      <p:sp>
        <p:nvSpPr>
          <p:cNvPr id="33" name="Oval 32">
            <a:extLst>
              <a:ext uri="{FF2B5EF4-FFF2-40B4-BE49-F238E27FC236}">
                <a16:creationId xmlns:a16="http://schemas.microsoft.com/office/drawing/2014/main" id="{9E2F8E5E-D0EA-4C23-AFC6-54FF9478AE5C}"/>
              </a:ext>
            </a:extLst>
          </p:cNvPr>
          <p:cNvSpPr>
            <a:spLocks noGrp="1"/>
          </p:cNvSpPr>
          <p:nvPr/>
        </p:nvSpPr>
        <p:spPr>
          <a:xfrm>
            <a:off x="14249400" y="3695700"/>
            <a:ext cx="114300" cy="114300"/>
          </a:xfrm>
          <a:prstGeom prst="ellipse">
            <a:avLst/>
          </a:prstGeom>
          <a:solidFill>
            <a:srgbClr val="7A8793"/>
          </a:solidFill>
        </p:spPr>
        <p:txBody>
          <a:bodyPr/>
          <a:lstStyle/>
          <a:p>
            <a:endParaRPr lang="en-DE"/>
          </a:p>
        </p:txBody>
      </p:sp>
      <p:sp>
        <p:nvSpPr>
          <p:cNvPr id="34" name="Rectangle 33">
            <a:extLst>
              <a:ext uri="{FF2B5EF4-FFF2-40B4-BE49-F238E27FC236}">
                <a16:creationId xmlns:a16="http://schemas.microsoft.com/office/drawing/2014/main" id="{959544C1-07DD-4392-835D-7151FEFA638C}"/>
              </a:ext>
            </a:extLst>
          </p:cNvPr>
          <p:cNvSpPr>
            <a:spLocks noGrp="1"/>
          </p:cNvSpPr>
          <p:nvPr/>
        </p:nvSpPr>
        <p:spPr>
          <a:xfrm>
            <a:off x="13696950" y="3886200"/>
            <a:ext cx="1238250" cy="190500"/>
          </a:xfrm>
          <a:prstGeom prst="rect">
            <a:avLst/>
          </a:prstGeom>
        </p:spPr>
        <p:txBody>
          <a:bodyPr lIns="0" tIns="0" rIns="0" bIns="0"/>
          <a:lstStyle/>
          <a:p>
            <a:pPr>
              <a:defRPr sz="1200" b="0" i="0">
                <a:solidFill>
                  <a:srgbClr val="7A8793"/>
                </a:solidFill>
              </a:defRPr>
            </a:pPr>
            <a:r>
              <a:rPr sz="1200" b="0" i="0">
                <a:solidFill>
                  <a:srgbClr val="7A8793"/>
                </a:solidFill>
              </a:rPr>
              <a:t>VS#6 Jul 9</a:t>
            </a:r>
          </a:p>
        </p:txBody>
      </p:sp>
      <p:sp>
        <p:nvSpPr>
          <p:cNvPr id="35" name="Oval 34">
            <a:extLst>
              <a:ext uri="{FF2B5EF4-FFF2-40B4-BE49-F238E27FC236}">
                <a16:creationId xmlns:a16="http://schemas.microsoft.com/office/drawing/2014/main" id="{C9129891-E970-4852-B0FF-AED4C88AC623}"/>
              </a:ext>
            </a:extLst>
          </p:cNvPr>
          <p:cNvSpPr>
            <a:spLocks noGrp="1"/>
          </p:cNvSpPr>
          <p:nvPr/>
        </p:nvSpPr>
        <p:spPr>
          <a:xfrm>
            <a:off x="16840200" y="3695700"/>
            <a:ext cx="114300" cy="114300"/>
          </a:xfrm>
          <a:prstGeom prst="ellipse">
            <a:avLst/>
          </a:prstGeom>
          <a:solidFill>
            <a:srgbClr val="7A8793"/>
          </a:solidFill>
        </p:spPr>
        <p:txBody>
          <a:bodyPr/>
          <a:lstStyle/>
          <a:p>
            <a:endParaRPr lang="en-DE"/>
          </a:p>
        </p:txBody>
      </p:sp>
      <p:sp>
        <p:nvSpPr>
          <p:cNvPr id="36" name="Rectangle 35">
            <a:extLst>
              <a:ext uri="{FF2B5EF4-FFF2-40B4-BE49-F238E27FC236}">
                <a16:creationId xmlns:a16="http://schemas.microsoft.com/office/drawing/2014/main" id="{8070B410-9849-4464-A260-BC6B46E64C6A}"/>
              </a:ext>
            </a:extLst>
          </p:cNvPr>
          <p:cNvSpPr>
            <a:spLocks noGrp="1"/>
          </p:cNvSpPr>
          <p:nvPr/>
        </p:nvSpPr>
        <p:spPr>
          <a:xfrm>
            <a:off x="16268700" y="3886200"/>
            <a:ext cx="1238250" cy="190500"/>
          </a:xfrm>
          <a:prstGeom prst="rect">
            <a:avLst/>
          </a:prstGeom>
        </p:spPr>
        <p:txBody>
          <a:bodyPr lIns="0" tIns="0" rIns="0" bIns="0"/>
          <a:lstStyle/>
          <a:p>
            <a:pPr>
              <a:defRPr sz="1200" b="0" i="0">
                <a:solidFill>
                  <a:srgbClr val="7A8793"/>
                </a:solidFill>
              </a:defRPr>
            </a:pPr>
            <a:r>
              <a:rPr sz="1200" b="0" i="0">
                <a:solidFill>
                  <a:srgbClr val="7A8793"/>
                </a:solidFill>
              </a:rPr>
              <a:t>Final Jul 23</a:t>
            </a:r>
          </a:p>
        </p:txBody>
      </p:sp>
      <p:sp>
        <p:nvSpPr>
          <p:cNvPr id="37" name="Rectangle: Rounded Corners 36">
            <a:extLst>
              <a:ext uri="{FF2B5EF4-FFF2-40B4-BE49-F238E27FC236}">
                <a16:creationId xmlns:a16="http://schemas.microsoft.com/office/drawing/2014/main" id="{08A08EFA-C5B7-4587-9A48-B8433753EFBC}"/>
              </a:ext>
            </a:extLst>
          </p:cNvPr>
          <p:cNvSpPr>
            <a:spLocks noGrp="1"/>
          </p:cNvSpPr>
          <p:nvPr/>
        </p:nvSpPr>
        <p:spPr>
          <a:xfrm>
            <a:off x="781050" y="4392930"/>
            <a:ext cx="5422900" cy="3905250"/>
          </a:xfrm>
          <a:prstGeom prst="roundRect">
            <a:avLst>
              <a:gd name="adj" fmla="val 4390"/>
            </a:avLst>
          </a:prstGeom>
          <a:solidFill>
            <a:srgbClr val="FFFFFF"/>
          </a:solidFill>
        </p:spPr>
        <p:txBody>
          <a:bodyPr/>
          <a:lstStyle/>
          <a:p>
            <a:endParaRPr lang="en-DE"/>
          </a:p>
        </p:txBody>
      </p:sp>
      <p:sp>
        <p:nvSpPr>
          <p:cNvPr id="38" name="Rectangle: Rounded Corners 37">
            <a:extLst>
              <a:ext uri="{FF2B5EF4-FFF2-40B4-BE49-F238E27FC236}">
                <a16:creationId xmlns:a16="http://schemas.microsoft.com/office/drawing/2014/main" id="{12B0DD63-62A1-410B-B60E-0ECE4FAEAD4B}"/>
              </a:ext>
            </a:extLst>
          </p:cNvPr>
          <p:cNvSpPr>
            <a:spLocks noGrp="1"/>
          </p:cNvSpPr>
          <p:nvPr/>
        </p:nvSpPr>
        <p:spPr>
          <a:xfrm>
            <a:off x="1009650" y="4621530"/>
            <a:ext cx="1581150" cy="419100"/>
          </a:xfrm>
          <a:prstGeom prst="roundRect">
            <a:avLst>
              <a:gd name="adj" fmla="val 50000"/>
            </a:avLst>
          </a:prstGeom>
          <a:solidFill>
            <a:srgbClr val="E6F2EB"/>
          </a:solidFill>
        </p:spPr>
        <p:txBody>
          <a:bodyPr/>
          <a:lstStyle/>
          <a:p>
            <a:endParaRPr lang="en-DE"/>
          </a:p>
        </p:txBody>
      </p:sp>
      <p:sp>
        <p:nvSpPr>
          <p:cNvPr id="39" name="Rectangle 38">
            <a:extLst>
              <a:ext uri="{FF2B5EF4-FFF2-40B4-BE49-F238E27FC236}">
                <a16:creationId xmlns:a16="http://schemas.microsoft.com/office/drawing/2014/main" id="{B18D534B-B2C0-4D30-9B0C-5EA76D1BFCF9}"/>
              </a:ext>
            </a:extLst>
          </p:cNvPr>
          <p:cNvSpPr>
            <a:spLocks noGrp="1"/>
          </p:cNvSpPr>
          <p:nvPr/>
        </p:nvSpPr>
        <p:spPr>
          <a:xfrm>
            <a:off x="1143000" y="4724400"/>
            <a:ext cx="1314450" cy="228600"/>
          </a:xfrm>
          <a:prstGeom prst="rect">
            <a:avLst/>
          </a:prstGeom>
        </p:spPr>
        <p:txBody>
          <a:bodyPr lIns="0" tIns="0" rIns="0" bIns="0"/>
          <a:lstStyle/>
          <a:p>
            <a:pPr>
              <a:defRPr sz="1500" b="1" i="0">
                <a:solidFill>
                  <a:srgbClr val="2E7D55"/>
                </a:solidFill>
              </a:defRPr>
            </a:pPr>
            <a:r>
              <a:rPr sz="1500" b="1" i="0">
                <a:solidFill>
                  <a:srgbClr val="2E7D55"/>
                </a:solidFill>
              </a:rPr>
              <a:t>Done today</a:t>
            </a:r>
          </a:p>
        </p:txBody>
      </p:sp>
      <p:sp>
        <p:nvSpPr>
          <p:cNvPr id="40" name="Oval 39">
            <a:extLst>
              <a:ext uri="{FF2B5EF4-FFF2-40B4-BE49-F238E27FC236}">
                <a16:creationId xmlns:a16="http://schemas.microsoft.com/office/drawing/2014/main" id="{3EBF1E9A-2FCD-47D0-B202-AD8EA72270DF}"/>
              </a:ext>
            </a:extLst>
          </p:cNvPr>
          <p:cNvSpPr>
            <a:spLocks noGrp="1"/>
          </p:cNvSpPr>
          <p:nvPr/>
        </p:nvSpPr>
        <p:spPr>
          <a:xfrm>
            <a:off x="1009650" y="5200650"/>
            <a:ext cx="95250" cy="95250"/>
          </a:xfrm>
          <a:prstGeom prst="ellipse">
            <a:avLst/>
          </a:prstGeom>
          <a:solidFill>
            <a:srgbClr val="2E7D55"/>
          </a:solidFill>
        </p:spPr>
        <p:txBody>
          <a:bodyPr/>
          <a:lstStyle/>
          <a:p>
            <a:endParaRPr lang="en-DE"/>
          </a:p>
        </p:txBody>
      </p:sp>
      <p:sp>
        <p:nvSpPr>
          <p:cNvPr id="41" name="Rectangle 40">
            <a:extLst>
              <a:ext uri="{FF2B5EF4-FFF2-40B4-BE49-F238E27FC236}">
                <a16:creationId xmlns:a16="http://schemas.microsoft.com/office/drawing/2014/main" id="{AE15018F-7E4F-4987-A6E1-B1505668342E}"/>
              </a:ext>
            </a:extLst>
          </p:cNvPr>
          <p:cNvSpPr>
            <a:spLocks noGrp="1"/>
          </p:cNvSpPr>
          <p:nvPr/>
        </p:nvSpPr>
        <p:spPr>
          <a:xfrm>
            <a:off x="1219200" y="5200650"/>
            <a:ext cx="4762500" cy="228600"/>
          </a:xfrm>
          <a:prstGeom prst="rect">
            <a:avLst/>
          </a:prstGeom>
        </p:spPr>
        <p:txBody>
          <a:bodyPr lIns="0" tIns="0" rIns="0" bIns="0"/>
          <a:lstStyle/>
          <a:p>
            <a:pPr>
              <a:defRPr sz="1500" b="0" i="0">
                <a:solidFill>
                  <a:srgbClr val="172026"/>
                </a:solidFill>
              </a:defRPr>
            </a:pPr>
            <a:r>
              <a:rPr sz="1500" b="0" i="0">
                <a:solidFill>
                  <a:srgbClr val="172026"/>
                </a:solidFill>
              </a:rPr>
              <a:t>Research question and hypotheses defined</a:t>
            </a:r>
          </a:p>
        </p:txBody>
      </p:sp>
      <p:sp>
        <p:nvSpPr>
          <p:cNvPr id="42" name="Oval 41">
            <a:extLst>
              <a:ext uri="{FF2B5EF4-FFF2-40B4-BE49-F238E27FC236}">
                <a16:creationId xmlns:a16="http://schemas.microsoft.com/office/drawing/2014/main" id="{F343292F-F588-439B-BFC1-0CCDF663E518}"/>
              </a:ext>
            </a:extLst>
          </p:cNvPr>
          <p:cNvSpPr>
            <a:spLocks noGrp="1"/>
          </p:cNvSpPr>
          <p:nvPr/>
        </p:nvSpPr>
        <p:spPr>
          <a:xfrm>
            <a:off x="1009650" y="5581650"/>
            <a:ext cx="95250" cy="95250"/>
          </a:xfrm>
          <a:prstGeom prst="ellipse">
            <a:avLst/>
          </a:prstGeom>
          <a:solidFill>
            <a:srgbClr val="2E7D55"/>
          </a:solidFill>
        </p:spPr>
        <p:txBody>
          <a:bodyPr/>
          <a:lstStyle/>
          <a:p>
            <a:endParaRPr lang="en-DE"/>
          </a:p>
        </p:txBody>
      </p:sp>
      <p:sp>
        <p:nvSpPr>
          <p:cNvPr id="43" name="Rectangle 42">
            <a:extLst>
              <a:ext uri="{FF2B5EF4-FFF2-40B4-BE49-F238E27FC236}">
                <a16:creationId xmlns:a16="http://schemas.microsoft.com/office/drawing/2014/main" id="{47933EFA-A6E6-4161-8022-A40073C7D826}"/>
              </a:ext>
            </a:extLst>
          </p:cNvPr>
          <p:cNvSpPr>
            <a:spLocks noGrp="1"/>
          </p:cNvSpPr>
          <p:nvPr/>
        </p:nvSpPr>
        <p:spPr>
          <a:xfrm>
            <a:off x="1219200" y="5581650"/>
            <a:ext cx="4762500" cy="228600"/>
          </a:xfrm>
          <a:prstGeom prst="rect">
            <a:avLst/>
          </a:prstGeom>
        </p:spPr>
        <p:txBody>
          <a:bodyPr lIns="0" tIns="0" rIns="0" bIns="0"/>
          <a:lstStyle/>
          <a:p>
            <a:pPr>
              <a:defRPr sz="1500" b="0" i="0">
                <a:solidFill>
                  <a:srgbClr val="172026"/>
                </a:solidFill>
              </a:defRPr>
            </a:pPr>
            <a:r>
              <a:rPr sz="1500" b="0" i="0">
                <a:solidFill>
                  <a:srgbClr val="172026"/>
                </a:solidFill>
              </a:rPr>
              <a:t>Data tiers clarified</a:t>
            </a:r>
          </a:p>
        </p:txBody>
      </p:sp>
      <p:sp>
        <p:nvSpPr>
          <p:cNvPr id="44" name="Oval 43">
            <a:extLst>
              <a:ext uri="{FF2B5EF4-FFF2-40B4-BE49-F238E27FC236}">
                <a16:creationId xmlns:a16="http://schemas.microsoft.com/office/drawing/2014/main" id="{F865F567-DDF2-44E1-86AA-5B893A4D512C}"/>
              </a:ext>
            </a:extLst>
          </p:cNvPr>
          <p:cNvSpPr>
            <a:spLocks noGrp="1"/>
          </p:cNvSpPr>
          <p:nvPr/>
        </p:nvSpPr>
        <p:spPr>
          <a:xfrm>
            <a:off x="1009650" y="5962650"/>
            <a:ext cx="95250" cy="95250"/>
          </a:xfrm>
          <a:prstGeom prst="ellipse">
            <a:avLst/>
          </a:prstGeom>
          <a:solidFill>
            <a:srgbClr val="2E7D55"/>
          </a:solidFill>
        </p:spPr>
        <p:txBody>
          <a:bodyPr/>
          <a:lstStyle/>
          <a:p>
            <a:endParaRPr lang="en-DE"/>
          </a:p>
        </p:txBody>
      </p:sp>
      <p:sp>
        <p:nvSpPr>
          <p:cNvPr id="45" name="Rectangle 44">
            <a:extLst>
              <a:ext uri="{FF2B5EF4-FFF2-40B4-BE49-F238E27FC236}">
                <a16:creationId xmlns:a16="http://schemas.microsoft.com/office/drawing/2014/main" id="{9667AB2D-19D5-4B64-BF43-C3096D589727}"/>
              </a:ext>
            </a:extLst>
          </p:cNvPr>
          <p:cNvSpPr>
            <a:spLocks noGrp="1"/>
          </p:cNvSpPr>
          <p:nvPr/>
        </p:nvSpPr>
        <p:spPr>
          <a:xfrm>
            <a:off x="1219200" y="5962650"/>
            <a:ext cx="4762500" cy="228600"/>
          </a:xfrm>
          <a:prstGeom prst="rect">
            <a:avLst/>
          </a:prstGeom>
        </p:spPr>
        <p:txBody>
          <a:bodyPr lIns="0" tIns="0" rIns="0" bIns="0"/>
          <a:lstStyle/>
          <a:p>
            <a:pPr>
              <a:defRPr sz="1500" b="0" i="0">
                <a:solidFill>
                  <a:srgbClr val="172026"/>
                </a:solidFill>
              </a:defRPr>
            </a:pPr>
            <a:r>
              <a:rPr sz="1500" b="0" i="0">
                <a:solidFill>
                  <a:srgbClr val="172026"/>
                </a:solidFill>
              </a:rPr>
              <a:t>Repo scaffold ready</a:t>
            </a:r>
          </a:p>
        </p:txBody>
      </p:sp>
      <p:sp>
        <p:nvSpPr>
          <p:cNvPr id="46" name="Oval 45">
            <a:extLst>
              <a:ext uri="{FF2B5EF4-FFF2-40B4-BE49-F238E27FC236}">
                <a16:creationId xmlns:a16="http://schemas.microsoft.com/office/drawing/2014/main" id="{D08C7CE7-82FB-4F71-9653-5E02B926DAF4}"/>
              </a:ext>
            </a:extLst>
          </p:cNvPr>
          <p:cNvSpPr>
            <a:spLocks noGrp="1"/>
          </p:cNvSpPr>
          <p:nvPr/>
        </p:nvSpPr>
        <p:spPr>
          <a:xfrm>
            <a:off x="1009650" y="6343650"/>
            <a:ext cx="95250" cy="95250"/>
          </a:xfrm>
          <a:prstGeom prst="ellipse">
            <a:avLst/>
          </a:prstGeom>
          <a:solidFill>
            <a:srgbClr val="2E7D55"/>
          </a:solidFill>
        </p:spPr>
        <p:txBody>
          <a:bodyPr/>
          <a:lstStyle/>
          <a:p>
            <a:endParaRPr lang="en-DE"/>
          </a:p>
        </p:txBody>
      </p:sp>
      <p:sp>
        <p:nvSpPr>
          <p:cNvPr id="47" name="Rectangle 46">
            <a:extLst>
              <a:ext uri="{FF2B5EF4-FFF2-40B4-BE49-F238E27FC236}">
                <a16:creationId xmlns:a16="http://schemas.microsoft.com/office/drawing/2014/main" id="{9612CC66-B961-4299-B014-4A963476BE77}"/>
              </a:ext>
            </a:extLst>
          </p:cNvPr>
          <p:cNvSpPr>
            <a:spLocks noGrp="1"/>
          </p:cNvSpPr>
          <p:nvPr/>
        </p:nvSpPr>
        <p:spPr>
          <a:xfrm>
            <a:off x="1219200" y="6343650"/>
            <a:ext cx="4762500" cy="228600"/>
          </a:xfrm>
          <a:prstGeom prst="rect">
            <a:avLst/>
          </a:prstGeom>
        </p:spPr>
        <p:txBody>
          <a:bodyPr lIns="0" tIns="0" rIns="0" bIns="0"/>
          <a:lstStyle/>
          <a:p>
            <a:pPr>
              <a:defRPr sz="1500" b="0" i="0">
                <a:solidFill>
                  <a:srgbClr val="172026"/>
                </a:solidFill>
              </a:defRPr>
            </a:pPr>
            <a:r>
              <a:rPr sz="1500" b="0" i="0">
                <a:solidFill>
                  <a:srgbClr val="172026"/>
                </a:solidFill>
              </a:rPr>
              <a:t>Seed URLs recorded</a:t>
            </a:r>
          </a:p>
        </p:txBody>
      </p:sp>
      <p:sp>
        <p:nvSpPr>
          <p:cNvPr id="48" name="Rectangle: Rounded Corners 47">
            <a:extLst>
              <a:ext uri="{FF2B5EF4-FFF2-40B4-BE49-F238E27FC236}">
                <a16:creationId xmlns:a16="http://schemas.microsoft.com/office/drawing/2014/main" id="{DDB2FA9E-5271-4A4D-9C84-4409704E8F80}"/>
              </a:ext>
            </a:extLst>
          </p:cNvPr>
          <p:cNvSpPr>
            <a:spLocks noGrp="1"/>
          </p:cNvSpPr>
          <p:nvPr/>
        </p:nvSpPr>
        <p:spPr>
          <a:xfrm>
            <a:off x="6432550" y="4392930"/>
            <a:ext cx="5422900" cy="3905250"/>
          </a:xfrm>
          <a:prstGeom prst="roundRect">
            <a:avLst>
              <a:gd name="adj" fmla="val 4390"/>
            </a:avLst>
          </a:prstGeom>
          <a:solidFill>
            <a:srgbClr val="FFFFFF"/>
          </a:solidFill>
        </p:spPr>
        <p:txBody>
          <a:bodyPr/>
          <a:lstStyle/>
          <a:p>
            <a:endParaRPr lang="en-DE"/>
          </a:p>
        </p:txBody>
      </p:sp>
      <p:sp>
        <p:nvSpPr>
          <p:cNvPr id="49" name="Rectangle: Rounded Corners 48">
            <a:extLst>
              <a:ext uri="{FF2B5EF4-FFF2-40B4-BE49-F238E27FC236}">
                <a16:creationId xmlns:a16="http://schemas.microsoft.com/office/drawing/2014/main" id="{166A1421-C8E7-4455-A7EE-5C4BCE481F5A}"/>
              </a:ext>
            </a:extLst>
          </p:cNvPr>
          <p:cNvSpPr>
            <a:spLocks noGrp="1"/>
          </p:cNvSpPr>
          <p:nvPr/>
        </p:nvSpPr>
        <p:spPr>
          <a:xfrm>
            <a:off x="6661150" y="4621530"/>
            <a:ext cx="1066800" cy="419100"/>
          </a:xfrm>
          <a:prstGeom prst="roundRect">
            <a:avLst>
              <a:gd name="adj" fmla="val 50000"/>
            </a:avLst>
          </a:prstGeom>
          <a:solidFill>
            <a:srgbClr val="E4F3F2"/>
          </a:solidFill>
        </p:spPr>
        <p:txBody>
          <a:bodyPr/>
          <a:lstStyle/>
          <a:p>
            <a:endParaRPr lang="en-DE"/>
          </a:p>
        </p:txBody>
      </p:sp>
      <p:sp>
        <p:nvSpPr>
          <p:cNvPr id="50" name="Rectangle 49">
            <a:extLst>
              <a:ext uri="{FF2B5EF4-FFF2-40B4-BE49-F238E27FC236}">
                <a16:creationId xmlns:a16="http://schemas.microsoft.com/office/drawing/2014/main" id="{445FF622-852D-4857-88D3-93059B5BCDCE}"/>
              </a:ext>
            </a:extLst>
          </p:cNvPr>
          <p:cNvSpPr>
            <a:spLocks noGrp="1"/>
          </p:cNvSpPr>
          <p:nvPr/>
        </p:nvSpPr>
        <p:spPr>
          <a:xfrm>
            <a:off x="6800850" y="4724400"/>
            <a:ext cx="800100" cy="228600"/>
          </a:xfrm>
          <a:prstGeom prst="rect">
            <a:avLst/>
          </a:prstGeom>
        </p:spPr>
        <p:txBody>
          <a:bodyPr lIns="0" tIns="0" rIns="0" bIns="0"/>
          <a:lstStyle/>
          <a:p>
            <a:pPr>
              <a:defRPr sz="1500" b="1" i="0">
                <a:solidFill>
                  <a:srgbClr val="007C89"/>
                </a:solidFill>
              </a:defRPr>
            </a:pPr>
            <a:r>
              <a:rPr sz="1500" b="1" i="0">
                <a:solidFill>
                  <a:srgbClr val="007C89"/>
                </a:solidFill>
              </a:rPr>
              <a:t>Next</a:t>
            </a:r>
          </a:p>
        </p:txBody>
      </p:sp>
      <p:sp>
        <p:nvSpPr>
          <p:cNvPr id="51" name="Oval 50">
            <a:extLst>
              <a:ext uri="{FF2B5EF4-FFF2-40B4-BE49-F238E27FC236}">
                <a16:creationId xmlns:a16="http://schemas.microsoft.com/office/drawing/2014/main" id="{C69458CA-8B9F-4630-9409-4FC71F70322E}"/>
              </a:ext>
            </a:extLst>
          </p:cNvPr>
          <p:cNvSpPr>
            <a:spLocks noGrp="1"/>
          </p:cNvSpPr>
          <p:nvPr/>
        </p:nvSpPr>
        <p:spPr>
          <a:xfrm>
            <a:off x="6667500" y="5200650"/>
            <a:ext cx="95250" cy="95250"/>
          </a:xfrm>
          <a:prstGeom prst="ellipse">
            <a:avLst/>
          </a:prstGeom>
          <a:solidFill>
            <a:srgbClr val="007C89"/>
          </a:solidFill>
        </p:spPr>
        <p:txBody>
          <a:bodyPr/>
          <a:lstStyle/>
          <a:p>
            <a:endParaRPr lang="en-DE"/>
          </a:p>
        </p:txBody>
      </p:sp>
      <p:sp>
        <p:nvSpPr>
          <p:cNvPr id="52" name="Rectangle 51">
            <a:extLst>
              <a:ext uri="{FF2B5EF4-FFF2-40B4-BE49-F238E27FC236}">
                <a16:creationId xmlns:a16="http://schemas.microsoft.com/office/drawing/2014/main" id="{E1F8C457-2576-41A8-AE4E-E34F9155557E}"/>
              </a:ext>
            </a:extLst>
          </p:cNvPr>
          <p:cNvSpPr>
            <a:spLocks noGrp="1"/>
          </p:cNvSpPr>
          <p:nvPr/>
        </p:nvSpPr>
        <p:spPr>
          <a:xfrm>
            <a:off x="6877050" y="5200650"/>
            <a:ext cx="4762500" cy="228600"/>
          </a:xfrm>
          <a:prstGeom prst="rect">
            <a:avLst/>
          </a:prstGeom>
        </p:spPr>
        <p:txBody>
          <a:bodyPr lIns="0" tIns="0" rIns="0" bIns="0"/>
          <a:lstStyle/>
          <a:p>
            <a:pPr>
              <a:defRPr sz="1500" b="0" i="0">
                <a:solidFill>
                  <a:srgbClr val="172026"/>
                </a:solidFill>
              </a:defRPr>
            </a:pPr>
            <a:r>
              <a:rPr sz="1500" b="0" i="0">
                <a:solidFill>
                  <a:srgbClr val="172026"/>
                </a:solidFill>
              </a:rPr>
              <a:t>Tier 2 datasets on disk</a:t>
            </a:r>
          </a:p>
        </p:txBody>
      </p:sp>
      <p:sp>
        <p:nvSpPr>
          <p:cNvPr id="53" name="Oval 52">
            <a:extLst>
              <a:ext uri="{FF2B5EF4-FFF2-40B4-BE49-F238E27FC236}">
                <a16:creationId xmlns:a16="http://schemas.microsoft.com/office/drawing/2014/main" id="{9A5F1523-21DA-4444-8F49-44C2F17AC585}"/>
              </a:ext>
            </a:extLst>
          </p:cNvPr>
          <p:cNvSpPr>
            <a:spLocks noGrp="1"/>
          </p:cNvSpPr>
          <p:nvPr/>
        </p:nvSpPr>
        <p:spPr>
          <a:xfrm>
            <a:off x="6667500" y="5581650"/>
            <a:ext cx="95250" cy="95250"/>
          </a:xfrm>
          <a:prstGeom prst="ellipse">
            <a:avLst/>
          </a:prstGeom>
          <a:solidFill>
            <a:srgbClr val="007C89"/>
          </a:solidFill>
        </p:spPr>
        <p:txBody>
          <a:bodyPr/>
          <a:lstStyle/>
          <a:p>
            <a:endParaRPr lang="en-DE"/>
          </a:p>
        </p:txBody>
      </p:sp>
      <p:sp>
        <p:nvSpPr>
          <p:cNvPr id="54" name="Rectangle 53">
            <a:extLst>
              <a:ext uri="{FF2B5EF4-FFF2-40B4-BE49-F238E27FC236}">
                <a16:creationId xmlns:a16="http://schemas.microsoft.com/office/drawing/2014/main" id="{E9C9A4C7-FF4E-408B-8A4B-D39A5461BEA4}"/>
              </a:ext>
            </a:extLst>
          </p:cNvPr>
          <p:cNvSpPr>
            <a:spLocks noGrp="1"/>
          </p:cNvSpPr>
          <p:nvPr/>
        </p:nvSpPr>
        <p:spPr>
          <a:xfrm>
            <a:off x="6877050" y="5581650"/>
            <a:ext cx="4762500" cy="228600"/>
          </a:xfrm>
          <a:prstGeom prst="rect">
            <a:avLst/>
          </a:prstGeom>
        </p:spPr>
        <p:txBody>
          <a:bodyPr lIns="0" tIns="0" rIns="0" bIns="0"/>
          <a:lstStyle/>
          <a:p>
            <a:pPr>
              <a:defRPr sz="1500" b="0" i="0">
                <a:solidFill>
                  <a:srgbClr val="172026"/>
                </a:solidFill>
              </a:defRPr>
            </a:pPr>
            <a:r>
              <a:rPr sz="1500" b="0" i="0">
                <a:solidFill>
                  <a:srgbClr val="172026"/>
                </a:solidFill>
              </a:rPr>
              <a:t>Tier 1 corpus curated</a:t>
            </a:r>
          </a:p>
        </p:txBody>
      </p:sp>
      <p:sp>
        <p:nvSpPr>
          <p:cNvPr id="55" name="Oval 54">
            <a:extLst>
              <a:ext uri="{FF2B5EF4-FFF2-40B4-BE49-F238E27FC236}">
                <a16:creationId xmlns:a16="http://schemas.microsoft.com/office/drawing/2014/main" id="{2BB18127-DBF7-46CB-B9A3-69694A9D14AE}"/>
              </a:ext>
            </a:extLst>
          </p:cNvPr>
          <p:cNvSpPr>
            <a:spLocks noGrp="1"/>
          </p:cNvSpPr>
          <p:nvPr/>
        </p:nvSpPr>
        <p:spPr>
          <a:xfrm>
            <a:off x="6667500" y="5962650"/>
            <a:ext cx="95250" cy="95250"/>
          </a:xfrm>
          <a:prstGeom prst="ellipse">
            <a:avLst/>
          </a:prstGeom>
          <a:solidFill>
            <a:srgbClr val="007C89"/>
          </a:solidFill>
        </p:spPr>
        <p:txBody>
          <a:bodyPr/>
          <a:lstStyle/>
          <a:p>
            <a:endParaRPr lang="en-DE"/>
          </a:p>
        </p:txBody>
      </p:sp>
      <p:sp>
        <p:nvSpPr>
          <p:cNvPr id="56" name="Rectangle 55">
            <a:extLst>
              <a:ext uri="{FF2B5EF4-FFF2-40B4-BE49-F238E27FC236}">
                <a16:creationId xmlns:a16="http://schemas.microsoft.com/office/drawing/2014/main" id="{E9AF09DE-12E5-4564-8C8D-3BF9D778647C}"/>
              </a:ext>
            </a:extLst>
          </p:cNvPr>
          <p:cNvSpPr>
            <a:spLocks noGrp="1"/>
          </p:cNvSpPr>
          <p:nvPr/>
        </p:nvSpPr>
        <p:spPr>
          <a:xfrm>
            <a:off x="6877050" y="5962650"/>
            <a:ext cx="4762500" cy="228600"/>
          </a:xfrm>
          <a:prstGeom prst="rect">
            <a:avLst/>
          </a:prstGeom>
        </p:spPr>
        <p:txBody>
          <a:bodyPr lIns="0" tIns="0" rIns="0" bIns="0"/>
          <a:lstStyle/>
          <a:p>
            <a:pPr>
              <a:defRPr sz="1500" b="0" i="0">
                <a:solidFill>
                  <a:srgbClr val="172026"/>
                </a:solidFill>
              </a:defRPr>
            </a:pPr>
            <a:r>
              <a:rPr sz="1500" b="0" i="0">
                <a:solidFill>
                  <a:srgbClr val="172026"/>
                </a:solidFill>
              </a:rPr>
              <a:t>Video pose data</a:t>
            </a:r>
          </a:p>
        </p:txBody>
      </p:sp>
      <p:sp>
        <p:nvSpPr>
          <p:cNvPr id="57" name="Oval 56">
            <a:extLst>
              <a:ext uri="{FF2B5EF4-FFF2-40B4-BE49-F238E27FC236}">
                <a16:creationId xmlns:a16="http://schemas.microsoft.com/office/drawing/2014/main" id="{449AEFC1-C6C5-4A0B-B184-551047DA5676}"/>
              </a:ext>
            </a:extLst>
          </p:cNvPr>
          <p:cNvSpPr>
            <a:spLocks noGrp="1"/>
          </p:cNvSpPr>
          <p:nvPr/>
        </p:nvSpPr>
        <p:spPr>
          <a:xfrm>
            <a:off x="6667500" y="6343650"/>
            <a:ext cx="95250" cy="95250"/>
          </a:xfrm>
          <a:prstGeom prst="ellipse">
            <a:avLst/>
          </a:prstGeom>
          <a:solidFill>
            <a:srgbClr val="007C89"/>
          </a:solidFill>
        </p:spPr>
        <p:txBody>
          <a:bodyPr/>
          <a:lstStyle/>
          <a:p>
            <a:endParaRPr lang="en-DE"/>
          </a:p>
        </p:txBody>
      </p:sp>
      <p:sp>
        <p:nvSpPr>
          <p:cNvPr id="58" name="Rectangle 57">
            <a:extLst>
              <a:ext uri="{FF2B5EF4-FFF2-40B4-BE49-F238E27FC236}">
                <a16:creationId xmlns:a16="http://schemas.microsoft.com/office/drawing/2014/main" id="{8AD17ED3-ACFD-45CC-A29F-433E3ED0A242}"/>
              </a:ext>
            </a:extLst>
          </p:cNvPr>
          <p:cNvSpPr>
            <a:spLocks noGrp="1"/>
          </p:cNvSpPr>
          <p:nvPr/>
        </p:nvSpPr>
        <p:spPr>
          <a:xfrm>
            <a:off x="6877050" y="6343650"/>
            <a:ext cx="4762500" cy="228600"/>
          </a:xfrm>
          <a:prstGeom prst="rect">
            <a:avLst/>
          </a:prstGeom>
        </p:spPr>
        <p:txBody>
          <a:bodyPr lIns="0" tIns="0" rIns="0" bIns="0"/>
          <a:lstStyle/>
          <a:p>
            <a:pPr>
              <a:defRPr sz="1500" b="0" i="0">
                <a:solidFill>
                  <a:srgbClr val="172026"/>
                </a:solidFill>
              </a:defRPr>
            </a:pPr>
            <a:r>
              <a:rPr sz="1500" b="0" i="0">
                <a:solidFill>
                  <a:srgbClr val="172026"/>
                </a:solidFill>
              </a:rPr>
              <a:t>Influence graph pipeline</a:t>
            </a:r>
          </a:p>
        </p:txBody>
      </p:sp>
      <p:sp>
        <p:nvSpPr>
          <p:cNvPr id="59" name="Rectangle: Rounded Corners 58">
            <a:extLst>
              <a:ext uri="{FF2B5EF4-FFF2-40B4-BE49-F238E27FC236}">
                <a16:creationId xmlns:a16="http://schemas.microsoft.com/office/drawing/2014/main" id="{23B32954-E059-4AF1-9D16-7F4D68037495}"/>
              </a:ext>
            </a:extLst>
          </p:cNvPr>
          <p:cNvSpPr>
            <a:spLocks noGrp="1"/>
          </p:cNvSpPr>
          <p:nvPr/>
        </p:nvSpPr>
        <p:spPr>
          <a:xfrm>
            <a:off x="12084050" y="4392930"/>
            <a:ext cx="5422900" cy="3905250"/>
          </a:xfrm>
          <a:prstGeom prst="roundRect">
            <a:avLst>
              <a:gd name="adj" fmla="val 4390"/>
            </a:avLst>
          </a:prstGeom>
          <a:solidFill>
            <a:srgbClr val="FFFFFF"/>
          </a:solidFill>
        </p:spPr>
        <p:txBody>
          <a:bodyPr/>
          <a:lstStyle/>
          <a:p>
            <a:endParaRPr lang="en-DE"/>
          </a:p>
        </p:txBody>
      </p:sp>
      <p:sp>
        <p:nvSpPr>
          <p:cNvPr id="60" name="Rectangle: Rounded Corners 59">
            <a:extLst>
              <a:ext uri="{FF2B5EF4-FFF2-40B4-BE49-F238E27FC236}">
                <a16:creationId xmlns:a16="http://schemas.microsoft.com/office/drawing/2014/main" id="{1968273C-5B56-422A-BF05-FA805F6D3125}"/>
              </a:ext>
            </a:extLst>
          </p:cNvPr>
          <p:cNvSpPr>
            <a:spLocks noGrp="1"/>
          </p:cNvSpPr>
          <p:nvPr/>
        </p:nvSpPr>
        <p:spPr>
          <a:xfrm>
            <a:off x="12312650" y="4621530"/>
            <a:ext cx="1104900" cy="419100"/>
          </a:xfrm>
          <a:prstGeom prst="roundRect">
            <a:avLst>
              <a:gd name="adj" fmla="val 50000"/>
            </a:avLst>
          </a:prstGeom>
          <a:solidFill>
            <a:srgbClr val="F7E8E6"/>
          </a:solidFill>
        </p:spPr>
        <p:txBody>
          <a:bodyPr/>
          <a:lstStyle/>
          <a:p>
            <a:endParaRPr lang="en-DE"/>
          </a:p>
        </p:txBody>
      </p:sp>
      <p:sp>
        <p:nvSpPr>
          <p:cNvPr id="61" name="Rectangle 60">
            <a:extLst>
              <a:ext uri="{FF2B5EF4-FFF2-40B4-BE49-F238E27FC236}">
                <a16:creationId xmlns:a16="http://schemas.microsoft.com/office/drawing/2014/main" id="{76D4B1C7-7DD5-4F26-A9B5-D471AEC62B43}"/>
              </a:ext>
            </a:extLst>
          </p:cNvPr>
          <p:cNvSpPr>
            <a:spLocks noGrp="1"/>
          </p:cNvSpPr>
          <p:nvPr/>
        </p:nvSpPr>
        <p:spPr>
          <a:xfrm>
            <a:off x="12439650" y="4724400"/>
            <a:ext cx="838200" cy="228600"/>
          </a:xfrm>
          <a:prstGeom prst="rect">
            <a:avLst/>
          </a:prstGeom>
        </p:spPr>
        <p:txBody>
          <a:bodyPr lIns="0" tIns="0" rIns="0" bIns="0"/>
          <a:lstStyle/>
          <a:p>
            <a:pPr>
              <a:defRPr sz="1500" b="1" i="0">
                <a:solidFill>
                  <a:srgbClr val="B63A33"/>
                </a:solidFill>
              </a:defRPr>
            </a:pPr>
            <a:r>
              <a:rPr sz="1500" b="1" i="0">
                <a:solidFill>
                  <a:srgbClr val="B63A33"/>
                </a:solidFill>
              </a:rPr>
              <a:t>Later</a:t>
            </a:r>
          </a:p>
        </p:txBody>
      </p:sp>
      <p:sp>
        <p:nvSpPr>
          <p:cNvPr id="62" name="Oval 61">
            <a:extLst>
              <a:ext uri="{FF2B5EF4-FFF2-40B4-BE49-F238E27FC236}">
                <a16:creationId xmlns:a16="http://schemas.microsoft.com/office/drawing/2014/main" id="{17BBB356-9CD1-496C-85E0-F1ADDE30535E}"/>
              </a:ext>
            </a:extLst>
          </p:cNvPr>
          <p:cNvSpPr>
            <a:spLocks noGrp="1"/>
          </p:cNvSpPr>
          <p:nvPr/>
        </p:nvSpPr>
        <p:spPr>
          <a:xfrm>
            <a:off x="12306300" y="5200650"/>
            <a:ext cx="95250" cy="95250"/>
          </a:xfrm>
          <a:prstGeom prst="ellipse">
            <a:avLst/>
          </a:prstGeom>
          <a:solidFill>
            <a:srgbClr val="B63A33"/>
          </a:solidFill>
        </p:spPr>
        <p:txBody>
          <a:bodyPr/>
          <a:lstStyle/>
          <a:p>
            <a:endParaRPr lang="en-DE"/>
          </a:p>
        </p:txBody>
      </p:sp>
      <p:sp>
        <p:nvSpPr>
          <p:cNvPr id="63" name="Rectangle 62">
            <a:extLst>
              <a:ext uri="{FF2B5EF4-FFF2-40B4-BE49-F238E27FC236}">
                <a16:creationId xmlns:a16="http://schemas.microsoft.com/office/drawing/2014/main" id="{386F48A4-62C2-4A75-BE60-6D8888ABBF33}"/>
              </a:ext>
            </a:extLst>
          </p:cNvPr>
          <p:cNvSpPr>
            <a:spLocks noGrp="1"/>
          </p:cNvSpPr>
          <p:nvPr/>
        </p:nvSpPr>
        <p:spPr>
          <a:xfrm>
            <a:off x="12515850" y="5200650"/>
            <a:ext cx="4762500" cy="228600"/>
          </a:xfrm>
          <a:prstGeom prst="rect">
            <a:avLst/>
          </a:prstGeom>
        </p:spPr>
        <p:txBody>
          <a:bodyPr lIns="0" tIns="0" rIns="0" bIns="0"/>
          <a:lstStyle/>
          <a:p>
            <a:pPr>
              <a:defRPr sz="1500" b="0" i="0">
                <a:solidFill>
                  <a:srgbClr val="172026"/>
                </a:solidFill>
              </a:defRPr>
            </a:pPr>
            <a:r>
              <a:rPr sz="1500" b="0" i="0">
                <a:solidFill>
                  <a:srgbClr val="172026"/>
                </a:solidFill>
              </a:rPr>
              <a:t>E(t) end-to-end</a:t>
            </a:r>
          </a:p>
        </p:txBody>
      </p:sp>
      <p:sp>
        <p:nvSpPr>
          <p:cNvPr id="64" name="Oval 63">
            <a:extLst>
              <a:ext uri="{FF2B5EF4-FFF2-40B4-BE49-F238E27FC236}">
                <a16:creationId xmlns:a16="http://schemas.microsoft.com/office/drawing/2014/main" id="{A8A1E0BF-9C10-4EE4-B3C0-D6C400C97017}"/>
              </a:ext>
            </a:extLst>
          </p:cNvPr>
          <p:cNvSpPr>
            <a:spLocks noGrp="1"/>
          </p:cNvSpPr>
          <p:nvPr/>
        </p:nvSpPr>
        <p:spPr>
          <a:xfrm>
            <a:off x="12306300" y="5581650"/>
            <a:ext cx="95250" cy="95250"/>
          </a:xfrm>
          <a:prstGeom prst="ellipse">
            <a:avLst/>
          </a:prstGeom>
          <a:solidFill>
            <a:srgbClr val="B63A33"/>
          </a:solidFill>
        </p:spPr>
        <p:txBody>
          <a:bodyPr/>
          <a:lstStyle/>
          <a:p>
            <a:endParaRPr lang="en-DE"/>
          </a:p>
        </p:txBody>
      </p:sp>
      <p:sp>
        <p:nvSpPr>
          <p:cNvPr id="65" name="Rectangle 64">
            <a:extLst>
              <a:ext uri="{FF2B5EF4-FFF2-40B4-BE49-F238E27FC236}">
                <a16:creationId xmlns:a16="http://schemas.microsoft.com/office/drawing/2014/main" id="{31C9B2C9-E38C-4344-AF89-626AED7C25A2}"/>
              </a:ext>
            </a:extLst>
          </p:cNvPr>
          <p:cNvSpPr>
            <a:spLocks noGrp="1"/>
          </p:cNvSpPr>
          <p:nvPr/>
        </p:nvSpPr>
        <p:spPr>
          <a:xfrm>
            <a:off x="12515850" y="5581650"/>
            <a:ext cx="4762500" cy="228600"/>
          </a:xfrm>
          <a:prstGeom prst="rect">
            <a:avLst/>
          </a:prstGeom>
        </p:spPr>
        <p:txBody>
          <a:bodyPr lIns="0" tIns="0" rIns="0" bIns="0"/>
          <a:lstStyle/>
          <a:p>
            <a:pPr>
              <a:defRPr sz="1500" b="0" i="0">
                <a:solidFill>
                  <a:srgbClr val="172026"/>
                </a:solidFill>
              </a:defRPr>
            </a:pPr>
            <a:r>
              <a:rPr sz="1500" b="0" i="0">
                <a:solidFill>
                  <a:srgbClr val="172026"/>
                </a:solidFill>
              </a:rPr>
              <a:t>Dashboard alpha</a:t>
            </a:r>
          </a:p>
        </p:txBody>
      </p:sp>
      <p:sp>
        <p:nvSpPr>
          <p:cNvPr id="66" name="Oval 65">
            <a:extLst>
              <a:ext uri="{FF2B5EF4-FFF2-40B4-BE49-F238E27FC236}">
                <a16:creationId xmlns:a16="http://schemas.microsoft.com/office/drawing/2014/main" id="{D92CC531-A15F-4032-8B10-280841DF2BE4}"/>
              </a:ext>
            </a:extLst>
          </p:cNvPr>
          <p:cNvSpPr>
            <a:spLocks noGrp="1"/>
          </p:cNvSpPr>
          <p:nvPr/>
        </p:nvSpPr>
        <p:spPr>
          <a:xfrm>
            <a:off x="12306300" y="5962650"/>
            <a:ext cx="95250" cy="95250"/>
          </a:xfrm>
          <a:prstGeom prst="ellipse">
            <a:avLst/>
          </a:prstGeom>
          <a:solidFill>
            <a:srgbClr val="B63A33"/>
          </a:solidFill>
        </p:spPr>
        <p:txBody>
          <a:bodyPr/>
          <a:lstStyle/>
          <a:p>
            <a:endParaRPr lang="en-DE"/>
          </a:p>
        </p:txBody>
      </p:sp>
      <p:sp>
        <p:nvSpPr>
          <p:cNvPr id="67" name="Rectangle 66">
            <a:extLst>
              <a:ext uri="{FF2B5EF4-FFF2-40B4-BE49-F238E27FC236}">
                <a16:creationId xmlns:a16="http://schemas.microsoft.com/office/drawing/2014/main" id="{9696F893-1B9E-472F-AC6A-D955CBF0293B}"/>
              </a:ext>
            </a:extLst>
          </p:cNvPr>
          <p:cNvSpPr>
            <a:spLocks noGrp="1"/>
          </p:cNvSpPr>
          <p:nvPr/>
        </p:nvSpPr>
        <p:spPr>
          <a:xfrm>
            <a:off x="12515850" y="5962650"/>
            <a:ext cx="4762500" cy="228600"/>
          </a:xfrm>
          <a:prstGeom prst="rect">
            <a:avLst/>
          </a:prstGeom>
        </p:spPr>
        <p:txBody>
          <a:bodyPr lIns="0" tIns="0" rIns="0" bIns="0"/>
          <a:lstStyle/>
          <a:p>
            <a:pPr>
              <a:defRPr sz="1500" b="0" i="0">
                <a:solidFill>
                  <a:srgbClr val="172026"/>
                </a:solidFill>
              </a:defRPr>
            </a:pPr>
            <a:r>
              <a:rPr sz="1500" b="0" i="0">
                <a:solidFill>
                  <a:srgbClr val="172026"/>
                </a:solidFill>
              </a:rPr>
              <a:t>Paper draft v1</a:t>
            </a:r>
          </a:p>
        </p:txBody>
      </p:sp>
      <p:sp>
        <p:nvSpPr>
          <p:cNvPr id="68" name="Oval 67">
            <a:extLst>
              <a:ext uri="{FF2B5EF4-FFF2-40B4-BE49-F238E27FC236}">
                <a16:creationId xmlns:a16="http://schemas.microsoft.com/office/drawing/2014/main" id="{AAC03C8E-83A5-4753-A9CF-0556702C223E}"/>
              </a:ext>
            </a:extLst>
          </p:cNvPr>
          <p:cNvSpPr>
            <a:spLocks noGrp="1"/>
          </p:cNvSpPr>
          <p:nvPr/>
        </p:nvSpPr>
        <p:spPr>
          <a:xfrm>
            <a:off x="12306300" y="6343650"/>
            <a:ext cx="95250" cy="95250"/>
          </a:xfrm>
          <a:prstGeom prst="ellipse">
            <a:avLst/>
          </a:prstGeom>
          <a:solidFill>
            <a:srgbClr val="B63A33"/>
          </a:solidFill>
        </p:spPr>
        <p:txBody>
          <a:bodyPr/>
          <a:lstStyle/>
          <a:p>
            <a:endParaRPr lang="en-DE"/>
          </a:p>
        </p:txBody>
      </p:sp>
      <p:sp>
        <p:nvSpPr>
          <p:cNvPr id="69" name="Rectangle 68">
            <a:extLst>
              <a:ext uri="{FF2B5EF4-FFF2-40B4-BE49-F238E27FC236}">
                <a16:creationId xmlns:a16="http://schemas.microsoft.com/office/drawing/2014/main" id="{BE533464-C7CE-43AF-906A-0EF7E02F5732}"/>
              </a:ext>
            </a:extLst>
          </p:cNvPr>
          <p:cNvSpPr>
            <a:spLocks noGrp="1"/>
          </p:cNvSpPr>
          <p:nvPr/>
        </p:nvSpPr>
        <p:spPr>
          <a:xfrm>
            <a:off x="12515850" y="6343650"/>
            <a:ext cx="4762500" cy="228600"/>
          </a:xfrm>
          <a:prstGeom prst="rect">
            <a:avLst/>
          </a:prstGeom>
        </p:spPr>
        <p:txBody>
          <a:bodyPr lIns="0" tIns="0" rIns="0" bIns="0"/>
          <a:lstStyle/>
          <a:p>
            <a:pPr>
              <a:defRPr sz="1500" b="0" i="0">
                <a:solidFill>
                  <a:srgbClr val="172026"/>
                </a:solidFill>
              </a:defRPr>
            </a:pPr>
            <a:r>
              <a:rPr sz="1500" b="0" i="0">
                <a:solidFill>
                  <a:srgbClr val="172026"/>
                </a:solidFill>
              </a:rPr>
              <a:t>Final presentation and paper</a:t>
            </a:r>
          </a:p>
        </p:txBody>
      </p:sp>
    </p:spTree>
    <p:extLst>
      <p:ext uri="{BB962C8B-B14F-4D97-AF65-F5344CB8AC3E}">
        <p14:creationId xmlns:p14="http://schemas.microsoft.com/office/powerpoint/2010/main" val="675282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bg">
            <a:extLst>
              <a:ext uri="{FF2B5EF4-FFF2-40B4-BE49-F238E27FC236}">
                <a16:creationId xmlns:a16="http://schemas.microsoft.com/office/drawing/2014/main" id="{7D3A559E-BCA3-4004-A8C0-C3A78E700795}"/>
              </a:ext>
            </a:extLst>
          </p:cNvPr>
          <p:cNvSpPr>
            <a:spLocks noGrp="1"/>
          </p:cNvSpPr>
          <p:nvPr/>
        </p:nvSpPr>
        <p:spPr>
          <a:xfrm>
            <a:off x="0" y="0"/>
            <a:ext cx="18288000" cy="10287000"/>
          </a:xfrm>
          <a:prstGeom prst="rect">
            <a:avLst/>
          </a:prstGeom>
          <a:solidFill>
            <a:srgbClr val="F7F9F8"/>
          </a:solidFill>
        </p:spPr>
        <p:txBody>
          <a:bodyPr/>
          <a:lstStyle/>
          <a:p>
            <a:endParaRPr lang="en-DE"/>
          </a:p>
        </p:txBody>
      </p:sp>
      <p:sp>
        <p:nvSpPr>
          <p:cNvPr id="2" name="Rectangle 1">
            <a:extLst>
              <a:ext uri="{FF2B5EF4-FFF2-40B4-BE49-F238E27FC236}">
                <a16:creationId xmlns:a16="http://schemas.microsoft.com/office/drawing/2014/main" id="{7CEDF6EF-B828-4CA4-9089-3AE660230607}"/>
              </a:ext>
            </a:extLst>
          </p:cNvPr>
          <p:cNvSpPr>
            <a:spLocks noGrp="1"/>
          </p:cNvSpPr>
          <p:nvPr/>
        </p:nvSpPr>
        <p:spPr>
          <a:xfrm>
            <a:off x="0" y="0"/>
            <a:ext cx="4572000" cy="10287000"/>
          </a:xfrm>
          <a:prstGeom prst="rect">
            <a:avLst/>
          </a:prstGeom>
          <a:solidFill>
            <a:srgbClr val="FFFFFF"/>
          </a:solidFill>
        </p:spPr>
        <p:txBody>
          <a:bodyPr/>
          <a:lstStyle/>
          <a:p>
            <a:endParaRPr lang="en-DE"/>
          </a:p>
        </p:txBody>
      </p:sp>
      <p:sp>
        <p:nvSpPr>
          <p:cNvPr id="3" name="Rectangle 2">
            <a:extLst>
              <a:ext uri="{FF2B5EF4-FFF2-40B4-BE49-F238E27FC236}">
                <a16:creationId xmlns:a16="http://schemas.microsoft.com/office/drawing/2014/main" id="{B5FC091B-0A4E-4604-B02F-D462A52AA6CB}"/>
              </a:ext>
            </a:extLst>
          </p:cNvPr>
          <p:cNvSpPr>
            <a:spLocks noGrp="1"/>
          </p:cNvSpPr>
          <p:nvPr/>
        </p:nvSpPr>
        <p:spPr>
          <a:xfrm>
            <a:off x="4572000" y="0"/>
            <a:ext cx="4572000" cy="10287000"/>
          </a:xfrm>
          <a:prstGeom prst="rect">
            <a:avLst/>
          </a:prstGeom>
          <a:solidFill>
            <a:srgbClr val="F3F7F7"/>
          </a:solidFill>
        </p:spPr>
        <p:txBody>
          <a:bodyPr/>
          <a:lstStyle/>
          <a:p>
            <a:endParaRPr lang="en-DE"/>
          </a:p>
        </p:txBody>
      </p:sp>
      <p:sp>
        <p:nvSpPr>
          <p:cNvPr id="4" name="Rectangle 3">
            <a:extLst>
              <a:ext uri="{FF2B5EF4-FFF2-40B4-BE49-F238E27FC236}">
                <a16:creationId xmlns:a16="http://schemas.microsoft.com/office/drawing/2014/main" id="{CD29357B-68CB-45BF-9DA5-28D87065DCD7}"/>
              </a:ext>
            </a:extLst>
          </p:cNvPr>
          <p:cNvSpPr>
            <a:spLocks noGrp="1"/>
          </p:cNvSpPr>
          <p:nvPr/>
        </p:nvSpPr>
        <p:spPr>
          <a:xfrm>
            <a:off x="9144000" y="0"/>
            <a:ext cx="4572000" cy="10287000"/>
          </a:xfrm>
          <a:prstGeom prst="rect">
            <a:avLst/>
          </a:prstGeom>
          <a:solidFill>
            <a:srgbClr val="FAF9F4"/>
          </a:solidFill>
        </p:spPr>
        <p:txBody>
          <a:bodyPr/>
          <a:lstStyle/>
          <a:p>
            <a:endParaRPr lang="en-DE"/>
          </a:p>
        </p:txBody>
      </p:sp>
      <p:sp>
        <p:nvSpPr>
          <p:cNvPr id="5" name="Rectangle 4">
            <a:extLst>
              <a:ext uri="{FF2B5EF4-FFF2-40B4-BE49-F238E27FC236}">
                <a16:creationId xmlns:a16="http://schemas.microsoft.com/office/drawing/2014/main" id="{5201A3C3-71D0-4479-8A80-ACBE7E32F863}"/>
              </a:ext>
            </a:extLst>
          </p:cNvPr>
          <p:cNvSpPr>
            <a:spLocks noGrp="1"/>
          </p:cNvSpPr>
          <p:nvPr/>
        </p:nvSpPr>
        <p:spPr>
          <a:xfrm>
            <a:off x="13716000" y="0"/>
            <a:ext cx="4572000" cy="10287000"/>
          </a:xfrm>
          <a:prstGeom prst="rect">
            <a:avLst/>
          </a:prstGeom>
          <a:solidFill>
            <a:srgbClr val="F6F8FA"/>
          </a:solidFill>
        </p:spPr>
        <p:txBody>
          <a:bodyPr/>
          <a:lstStyle/>
          <a:p>
            <a:endParaRPr lang="en-DE"/>
          </a:p>
        </p:txBody>
      </p:sp>
      <p:sp>
        <p:nvSpPr>
          <p:cNvPr id="6" name="Oval 5">
            <a:extLst>
              <a:ext uri="{FF2B5EF4-FFF2-40B4-BE49-F238E27FC236}">
                <a16:creationId xmlns:a16="http://schemas.microsoft.com/office/drawing/2014/main" id="{52A575D7-54CF-4C51-A896-1B29DFC3A5BE}"/>
              </a:ext>
            </a:extLst>
          </p:cNvPr>
          <p:cNvSpPr>
            <a:spLocks noGrp="1"/>
          </p:cNvSpPr>
          <p:nvPr/>
        </p:nvSpPr>
        <p:spPr>
          <a:xfrm>
            <a:off x="781050" y="1066800"/>
            <a:ext cx="114300" cy="114300"/>
          </a:xfrm>
          <a:prstGeom prst="ellipse">
            <a:avLst/>
          </a:prstGeom>
          <a:solidFill>
            <a:srgbClr val="C58A23"/>
          </a:solidFill>
        </p:spPr>
        <p:txBody>
          <a:bodyPr/>
          <a:lstStyle/>
          <a:p>
            <a:endParaRPr lang="en-DE"/>
          </a:p>
        </p:txBody>
      </p:sp>
      <p:sp>
        <p:nvSpPr>
          <p:cNvPr id="7" name="Rectangle 6">
            <a:extLst>
              <a:ext uri="{FF2B5EF4-FFF2-40B4-BE49-F238E27FC236}">
                <a16:creationId xmlns:a16="http://schemas.microsoft.com/office/drawing/2014/main" id="{B3654663-C4E4-4AE8-9F6A-C0613E57B3CC}"/>
              </a:ext>
            </a:extLst>
          </p:cNvPr>
          <p:cNvSpPr>
            <a:spLocks noGrp="1"/>
          </p:cNvSpPr>
          <p:nvPr/>
        </p:nvSpPr>
        <p:spPr>
          <a:xfrm>
            <a:off x="990600" y="1028700"/>
            <a:ext cx="1047750" cy="190500"/>
          </a:xfrm>
          <a:prstGeom prst="rect">
            <a:avLst/>
          </a:prstGeom>
        </p:spPr>
        <p:txBody>
          <a:bodyPr lIns="0" tIns="0" rIns="0" bIns="0"/>
          <a:lstStyle/>
          <a:p>
            <a:pPr>
              <a:defRPr sz="1200" b="1" i="0">
                <a:solidFill>
                  <a:srgbClr val="7A8793"/>
                </a:solidFill>
              </a:defRPr>
            </a:pPr>
            <a:r>
              <a:rPr sz="1200" b="1" i="0">
                <a:solidFill>
                  <a:srgbClr val="7A8793"/>
                </a:solidFill>
              </a:rPr>
              <a:t>NEXT ITERATION</a:t>
            </a:r>
          </a:p>
        </p:txBody>
      </p:sp>
      <p:sp>
        <p:nvSpPr>
          <p:cNvPr id="8" name="slide-title">
            <a:extLst>
              <a:ext uri="{FF2B5EF4-FFF2-40B4-BE49-F238E27FC236}">
                <a16:creationId xmlns:a16="http://schemas.microsoft.com/office/drawing/2014/main" id="{D43C201B-3921-4B19-A240-9344BA768B40}"/>
              </a:ext>
            </a:extLst>
          </p:cNvPr>
          <p:cNvSpPr>
            <a:spLocks noGrp="1"/>
          </p:cNvSpPr>
          <p:nvPr/>
        </p:nvSpPr>
        <p:spPr>
          <a:xfrm>
            <a:off x="781050" y="1314450"/>
            <a:ext cx="16040100" cy="552450"/>
          </a:xfrm>
          <a:prstGeom prst="rect">
            <a:avLst/>
          </a:prstGeom>
        </p:spPr>
        <p:txBody>
          <a:bodyPr lIns="0" tIns="0" rIns="0" bIns="0"/>
          <a:lstStyle/>
          <a:p>
            <a:pPr>
              <a:defRPr sz="3600" b="1" i="0">
                <a:solidFill>
                  <a:srgbClr val="172026"/>
                </a:solidFill>
              </a:defRPr>
            </a:pPr>
            <a:r>
              <a:rPr sz="3600" b="1" i="0">
                <a:solidFill>
                  <a:srgbClr val="172026"/>
                </a:solidFill>
              </a:rPr>
              <a:t>Sprint 2 turns the data strategy into files</a:t>
            </a:r>
          </a:p>
        </p:txBody>
      </p:sp>
      <p:sp>
        <p:nvSpPr>
          <p:cNvPr id="9" name="Rectangle 8">
            <a:extLst>
              <a:ext uri="{FF2B5EF4-FFF2-40B4-BE49-F238E27FC236}">
                <a16:creationId xmlns:a16="http://schemas.microsoft.com/office/drawing/2014/main" id="{8A200F37-E6F6-48C5-B21F-155433F76A7F}"/>
              </a:ext>
            </a:extLst>
          </p:cNvPr>
          <p:cNvSpPr>
            <a:spLocks noGrp="1"/>
          </p:cNvSpPr>
          <p:nvPr/>
        </p:nvSpPr>
        <p:spPr>
          <a:xfrm>
            <a:off x="16821150" y="1676400"/>
            <a:ext cx="685800" cy="190500"/>
          </a:xfrm>
          <a:prstGeom prst="rect">
            <a:avLst/>
          </a:prstGeom>
        </p:spPr>
        <p:txBody>
          <a:bodyPr lIns="0" tIns="0" rIns="0" bIns="0"/>
          <a:lstStyle/>
          <a:p>
            <a:pPr>
              <a:defRPr sz="1350" b="0" i="0">
                <a:solidFill>
                  <a:srgbClr val="7A8793"/>
                </a:solidFill>
              </a:defRPr>
            </a:pPr>
            <a:r>
              <a:rPr sz="1350" b="0" i="0">
                <a:solidFill>
                  <a:srgbClr val="7A8793"/>
                </a:solidFill>
              </a:rPr>
              <a:t>06</a:t>
            </a:r>
          </a:p>
        </p:txBody>
      </p:sp>
      <p:sp>
        <p:nvSpPr>
          <p:cNvPr id="10" name="title-rule">
            <a:extLst>
              <a:ext uri="{FF2B5EF4-FFF2-40B4-BE49-F238E27FC236}">
                <a16:creationId xmlns:a16="http://schemas.microsoft.com/office/drawing/2014/main" id="{C6BDDD0A-56D3-43E1-AF6E-F0A60147C876}"/>
              </a:ext>
            </a:extLst>
          </p:cNvPr>
          <p:cNvSpPr>
            <a:spLocks noGrp="1"/>
          </p:cNvSpPr>
          <p:nvPr/>
        </p:nvSpPr>
        <p:spPr>
          <a:xfrm>
            <a:off x="781050" y="2133600"/>
            <a:ext cx="16725900" cy="19050"/>
          </a:xfrm>
          <a:prstGeom prst="rect">
            <a:avLst/>
          </a:prstGeom>
          <a:solidFill>
            <a:srgbClr val="D9E0DF"/>
          </a:solidFill>
          <a:ln w="0">
            <a:solidFill>
              <a:srgbClr val="D9E0DF"/>
            </a:solidFill>
            <a:prstDash val="solid"/>
          </a:ln>
        </p:spPr>
        <p:txBody>
          <a:bodyPr/>
          <a:lstStyle/>
          <a:p>
            <a:endParaRPr lang="en-DE"/>
          </a:p>
        </p:txBody>
      </p:sp>
      <p:sp>
        <p:nvSpPr>
          <p:cNvPr id="11" name="Rectangle: Rounded Corners 10">
            <a:extLst>
              <a:ext uri="{FF2B5EF4-FFF2-40B4-BE49-F238E27FC236}">
                <a16:creationId xmlns:a16="http://schemas.microsoft.com/office/drawing/2014/main" id="{73D7C12B-A32E-4AD7-8F43-8161B47EFA3A}"/>
              </a:ext>
            </a:extLst>
          </p:cNvPr>
          <p:cNvSpPr>
            <a:spLocks noGrp="1"/>
          </p:cNvSpPr>
          <p:nvPr/>
        </p:nvSpPr>
        <p:spPr>
          <a:xfrm>
            <a:off x="781050" y="2419350"/>
            <a:ext cx="8258175" cy="2933700"/>
          </a:xfrm>
          <a:prstGeom prst="roundRect">
            <a:avLst>
              <a:gd name="adj" fmla="val 5844"/>
            </a:avLst>
          </a:prstGeom>
          <a:solidFill>
            <a:srgbClr val="FFFFFF"/>
          </a:solidFill>
        </p:spPr>
        <p:txBody>
          <a:bodyPr/>
          <a:lstStyle/>
          <a:p>
            <a:endParaRPr lang="en-DE"/>
          </a:p>
        </p:txBody>
      </p:sp>
      <p:sp>
        <p:nvSpPr>
          <p:cNvPr id="12" name="Rectangle 11">
            <a:extLst>
              <a:ext uri="{FF2B5EF4-FFF2-40B4-BE49-F238E27FC236}">
                <a16:creationId xmlns:a16="http://schemas.microsoft.com/office/drawing/2014/main" id="{587D6654-1D3C-4320-A21D-4FCE7435E66C}"/>
              </a:ext>
            </a:extLst>
          </p:cNvPr>
          <p:cNvSpPr>
            <a:spLocks noGrp="1"/>
          </p:cNvSpPr>
          <p:nvPr/>
        </p:nvSpPr>
        <p:spPr>
          <a:xfrm>
            <a:off x="1009650" y="2705100"/>
            <a:ext cx="6972300" cy="304800"/>
          </a:xfrm>
          <a:prstGeom prst="rect">
            <a:avLst/>
          </a:prstGeom>
        </p:spPr>
        <p:txBody>
          <a:bodyPr lIns="0" tIns="0" rIns="0" bIns="0"/>
          <a:lstStyle/>
          <a:p>
            <a:pPr>
              <a:defRPr sz="1875" b="1" i="0">
                <a:solidFill>
                  <a:srgbClr val="172026"/>
                </a:solidFill>
              </a:defRPr>
            </a:pPr>
            <a:r>
              <a:rPr sz="1875" b="1" i="0">
                <a:solidFill>
                  <a:srgbClr val="172026"/>
                </a:solidFill>
              </a:rPr>
              <a:t>Audio pipeline</a:t>
            </a:r>
          </a:p>
        </p:txBody>
      </p:sp>
      <p:sp>
        <p:nvSpPr>
          <p:cNvPr id="13" name="Rectangle: Rounded Corners 12">
            <a:extLst>
              <a:ext uri="{FF2B5EF4-FFF2-40B4-BE49-F238E27FC236}">
                <a16:creationId xmlns:a16="http://schemas.microsoft.com/office/drawing/2014/main" id="{C0DA4A62-B9B8-4C96-8706-539038289273}"/>
              </a:ext>
            </a:extLst>
          </p:cNvPr>
          <p:cNvSpPr>
            <a:spLocks noGrp="1"/>
          </p:cNvSpPr>
          <p:nvPr/>
        </p:nvSpPr>
        <p:spPr>
          <a:xfrm>
            <a:off x="7980807" y="2647950"/>
            <a:ext cx="829818" cy="419100"/>
          </a:xfrm>
          <a:prstGeom prst="roundRect">
            <a:avLst>
              <a:gd name="adj" fmla="val 50000"/>
            </a:avLst>
          </a:prstGeom>
          <a:solidFill>
            <a:srgbClr val="F1F5F4"/>
          </a:solidFill>
        </p:spPr>
        <p:txBody>
          <a:bodyPr/>
          <a:lstStyle/>
          <a:p>
            <a:endParaRPr lang="en-DE"/>
          </a:p>
        </p:txBody>
      </p:sp>
      <p:sp>
        <p:nvSpPr>
          <p:cNvPr id="14" name="Rectangle 13">
            <a:extLst>
              <a:ext uri="{FF2B5EF4-FFF2-40B4-BE49-F238E27FC236}">
                <a16:creationId xmlns:a16="http://schemas.microsoft.com/office/drawing/2014/main" id="{B276C7B4-2E9B-448D-A19C-6AFA3A449777}"/>
              </a:ext>
            </a:extLst>
          </p:cNvPr>
          <p:cNvSpPr>
            <a:spLocks noGrp="1"/>
          </p:cNvSpPr>
          <p:nvPr/>
        </p:nvSpPr>
        <p:spPr>
          <a:xfrm>
            <a:off x="8153400" y="2743200"/>
            <a:ext cx="495300" cy="228600"/>
          </a:xfrm>
          <a:prstGeom prst="rect">
            <a:avLst/>
          </a:prstGeom>
        </p:spPr>
        <p:txBody>
          <a:bodyPr lIns="0" tIns="0" rIns="0" bIns="0"/>
          <a:lstStyle/>
          <a:p>
            <a:pPr>
              <a:defRPr sz="1500" b="1" i="0">
                <a:solidFill>
                  <a:srgbClr val="C58A23"/>
                </a:solidFill>
              </a:defRPr>
            </a:pPr>
            <a:r>
              <a:rPr sz="1500" b="1" i="0">
                <a:solidFill>
                  <a:srgbClr val="C58A23"/>
                </a:solidFill>
              </a:rPr>
              <a:t>May 8</a:t>
            </a:r>
          </a:p>
        </p:txBody>
      </p:sp>
      <p:sp>
        <p:nvSpPr>
          <p:cNvPr id="15" name="Rectangle 14">
            <a:extLst>
              <a:ext uri="{FF2B5EF4-FFF2-40B4-BE49-F238E27FC236}">
                <a16:creationId xmlns:a16="http://schemas.microsoft.com/office/drawing/2014/main" id="{72B7DDB0-0A98-4902-A2AA-4BB499E83632}"/>
              </a:ext>
            </a:extLst>
          </p:cNvPr>
          <p:cNvSpPr>
            <a:spLocks noGrp="1"/>
          </p:cNvSpPr>
          <p:nvPr/>
        </p:nvSpPr>
        <p:spPr>
          <a:xfrm>
            <a:off x="1009650" y="3581400"/>
            <a:ext cx="7810500" cy="228600"/>
          </a:xfrm>
          <a:prstGeom prst="rect">
            <a:avLst/>
          </a:prstGeom>
        </p:spPr>
        <p:txBody>
          <a:bodyPr lIns="0" tIns="0" rIns="0" bIns="0"/>
          <a:lstStyle/>
          <a:p>
            <a:pPr>
              <a:defRPr sz="1500" b="0" i="0">
                <a:solidFill>
                  <a:srgbClr val="52606D"/>
                </a:solidFill>
              </a:defRPr>
            </a:pPr>
            <a:r>
              <a:rPr sz="1500" b="0" i="0">
                <a:solidFill>
                  <a:srgbClr val="52606D"/>
                </a:solidFill>
              </a:rPr>
              <a:t>Pull Tier 2 datasets; run pitch tracking and onset detection.</a:t>
            </a:r>
          </a:p>
        </p:txBody>
      </p:sp>
      <p:sp>
        <p:nvSpPr>
          <p:cNvPr id="16" name="Rectangle 15">
            <a:extLst>
              <a:ext uri="{FF2B5EF4-FFF2-40B4-BE49-F238E27FC236}">
                <a16:creationId xmlns:a16="http://schemas.microsoft.com/office/drawing/2014/main" id="{286B44A2-A142-4177-BC29-249453E5892D}"/>
              </a:ext>
            </a:extLst>
          </p:cNvPr>
          <p:cNvSpPr>
            <a:spLocks noGrp="1"/>
          </p:cNvSpPr>
          <p:nvPr/>
        </p:nvSpPr>
        <p:spPr>
          <a:xfrm>
            <a:off x="1009650" y="4343400"/>
            <a:ext cx="7810500" cy="19050"/>
          </a:xfrm>
          <a:prstGeom prst="rect">
            <a:avLst/>
          </a:prstGeom>
          <a:solidFill>
            <a:srgbClr val="D9E0DF"/>
          </a:solidFill>
          <a:ln w="0">
            <a:solidFill>
              <a:srgbClr val="D9E0DF"/>
            </a:solidFill>
            <a:prstDash val="solid"/>
          </a:ln>
        </p:spPr>
        <p:txBody>
          <a:bodyPr/>
          <a:lstStyle/>
          <a:p>
            <a:endParaRPr lang="en-DE"/>
          </a:p>
        </p:txBody>
      </p:sp>
      <p:sp>
        <p:nvSpPr>
          <p:cNvPr id="17" name="Rectangle 16">
            <a:extLst>
              <a:ext uri="{FF2B5EF4-FFF2-40B4-BE49-F238E27FC236}">
                <a16:creationId xmlns:a16="http://schemas.microsoft.com/office/drawing/2014/main" id="{55BDA272-AFBC-4603-B4B0-750B29F88842}"/>
              </a:ext>
            </a:extLst>
          </p:cNvPr>
          <p:cNvSpPr>
            <a:spLocks noGrp="1"/>
          </p:cNvSpPr>
          <p:nvPr/>
        </p:nvSpPr>
        <p:spPr>
          <a:xfrm>
            <a:off x="1009650" y="4876800"/>
            <a:ext cx="7810500" cy="247650"/>
          </a:xfrm>
          <a:prstGeom prst="rect">
            <a:avLst/>
          </a:prstGeom>
        </p:spPr>
        <p:txBody>
          <a:bodyPr lIns="0" tIns="0" rIns="0" bIns="0"/>
          <a:lstStyle/>
          <a:p>
            <a:pPr>
              <a:defRPr sz="1575" b="1" i="0">
                <a:solidFill>
                  <a:srgbClr val="C58A23"/>
                </a:solidFill>
              </a:defRPr>
            </a:pPr>
            <a:r>
              <a:rPr sz="1575" b="1" i="0">
                <a:solidFill>
                  <a:srgbClr val="C58A23"/>
                </a:solidFill>
              </a:rPr>
              <a:t>Per-singer feature parquet for 5 pieces</a:t>
            </a:r>
          </a:p>
        </p:txBody>
      </p:sp>
      <p:sp>
        <p:nvSpPr>
          <p:cNvPr id="18" name="Rectangle: Rounded Corners 17">
            <a:extLst>
              <a:ext uri="{FF2B5EF4-FFF2-40B4-BE49-F238E27FC236}">
                <a16:creationId xmlns:a16="http://schemas.microsoft.com/office/drawing/2014/main" id="{E6744577-BB03-4287-A00E-D468BC0B0576}"/>
              </a:ext>
            </a:extLst>
          </p:cNvPr>
          <p:cNvSpPr>
            <a:spLocks noGrp="1"/>
          </p:cNvSpPr>
          <p:nvPr/>
        </p:nvSpPr>
        <p:spPr>
          <a:xfrm>
            <a:off x="9248775" y="2419350"/>
            <a:ext cx="8258175" cy="2933700"/>
          </a:xfrm>
          <a:prstGeom prst="roundRect">
            <a:avLst>
              <a:gd name="adj" fmla="val 5844"/>
            </a:avLst>
          </a:prstGeom>
          <a:solidFill>
            <a:srgbClr val="FFFFFF"/>
          </a:solidFill>
        </p:spPr>
        <p:txBody>
          <a:bodyPr/>
          <a:lstStyle/>
          <a:p>
            <a:endParaRPr lang="en-DE"/>
          </a:p>
        </p:txBody>
      </p:sp>
      <p:sp>
        <p:nvSpPr>
          <p:cNvPr id="19" name="Rectangle 18">
            <a:extLst>
              <a:ext uri="{FF2B5EF4-FFF2-40B4-BE49-F238E27FC236}">
                <a16:creationId xmlns:a16="http://schemas.microsoft.com/office/drawing/2014/main" id="{5CF7AE69-4882-4513-822C-CFB4ABCBE40C}"/>
              </a:ext>
            </a:extLst>
          </p:cNvPr>
          <p:cNvSpPr>
            <a:spLocks noGrp="1"/>
          </p:cNvSpPr>
          <p:nvPr/>
        </p:nvSpPr>
        <p:spPr>
          <a:xfrm>
            <a:off x="9486900" y="2819400"/>
            <a:ext cx="6877050" cy="304800"/>
          </a:xfrm>
          <a:prstGeom prst="rect">
            <a:avLst/>
          </a:prstGeom>
        </p:spPr>
        <p:txBody>
          <a:bodyPr lIns="0" tIns="0" rIns="0" bIns="0"/>
          <a:lstStyle/>
          <a:p>
            <a:pPr>
              <a:defRPr sz="1875" b="1" i="0">
                <a:solidFill>
                  <a:srgbClr val="172026"/>
                </a:solidFill>
              </a:defRPr>
            </a:pPr>
            <a:r>
              <a:rPr sz="1875" b="1" i="0">
                <a:solidFill>
                  <a:srgbClr val="172026"/>
                </a:solidFill>
              </a:rPr>
              <a:t>Video pipeline</a:t>
            </a:r>
          </a:p>
        </p:txBody>
      </p:sp>
      <p:sp>
        <p:nvSpPr>
          <p:cNvPr id="20" name="Rectangle: Rounded Corners 19">
            <a:extLst>
              <a:ext uri="{FF2B5EF4-FFF2-40B4-BE49-F238E27FC236}">
                <a16:creationId xmlns:a16="http://schemas.microsoft.com/office/drawing/2014/main" id="{7360F014-CC57-4BAE-A696-4C13B5E609F6}"/>
              </a:ext>
            </a:extLst>
          </p:cNvPr>
          <p:cNvSpPr>
            <a:spLocks noGrp="1"/>
          </p:cNvSpPr>
          <p:nvPr/>
        </p:nvSpPr>
        <p:spPr>
          <a:xfrm>
            <a:off x="16352044" y="2647950"/>
            <a:ext cx="926306" cy="647700"/>
          </a:xfrm>
          <a:prstGeom prst="roundRect">
            <a:avLst>
              <a:gd name="adj" fmla="val 50000"/>
            </a:avLst>
          </a:prstGeom>
          <a:solidFill>
            <a:srgbClr val="F1F5F4"/>
          </a:solidFill>
        </p:spPr>
        <p:txBody>
          <a:bodyPr/>
          <a:lstStyle/>
          <a:p>
            <a:endParaRPr lang="en-DE"/>
          </a:p>
        </p:txBody>
      </p:sp>
      <p:sp>
        <p:nvSpPr>
          <p:cNvPr id="21" name="Rectangle 20">
            <a:extLst>
              <a:ext uri="{FF2B5EF4-FFF2-40B4-BE49-F238E27FC236}">
                <a16:creationId xmlns:a16="http://schemas.microsoft.com/office/drawing/2014/main" id="{0E304540-AA09-4A8F-BEC7-093E2C8FF127}"/>
              </a:ext>
            </a:extLst>
          </p:cNvPr>
          <p:cNvSpPr>
            <a:spLocks noGrp="1"/>
          </p:cNvSpPr>
          <p:nvPr/>
        </p:nvSpPr>
        <p:spPr>
          <a:xfrm>
            <a:off x="16516350" y="2743200"/>
            <a:ext cx="590550" cy="457200"/>
          </a:xfrm>
          <a:prstGeom prst="rect">
            <a:avLst/>
          </a:prstGeom>
        </p:spPr>
        <p:txBody>
          <a:bodyPr lIns="0" tIns="0" rIns="0" bIns="0"/>
          <a:lstStyle/>
          <a:p>
            <a:pPr>
              <a:defRPr sz="1500" b="1" i="0">
                <a:solidFill>
                  <a:srgbClr val="007C89"/>
                </a:solidFill>
              </a:defRPr>
            </a:pPr>
            <a:r>
              <a:rPr sz="1500" b="1" i="0">
                <a:solidFill>
                  <a:srgbClr val="007C89"/>
                </a:solidFill>
              </a:rPr>
              <a:t>May 22</a:t>
            </a:r>
          </a:p>
        </p:txBody>
      </p:sp>
      <p:sp>
        <p:nvSpPr>
          <p:cNvPr id="22" name="Rectangle 21">
            <a:extLst>
              <a:ext uri="{FF2B5EF4-FFF2-40B4-BE49-F238E27FC236}">
                <a16:creationId xmlns:a16="http://schemas.microsoft.com/office/drawing/2014/main" id="{A2BA74C4-F60B-4BD0-B10D-0AD5E803521D}"/>
              </a:ext>
            </a:extLst>
          </p:cNvPr>
          <p:cNvSpPr>
            <a:spLocks noGrp="1"/>
          </p:cNvSpPr>
          <p:nvPr/>
        </p:nvSpPr>
        <p:spPr>
          <a:xfrm>
            <a:off x="9486900" y="3733800"/>
            <a:ext cx="7810500" cy="228600"/>
          </a:xfrm>
          <a:prstGeom prst="rect">
            <a:avLst/>
          </a:prstGeom>
        </p:spPr>
        <p:txBody>
          <a:bodyPr lIns="0" tIns="0" rIns="0" bIns="0"/>
          <a:lstStyle/>
          <a:p>
            <a:pPr>
              <a:defRPr sz="1500" b="0" i="0">
                <a:solidFill>
                  <a:srgbClr val="52606D"/>
                </a:solidFill>
              </a:defRPr>
            </a:pPr>
            <a:r>
              <a:rPr sz="1500" b="0" i="0">
                <a:solidFill>
                  <a:srgbClr val="52606D"/>
                </a:solidFill>
              </a:rPr>
              <a:t>Run MediaPipe Pose and FaceMesh on first 10 YouTube videos.</a:t>
            </a:r>
          </a:p>
        </p:txBody>
      </p:sp>
      <p:sp>
        <p:nvSpPr>
          <p:cNvPr id="23" name="Rectangle 22">
            <a:extLst>
              <a:ext uri="{FF2B5EF4-FFF2-40B4-BE49-F238E27FC236}">
                <a16:creationId xmlns:a16="http://schemas.microsoft.com/office/drawing/2014/main" id="{40DF6217-CFA5-4B10-87DA-5D7C30890BFE}"/>
              </a:ext>
            </a:extLst>
          </p:cNvPr>
          <p:cNvSpPr>
            <a:spLocks noGrp="1"/>
          </p:cNvSpPr>
          <p:nvPr/>
        </p:nvSpPr>
        <p:spPr>
          <a:xfrm>
            <a:off x="9486900" y="4419600"/>
            <a:ext cx="7810500" cy="19050"/>
          </a:xfrm>
          <a:prstGeom prst="rect">
            <a:avLst/>
          </a:prstGeom>
          <a:solidFill>
            <a:srgbClr val="D9E0DF"/>
          </a:solidFill>
          <a:ln w="0">
            <a:solidFill>
              <a:srgbClr val="D9E0DF"/>
            </a:solidFill>
            <a:prstDash val="solid"/>
          </a:ln>
        </p:spPr>
        <p:txBody>
          <a:bodyPr/>
          <a:lstStyle/>
          <a:p>
            <a:endParaRPr lang="en-DE"/>
          </a:p>
        </p:txBody>
      </p:sp>
      <p:sp>
        <p:nvSpPr>
          <p:cNvPr id="24" name="Rectangle 23">
            <a:extLst>
              <a:ext uri="{FF2B5EF4-FFF2-40B4-BE49-F238E27FC236}">
                <a16:creationId xmlns:a16="http://schemas.microsoft.com/office/drawing/2014/main" id="{60551884-505A-42A7-87AD-8056EE935F55}"/>
              </a:ext>
            </a:extLst>
          </p:cNvPr>
          <p:cNvSpPr>
            <a:spLocks noGrp="1"/>
          </p:cNvSpPr>
          <p:nvPr/>
        </p:nvSpPr>
        <p:spPr>
          <a:xfrm>
            <a:off x="9486900" y="4876800"/>
            <a:ext cx="7810500" cy="247650"/>
          </a:xfrm>
          <a:prstGeom prst="rect">
            <a:avLst/>
          </a:prstGeom>
        </p:spPr>
        <p:txBody>
          <a:bodyPr lIns="0" tIns="0" rIns="0" bIns="0"/>
          <a:lstStyle/>
          <a:p>
            <a:pPr>
              <a:defRPr sz="1575" b="1" i="0">
                <a:solidFill>
                  <a:srgbClr val="007C89"/>
                </a:solidFill>
              </a:defRPr>
            </a:pPr>
            <a:r>
              <a:rPr sz="1575" b="1" i="0">
                <a:solidFill>
                  <a:srgbClr val="007C89"/>
                </a:solidFill>
              </a:rPr>
              <a:t>Pose parquet + calibration note</a:t>
            </a:r>
          </a:p>
        </p:txBody>
      </p:sp>
      <p:sp>
        <p:nvSpPr>
          <p:cNvPr id="25" name="Rectangle: Rounded Corners 24">
            <a:extLst>
              <a:ext uri="{FF2B5EF4-FFF2-40B4-BE49-F238E27FC236}">
                <a16:creationId xmlns:a16="http://schemas.microsoft.com/office/drawing/2014/main" id="{E9707BB6-2ABF-4EE0-B94B-C090C185F380}"/>
              </a:ext>
            </a:extLst>
          </p:cNvPr>
          <p:cNvSpPr>
            <a:spLocks noGrp="1"/>
          </p:cNvSpPr>
          <p:nvPr/>
        </p:nvSpPr>
        <p:spPr>
          <a:xfrm>
            <a:off x="781050" y="5524500"/>
            <a:ext cx="8258175" cy="2933700"/>
          </a:xfrm>
          <a:prstGeom prst="roundRect">
            <a:avLst>
              <a:gd name="adj" fmla="val 5844"/>
            </a:avLst>
          </a:prstGeom>
          <a:solidFill>
            <a:srgbClr val="FFFFFF"/>
          </a:solidFill>
        </p:spPr>
        <p:txBody>
          <a:bodyPr/>
          <a:lstStyle/>
          <a:p>
            <a:endParaRPr lang="en-DE"/>
          </a:p>
        </p:txBody>
      </p:sp>
      <p:sp>
        <p:nvSpPr>
          <p:cNvPr id="26" name="Rectangle 25">
            <a:extLst>
              <a:ext uri="{FF2B5EF4-FFF2-40B4-BE49-F238E27FC236}">
                <a16:creationId xmlns:a16="http://schemas.microsoft.com/office/drawing/2014/main" id="{9910DE3E-0FDA-4FE8-AF42-4AE23AA7F445}"/>
              </a:ext>
            </a:extLst>
          </p:cNvPr>
          <p:cNvSpPr>
            <a:spLocks noGrp="1"/>
          </p:cNvSpPr>
          <p:nvPr/>
        </p:nvSpPr>
        <p:spPr>
          <a:xfrm>
            <a:off x="1009650" y="5810250"/>
            <a:ext cx="6515100" cy="304800"/>
          </a:xfrm>
          <a:prstGeom prst="rect">
            <a:avLst/>
          </a:prstGeom>
        </p:spPr>
        <p:txBody>
          <a:bodyPr lIns="0" tIns="0" rIns="0" bIns="0"/>
          <a:lstStyle/>
          <a:p>
            <a:pPr>
              <a:defRPr sz="1875" b="1" i="0">
                <a:solidFill>
                  <a:srgbClr val="172026"/>
                </a:solidFill>
              </a:defRPr>
            </a:pPr>
            <a:r>
              <a:rPr sz="1875" b="1" i="0" dirty="0">
                <a:solidFill>
                  <a:srgbClr val="172026"/>
                </a:solidFill>
              </a:rPr>
              <a:t>Curated corpus</a:t>
            </a:r>
          </a:p>
        </p:txBody>
      </p:sp>
      <p:sp>
        <p:nvSpPr>
          <p:cNvPr id="27" name="Rectangle: Rounded Corners 26">
            <a:extLst>
              <a:ext uri="{FF2B5EF4-FFF2-40B4-BE49-F238E27FC236}">
                <a16:creationId xmlns:a16="http://schemas.microsoft.com/office/drawing/2014/main" id="{014220B8-A94F-409D-9B10-99E01554F346}"/>
              </a:ext>
            </a:extLst>
          </p:cNvPr>
          <p:cNvSpPr>
            <a:spLocks noGrp="1"/>
          </p:cNvSpPr>
          <p:nvPr/>
        </p:nvSpPr>
        <p:spPr>
          <a:xfrm>
            <a:off x="7523321" y="5753100"/>
            <a:ext cx="1287304" cy="419100"/>
          </a:xfrm>
          <a:prstGeom prst="roundRect">
            <a:avLst>
              <a:gd name="adj" fmla="val 50000"/>
            </a:avLst>
          </a:prstGeom>
          <a:solidFill>
            <a:srgbClr val="F1F5F4"/>
          </a:solidFill>
        </p:spPr>
        <p:txBody>
          <a:bodyPr/>
          <a:lstStyle/>
          <a:p>
            <a:endParaRPr lang="en-DE"/>
          </a:p>
        </p:txBody>
      </p:sp>
      <p:sp>
        <p:nvSpPr>
          <p:cNvPr id="28" name="Rectangle 27">
            <a:extLst>
              <a:ext uri="{FF2B5EF4-FFF2-40B4-BE49-F238E27FC236}">
                <a16:creationId xmlns:a16="http://schemas.microsoft.com/office/drawing/2014/main" id="{C529ADE5-92FD-4FBB-BD9C-C7862CA7151B}"/>
              </a:ext>
            </a:extLst>
          </p:cNvPr>
          <p:cNvSpPr>
            <a:spLocks noGrp="1"/>
          </p:cNvSpPr>
          <p:nvPr/>
        </p:nvSpPr>
        <p:spPr>
          <a:xfrm>
            <a:off x="7696200" y="5848350"/>
            <a:ext cx="952500" cy="228600"/>
          </a:xfrm>
          <a:prstGeom prst="rect">
            <a:avLst/>
          </a:prstGeom>
        </p:spPr>
        <p:txBody>
          <a:bodyPr lIns="0" tIns="0" rIns="0" bIns="0"/>
          <a:lstStyle/>
          <a:p>
            <a:pPr>
              <a:defRPr sz="1500" b="1" i="0">
                <a:solidFill>
                  <a:srgbClr val="B63A33"/>
                </a:solidFill>
              </a:defRPr>
            </a:pPr>
            <a:r>
              <a:rPr sz="1500" b="1" i="0">
                <a:solidFill>
                  <a:srgbClr val="B63A33"/>
                </a:solidFill>
              </a:rPr>
              <a:t>May 15 / 21</a:t>
            </a:r>
          </a:p>
        </p:txBody>
      </p:sp>
      <p:sp>
        <p:nvSpPr>
          <p:cNvPr id="29" name="Rectangle 28">
            <a:extLst>
              <a:ext uri="{FF2B5EF4-FFF2-40B4-BE49-F238E27FC236}">
                <a16:creationId xmlns:a16="http://schemas.microsoft.com/office/drawing/2014/main" id="{13B0DE6B-C18A-4AA9-869D-F09AA0520975}"/>
              </a:ext>
            </a:extLst>
          </p:cNvPr>
          <p:cNvSpPr>
            <a:spLocks noGrp="1"/>
          </p:cNvSpPr>
          <p:nvPr/>
        </p:nvSpPr>
        <p:spPr>
          <a:xfrm>
            <a:off x="1009650" y="6686550"/>
            <a:ext cx="7810500" cy="228600"/>
          </a:xfrm>
          <a:prstGeom prst="rect">
            <a:avLst/>
          </a:prstGeom>
        </p:spPr>
        <p:txBody>
          <a:bodyPr lIns="0" tIns="0" rIns="0" bIns="0"/>
          <a:lstStyle/>
          <a:p>
            <a:pPr>
              <a:defRPr sz="1500" b="0" i="0">
                <a:solidFill>
                  <a:srgbClr val="52606D"/>
                </a:solidFill>
              </a:defRPr>
            </a:pPr>
            <a:r>
              <a:rPr sz="1500" b="0" i="0">
                <a:solidFill>
                  <a:srgbClr val="52606D"/>
                </a:solidFill>
              </a:rPr>
              <a:t>Hand-curate 20-30 videos; file DPIA outline.</a:t>
            </a:r>
          </a:p>
        </p:txBody>
      </p:sp>
      <p:sp>
        <p:nvSpPr>
          <p:cNvPr id="30" name="Rectangle 29">
            <a:extLst>
              <a:ext uri="{FF2B5EF4-FFF2-40B4-BE49-F238E27FC236}">
                <a16:creationId xmlns:a16="http://schemas.microsoft.com/office/drawing/2014/main" id="{708C031B-5EC1-4C8D-A3FE-23BB19105783}"/>
              </a:ext>
            </a:extLst>
          </p:cNvPr>
          <p:cNvSpPr>
            <a:spLocks noGrp="1"/>
          </p:cNvSpPr>
          <p:nvPr/>
        </p:nvSpPr>
        <p:spPr>
          <a:xfrm>
            <a:off x="1009650" y="7448550"/>
            <a:ext cx="7810500" cy="19050"/>
          </a:xfrm>
          <a:prstGeom prst="rect">
            <a:avLst/>
          </a:prstGeom>
          <a:solidFill>
            <a:srgbClr val="D9E0DF"/>
          </a:solidFill>
          <a:ln w="0">
            <a:solidFill>
              <a:srgbClr val="D9E0DF"/>
            </a:solidFill>
            <a:prstDash val="solid"/>
          </a:ln>
        </p:spPr>
        <p:txBody>
          <a:bodyPr/>
          <a:lstStyle/>
          <a:p>
            <a:endParaRPr lang="en-DE"/>
          </a:p>
        </p:txBody>
      </p:sp>
      <p:sp>
        <p:nvSpPr>
          <p:cNvPr id="31" name="Rectangle 30">
            <a:extLst>
              <a:ext uri="{FF2B5EF4-FFF2-40B4-BE49-F238E27FC236}">
                <a16:creationId xmlns:a16="http://schemas.microsoft.com/office/drawing/2014/main" id="{B4CBB20D-330E-40A1-B72C-00CFF0035439}"/>
              </a:ext>
            </a:extLst>
          </p:cNvPr>
          <p:cNvSpPr>
            <a:spLocks noGrp="1"/>
          </p:cNvSpPr>
          <p:nvPr/>
        </p:nvSpPr>
        <p:spPr>
          <a:xfrm>
            <a:off x="1009650" y="7981950"/>
            <a:ext cx="7810500" cy="247650"/>
          </a:xfrm>
          <a:prstGeom prst="rect">
            <a:avLst/>
          </a:prstGeom>
        </p:spPr>
        <p:txBody>
          <a:bodyPr lIns="0" tIns="0" rIns="0" bIns="0"/>
          <a:lstStyle/>
          <a:p>
            <a:pPr>
              <a:defRPr sz="1575" b="1" i="0">
                <a:solidFill>
                  <a:srgbClr val="B63A33"/>
                </a:solidFill>
              </a:defRPr>
            </a:pPr>
            <a:r>
              <a:rPr sz="1575" b="1" i="0">
                <a:solidFill>
                  <a:srgbClr val="B63A33"/>
                </a:solidFill>
              </a:rPr>
              <a:t>Corpus manifest + DPIA outline</a:t>
            </a:r>
          </a:p>
        </p:txBody>
      </p:sp>
      <p:sp>
        <p:nvSpPr>
          <p:cNvPr id="32" name="Rectangle: Rounded Corners 31">
            <a:extLst>
              <a:ext uri="{FF2B5EF4-FFF2-40B4-BE49-F238E27FC236}">
                <a16:creationId xmlns:a16="http://schemas.microsoft.com/office/drawing/2014/main" id="{00E087CA-D12B-4055-B092-1DE8D12BFA57}"/>
              </a:ext>
            </a:extLst>
          </p:cNvPr>
          <p:cNvSpPr>
            <a:spLocks noGrp="1"/>
          </p:cNvSpPr>
          <p:nvPr/>
        </p:nvSpPr>
        <p:spPr>
          <a:xfrm>
            <a:off x="9248775" y="5524500"/>
            <a:ext cx="8258175" cy="2933700"/>
          </a:xfrm>
          <a:prstGeom prst="roundRect">
            <a:avLst>
              <a:gd name="adj" fmla="val 5844"/>
            </a:avLst>
          </a:prstGeom>
          <a:solidFill>
            <a:srgbClr val="FFFFFF"/>
          </a:solidFill>
        </p:spPr>
        <p:txBody>
          <a:bodyPr/>
          <a:lstStyle/>
          <a:p>
            <a:endParaRPr lang="en-DE"/>
          </a:p>
        </p:txBody>
      </p:sp>
      <p:sp>
        <p:nvSpPr>
          <p:cNvPr id="33" name="Rectangle 32">
            <a:extLst>
              <a:ext uri="{FF2B5EF4-FFF2-40B4-BE49-F238E27FC236}">
                <a16:creationId xmlns:a16="http://schemas.microsoft.com/office/drawing/2014/main" id="{C6D5C838-C6E4-4502-9E79-0733C0B5EB8F}"/>
              </a:ext>
            </a:extLst>
          </p:cNvPr>
          <p:cNvSpPr>
            <a:spLocks noGrp="1"/>
          </p:cNvSpPr>
          <p:nvPr/>
        </p:nvSpPr>
        <p:spPr>
          <a:xfrm>
            <a:off x="9486900" y="5924550"/>
            <a:ext cx="6877050" cy="304800"/>
          </a:xfrm>
          <a:prstGeom prst="rect">
            <a:avLst/>
          </a:prstGeom>
        </p:spPr>
        <p:txBody>
          <a:bodyPr lIns="0" tIns="0" rIns="0" bIns="0"/>
          <a:lstStyle/>
          <a:p>
            <a:pPr>
              <a:defRPr sz="1875" b="1" i="0">
                <a:solidFill>
                  <a:srgbClr val="172026"/>
                </a:solidFill>
              </a:defRPr>
            </a:pPr>
            <a:r>
              <a:rPr sz="1875" b="1" i="0">
                <a:solidFill>
                  <a:srgbClr val="172026"/>
                </a:solidFill>
              </a:rPr>
              <a:t>Virtual Mirror</a:t>
            </a:r>
          </a:p>
        </p:txBody>
      </p:sp>
      <p:sp>
        <p:nvSpPr>
          <p:cNvPr id="34" name="Rectangle: Rounded Corners 33">
            <a:extLst>
              <a:ext uri="{FF2B5EF4-FFF2-40B4-BE49-F238E27FC236}">
                <a16:creationId xmlns:a16="http://schemas.microsoft.com/office/drawing/2014/main" id="{F7BAD301-5F43-4AFA-867F-E6D6ED9C0530}"/>
              </a:ext>
            </a:extLst>
          </p:cNvPr>
          <p:cNvSpPr>
            <a:spLocks noGrp="1"/>
          </p:cNvSpPr>
          <p:nvPr/>
        </p:nvSpPr>
        <p:spPr>
          <a:xfrm>
            <a:off x="16352044" y="5753100"/>
            <a:ext cx="926306" cy="647700"/>
          </a:xfrm>
          <a:prstGeom prst="roundRect">
            <a:avLst>
              <a:gd name="adj" fmla="val 50000"/>
            </a:avLst>
          </a:prstGeom>
          <a:solidFill>
            <a:srgbClr val="F1F5F4"/>
          </a:solidFill>
        </p:spPr>
        <p:txBody>
          <a:bodyPr/>
          <a:lstStyle/>
          <a:p>
            <a:endParaRPr lang="en-DE"/>
          </a:p>
        </p:txBody>
      </p:sp>
      <p:sp>
        <p:nvSpPr>
          <p:cNvPr id="35" name="Rectangle 34">
            <a:extLst>
              <a:ext uri="{FF2B5EF4-FFF2-40B4-BE49-F238E27FC236}">
                <a16:creationId xmlns:a16="http://schemas.microsoft.com/office/drawing/2014/main" id="{A35F8073-10BB-4A52-A8E7-CBD7A3EB496F}"/>
              </a:ext>
            </a:extLst>
          </p:cNvPr>
          <p:cNvSpPr>
            <a:spLocks noGrp="1"/>
          </p:cNvSpPr>
          <p:nvPr/>
        </p:nvSpPr>
        <p:spPr>
          <a:xfrm>
            <a:off x="16516350" y="5848350"/>
            <a:ext cx="590550" cy="457200"/>
          </a:xfrm>
          <a:prstGeom prst="rect">
            <a:avLst/>
          </a:prstGeom>
        </p:spPr>
        <p:txBody>
          <a:bodyPr lIns="0" tIns="0" rIns="0" bIns="0"/>
          <a:lstStyle/>
          <a:p>
            <a:pPr>
              <a:defRPr sz="1500" b="1" i="0">
                <a:solidFill>
                  <a:srgbClr val="6554C0"/>
                </a:solidFill>
              </a:defRPr>
            </a:pPr>
            <a:r>
              <a:rPr sz="1500" b="1" i="0">
                <a:solidFill>
                  <a:srgbClr val="6554C0"/>
                </a:solidFill>
              </a:rPr>
              <a:t>May 21</a:t>
            </a:r>
          </a:p>
        </p:txBody>
      </p:sp>
      <p:sp>
        <p:nvSpPr>
          <p:cNvPr id="36" name="Rectangle 35">
            <a:extLst>
              <a:ext uri="{FF2B5EF4-FFF2-40B4-BE49-F238E27FC236}">
                <a16:creationId xmlns:a16="http://schemas.microsoft.com/office/drawing/2014/main" id="{0FF54FBC-1613-4D6E-98F2-81A227E09289}"/>
              </a:ext>
            </a:extLst>
          </p:cNvPr>
          <p:cNvSpPr>
            <a:spLocks noGrp="1"/>
          </p:cNvSpPr>
          <p:nvPr/>
        </p:nvSpPr>
        <p:spPr>
          <a:xfrm>
            <a:off x="9486900" y="6838950"/>
            <a:ext cx="7810500" cy="228600"/>
          </a:xfrm>
          <a:prstGeom prst="rect">
            <a:avLst/>
          </a:prstGeom>
        </p:spPr>
        <p:txBody>
          <a:bodyPr lIns="0" tIns="0" rIns="0" bIns="0"/>
          <a:lstStyle/>
          <a:p>
            <a:pPr>
              <a:defRPr sz="1500" b="0" i="0">
                <a:solidFill>
                  <a:srgbClr val="52606D"/>
                </a:solidFill>
              </a:defRPr>
            </a:pPr>
            <a:r>
              <a:rPr sz="1500" b="0" i="0">
                <a:solidFill>
                  <a:srgbClr val="52606D"/>
                </a:solidFill>
              </a:rPr>
              <a:t>Export team WhatsApp; run SocialCompass tools.</a:t>
            </a:r>
          </a:p>
        </p:txBody>
      </p:sp>
      <p:sp>
        <p:nvSpPr>
          <p:cNvPr id="37" name="Rectangle 36">
            <a:extLst>
              <a:ext uri="{FF2B5EF4-FFF2-40B4-BE49-F238E27FC236}">
                <a16:creationId xmlns:a16="http://schemas.microsoft.com/office/drawing/2014/main" id="{D7889BA6-8913-4B69-AA11-08D4D0BF9F94}"/>
              </a:ext>
            </a:extLst>
          </p:cNvPr>
          <p:cNvSpPr>
            <a:spLocks noGrp="1"/>
          </p:cNvSpPr>
          <p:nvPr/>
        </p:nvSpPr>
        <p:spPr>
          <a:xfrm>
            <a:off x="9486900" y="7524750"/>
            <a:ext cx="7810500" cy="19050"/>
          </a:xfrm>
          <a:prstGeom prst="rect">
            <a:avLst/>
          </a:prstGeom>
          <a:solidFill>
            <a:srgbClr val="D9E0DF"/>
          </a:solidFill>
          <a:ln w="0">
            <a:solidFill>
              <a:srgbClr val="D9E0DF"/>
            </a:solidFill>
            <a:prstDash val="solid"/>
          </a:ln>
        </p:spPr>
        <p:txBody>
          <a:bodyPr/>
          <a:lstStyle/>
          <a:p>
            <a:endParaRPr lang="en-DE"/>
          </a:p>
        </p:txBody>
      </p:sp>
      <p:sp>
        <p:nvSpPr>
          <p:cNvPr id="38" name="Rectangle 37">
            <a:extLst>
              <a:ext uri="{FF2B5EF4-FFF2-40B4-BE49-F238E27FC236}">
                <a16:creationId xmlns:a16="http://schemas.microsoft.com/office/drawing/2014/main" id="{37EE7E66-39B2-4D30-A21B-7E4FE1445255}"/>
              </a:ext>
            </a:extLst>
          </p:cNvPr>
          <p:cNvSpPr>
            <a:spLocks noGrp="1"/>
          </p:cNvSpPr>
          <p:nvPr/>
        </p:nvSpPr>
        <p:spPr>
          <a:xfrm>
            <a:off x="9486900" y="7981950"/>
            <a:ext cx="7810500" cy="247650"/>
          </a:xfrm>
          <a:prstGeom prst="rect">
            <a:avLst/>
          </a:prstGeom>
        </p:spPr>
        <p:txBody>
          <a:bodyPr lIns="0" tIns="0" rIns="0" bIns="0"/>
          <a:lstStyle/>
          <a:p>
            <a:pPr>
              <a:defRPr sz="1575" b="1" i="0">
                <a:solidFill>
                  <a:srgbClr val="6554C0"/>
                </a:solidFill>
              </a:defRPr>
            </a:pPr>
            <a:r>
              <a:rPr sz="1575" b="1" i="0">
                <a:solidFill>
                  <a:srgbClr val="6554C0"/>
                </a:solidFill>
              </a:rPr>
              <a:t>Mirror write-up for VS#3</a:t>
            </a:r>
          </a:p>
        </p:txBody>
      </p:sp>
      <p:sp>
        <p:nvSpPr>
          <p:cNvPr id="39" name="Rectangle: Rounded Corners 38">
            <a:extLst>
              <a:ext uri="{FF2B5EF4-FFF2-40B4-BE49-F238E27FC236}">
                <a16:creationId xmlns:a16="http://schemas.microsoft.com/office/drawing/2014/main" id="{2F38216E-1553-42AA-A79E-417864883B4B}"/>
              </a:ext>
            </a:extLst>
          </p:cNvPr>
          <p:cNvSpPr>
            <a:spLocks noGrp="1"/>
          </p:cNvSpPr>
          <p:nvPr/>
        </p:nvSpPr>
        <p:spPr>
          <a:xfrm>
            <a:off x="781050" y="8724900"/>
            <a:ext cx="16725900" cy="990600"/>
          </a:xfrm>
          <a:prstGeom prst="roundRect">
            <a:avLst>
              <a:gd name="adj" fmla="val 17308"/>
            </a:avLst>
          </a:prstGeom>
          <a:solidFill>
            <a:srgbClr val="172026"/>
          </a:solidFill>
        </p:spPr>
        <p:txBody>
          <a:bodyPr/>
          <a:lstStyle/>
          <a:p>
            <a:endParaRPr lang="en-DE"/>
          </a:p>
        </p:txBody>
      </p:sp>
      <p:sp>
        <p:nvSpPr>
          <p:cNvPr id="40" name="Rectangle: Rounded Corners 39">
            <a:extLst>
              <a:ext uri="{FF2B5EF4-FFF2-40B4-BE49-F238E27FC236}">
                <a16:creationId xmlns:a16="http://schemas.microsoft.com/office/drawing/2014/main" id="{E2E561D7-E58F-43E7-8739-8228EAA5A012}"/>
              </a:ext>
            </a:extLst>
          </p:cNvPr>
          <p:cNvSpPr>
            <a:spLocks noGrp="1"/>
          </p:cNvSpPr>
          <p:nvPr/>
        </p:nvSpPr>
        <p:spPr>
          <a:xfrm>
            <a:off x="1009650" y="8896350"/>
            <a:ext cx="1426940" cy="647700"/>
          </a:xfrm>
          <a:prstGeom prst="roundRect">
            <a:avLst>
              <a:gd name="adj" fmla="val 50000"/>
            </a:avLst>
          </a:prstGeom>
          <a:solidFill>
            <a:srgbClr val="FFFFFF"/>
          </a:solidFill>
        </p:spPr>
        <p:txBody>
          <a:bodyPr/>
          <a:lstStyle/>
          <a:p>
            <a:endParaRPr lang="en-DE"/>
          </a:p>
        </p:txBody>
      </p:sp>
      <p:sp>
        <p:nvSpPr>
          <p:cNvPr id="41" name="Rectangle 40">
            <a:extLst>
              <a:ext uri="{FF2B5EF4-FFF2-40B4-BE49-F238E27FC236}">
                <a16:creationId xmlns:a16="http://schemas.microsoft.com/office/drawing/2014/main" id="{2A0EA725-D700-433F-94EE-434E18C6E0F0}"/>
              </a:ext>
            </a:extLst>
          </p:cNvPr>
          <p:cNvSpPr>
            <a:spLocks noGrp="1"/>
          </p:cNvSpPr>
          <p:nvPr/>
        </p:nvSpPr>
        <p:spPr>
          <a:xfrm>
            <a:off x="1180195" y="9086850"/>
            <a:ext cx="1085850" cy="457200"/>
          </a:xfrm>
          <a:prstGeom prst="rect">
            <a:avLst/>
          </a:prstGeom>
        </p:spPr>
        <p:txBody>
          <a:bodyPr lIns="0" tIns="0" rIns="0" bIns="0"/>
          <a:lstStyle/>
          <a:p>
            <a:pPr>
              <a:defRPr sz="1500" b="1" i="0">
                <a:solidFill>
                  <a:srgbClr val="172026"/>
                </a:solidFill>
              </a:defRPr>
            </a:pPr>
            <a:r>
              <a:rPr sz="1500" b="1" i="0" dirty="0">
                <a:solidFill>
                  <a:srgbClr val="172026"/>
                </a:solidFill>
              </a:rPr>
              <a:t>Dataset order</a:t>
            </a:r>
          </a:p>
        </p:txBody>
      </p:sp>
      <p:sp>
        <p:nvSpPr>
          <p:cNvPr id="42" name="Rectangle 41">
            <a:extLst>
              <a:ext uri="{FF2B5EF4-FFF2-40B4-BE49-F238E27FC236}">
                <a16:creationId xmlns:a16="http://schemas.microsoft.com/office/drawing/2014/main" id="{681EAF05-6121-4E58-A5E4-50B8776A401B}"/>
              </a:ext>
            </a:extLst>
          </p:cNvPr>
          <p:cNvSpPr>
            <a:spLocks noGrp="1"/>
          </p:cNvSpPr>
          <p:nvPr/>
        </p:nvSpPr>
        <p:spPr>
          <a:xfrm>
            <a:off x="2571750" y="9086850"/>
            <a:ext cx="14706600" cy="266700"/>
          </a:xfrm>
          <a:prstGeom prst="rect">
            <a:avLst/>
          </a:prstGeom>
        </p:spPr>
        <p:txBody>
          <a:bodyPr lIns="0" tIns="0" rIns="0" bIns="0"/>
          <a:lstStyle/>
          <a:p>
            <a:pPr>
              <a:defRPr sz="1650" b="1" i="0">
                <a:solidFill>
                  <a:srgbClr val="EAF0EF"/>
                </a:solidFill>
              </a:defRPr>
            </a:pPr>
            <a:r>
              <a:rPr sz="1650" b="1" i="0">
                <a:solidFill>
                  <a:srgbClr val="EAF0EF"/>
                </a:solidFill>
              </a:rPr>
              <a:t>Tier 2 on disk first -&gt; Tier 1 curated second -&gt; Tier 3 generated from Tier 2 after audio pipeline runs.</a:t>
            </a:r>
          </a:p>
        </p:txBody>
      </p:sp>
    </p:spTree>
    <p:extLst>
      <p:ext uri="{BB962C8B-B14F-4D97-AF65-F5344CB8AC3E}">
        <p14:creationId xmlns:p14="http://schemas.microsoft.com/office/powerpoint/2010/main" val="776765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bg">
            <a:extLst>
              <a:ext uri="{FF2B5EF4-FFF2-40B4-BE49-F238E27FC236}">
                <a16:creationId xmlns:a16="http://schemas.microsoft.com/office/drawing/2014/main" id="{CB698D12-3FF6-44C6-A190-17E9ADF09D29}"/>
              </a:ext>
            </a:extLst>
          </p:cNvPr>
          <p:cNvSpPr>
            <a:spLocks noGrp="1"/>
          </p:cNvSpPr>
          <p:nvPr/>
        </p:nvSpPr>
        <p:spPr>
          <a:xfrm>
            <a:off x="0" y="0"/>
            <a:ext cx="18288000" cy="10287000"/>
          </a:xfrm>
          <a:prstGeom prst="rect">
            <a:avLst/>
          </a:prstGeom>
          <a:solidFill>
            <a:srgbClr val="F7F9F8"/>
          </a:solidFill>
        </p:spPr>
        <p:txBody>
          <a:bodyPr/>
          <a:lstStyle/>
          <a:p>
            <a:endParaRPr lang="en-DE"/>
          </a:p>
        </p:txBody>
      </p:sp>
      <p:sp>
        <p:nvSpPr>
          <p:cNvPr id="2" name="Rectangle 1">
            <a:extLst>
              <a:ext uri="{FF2B5EF4-FFF2-40B4-BE49-F238E27FC236}">
                <a16:creationId xmlns:a16="http://schemas.microsoft.com/office/drawing/2014/main" id="{ED6518AF-328F-484A-B9B7-0C7089BE38F9}"/>
              </a:ext>
            </a:extLst>
          </p:cNvPr>
          <p:cNvSpPr>
            <a:spLocks noGrp="1"/>
          </p:cNvSpPr>
          <p:nvPr/>
        </p:nvSpPr>
        <p:spPr>
          <a:xfrm>
            <a:off x="0" y="0"/>
            <a:ext cx="4572000" cy="10287000"/>
          </a:xfrm>
          <a:prstGeom prst="rect">
            <a:avLst/>
          </a:prstGeom>
          <a:solidFill>
            <a:srgbClr val="FFFFFF"/>
          </a:solidFill>
        </p:spPr>
        <p:txBody>
          <a:bodyPr/>
          <a:lstStyle/>
          <a:p>
            <a:endParaRPr lang="en-DE"/>
          </a:p>
        </p:txBody>
      </p:sp>
      <p:sp>
        <p:nvSpPr>
          <p:cNvPr id="3" name="Rectangle 2">
            <a:extLst>
              <a:ext uri="{FF2B5EF4-FFF2-40B4-BE49-F238E27FC236}">
                <a16:creationId xmlns:a16="http://schemas.microsoft.com/office/drawing/2014/main" id="{7D5B2A7E-AB10-4554-987C-E57368A4FE8D}"/>
              </a:ext>
            </a:extLst>
          </p:cNvPr>
          <p:cNvSpPr>
            <a:spLocks noGrp="1"/>
          </p:cNvSpPr>
          <p:nvPr/>
        </p:nvSpPr>
        <p:spPr>
          <a:xfrm>
            <a:off x="4572000" y="0"/>
            <a:ext cx="4572000" cy="10287000"/>
          </a:xfrm>
          <a:prstGeom prst="rect">
            <a:avLst/>
          </a:prstGeom>
          <a:solidFill>
            <a:srgbClr val="F3F7F7"/>
          </a:solidFill>
        </p:spPr>
        <p:txBody>
          <a:bodyPr/>
          <a:lstStyle/>
          <a:p>
            <a:endParaRPr lang="en-DE"/>
          </a:p>
        </p:txBody>
      </p:sp>
      <p:sp>
        <p:nvSpPr>
          <p:cNvPr id="4" name="Rectangle 3">
            <a:extLst>
              <a:ext uri="{FF2B5EF4-FFF2-40B4-BE49-F238E27FC236}">
                <a16:creationId xmlns:a16="http://schemas.microsoft.com/office/drawing/2014/main" id="{E71F12EE-8580-4B83-BFF5-7761D7F02831}"/>
              </a:ext>
            </a:extLst>
          </p:cNvPr>
          <p:cNvSpPr>
            <a:spLocks noGrp="1"/>
          </p:cNvSpPr>
          <p:nvPr/>
        </p:nvSpPr>
        <p:spPr>
          <a:xfrm>
            <a:off x="9144000" y="0"/>
            <a:ext cx="4572000" cy="10287000"/>
          </a:xfrm>
          <a:prstGeom prst="rect">
            <a:avLst/>
          </a:prstGeom>
          <a:solidFill>
            <a:srgbClr val="FAF9F4"/>
          </a:solidFill>
        </p:spPr>
        <p:txBody>
          <a:bodyPr/>
          <a:lstStyle/>
          <a:p>
            <a:endParaRPr lang="en-DE"/>
          </a:p>
        </p:txBody>
      </p:sp>
      <p:sp>
        <p:nvSpPr>
          <p:cNvPr id="5" name="Rectangle 4">
            <a:extLst>
              <a:ext uri="{FF2B5EF4-FFF2-40B4-BE49-F238E27FC236}">
                <a16:creationId xmlns:a16="http://schemas.microsoft.com/office/drawing/2014/main" id="{0EE8FD9B-EB54-4338-B77F-D0643A1C51D0}"/>
              </a:ext>
            </a:extLst>
          </p:cNvPr>
          <p:cNvSpPr>
            <a:spLocks noGrp="1"/>
          </p:cNvSpPr>
          <p:nvPr/>
        </p:nvSpPr>
        <p:spPr>
          <a:xfrm>
            <a:off x="13716000" y="0"/>
            <a:ext cx="4572000" cy="10287000"/>
          </a:xfrm>
          <a:prstGeom prst="rect">
            <a:avLst/>
          </a:prstGeom>
          <a:solidFill>
            <a:srgbClr val="F6F8FA"/>
          </a:solidFill>
        </p:spPr>
        <p:txBody>
          <a:bodyPr/>
          <a:lstStyle/>
          <a:p>
            <a:endParaRPr lang="en-DE"/>
          </a:p>
        </p:txBody>
      </p:sp>
      <p:sp>
        <p:nvSpPr>
          <p:cNvPr id="6" name="Oval 5">
            <a:extLst>
              <a:ext uri="{FF2B5EF4-FFF2-40B4-BE49-F238E27FC236}">
                <a16:creationId xmlns:a16="http://schemas.microsoft.com/office/drawing/2014/main" id="{EC13B53E-ED58-45D4-9354-3831E75D260D}"/>
              </a:ext>
            </a:extLst>
          </p:cNvPr>
          <p:cNvSpPr>
            <a:spLocks noGrp="1"/>
          </p:cNvSpPr>
          <p:nvPr/>
        </p:nvSpPr>
        <p:spPr>
          <a:xfrm>
            <a:off x="781050" y="1009650"/>
            <a:ext cx="114300" cy="114300"/>
          </a:xfrm>
          <a:prstGeom prst="ellipse">
            <a:avLst/>
          </a:prstGeom>
          <a:solidFill>
            <a:srgbClr val="6554C0"/>
          </a:solidFill>
        </p:spPr>
        <p:txBody>
          <a:bodyPr/>
          <a:lstStyle/>
          <a:p>
            <a:endParaRPr lang="en-DE"/>
          </a:p>
        </p:txBody>
      </p:sp>
      <p:sp>
        <p:nvSpPr>
          <p:cNvPr id="7" name="Rectangle 6">
            <a:extLst>
              <a:ext uri="{FF2B5EF4-FFF2-40B4-BE49-F238E27FC236}">
                <a16:creationId xmlns:a16="http://schemas.microsoft.com/office/drawing/2014/main" id="{EE317E82-3B6A-4091-B0FF-25B8CF3566F3}"/>
              </a:ext>
            </a:extLst>
          </p:cNvPr>
          <p:cNvSpPr>
            <a:spLocks noGrp="1"/>
          </p:cNvSpPr>
          <p:nvPr/>
        </p:nvSpPr>
        <p:spPr>
          <a:xfrm>
            <a:off x="990600" y="876300"/>
            <a:ext cx="1181100" cy="381000"/>
          </a:xfrm>
          <a:prstGeom prst="rect">
            <a:avLst/>
          </a:prstGeom>
        </p:spPr>
        <p:txBody>
          <a:bodyPr lIns="0" tIns="0" rIns="0" bIns="0"/>
          <a:lstStyle/>
          <a:p>
            <a:pPr>
              <a:defRPr sz="1200" b="1" i="0">
                <a:solidFill>
                  <a:srgbClr val="7A8793"/>
                </a:solidFill>
              </a:defRPr>
            </a:pPr>
            <a:r>
              <a:rPr sz="1200" b="1" i="0">
                <a:solidFill>
                  <a:srgbClr val="7A8793"/>
                </a:solidFill>
              </a:rPr>
              <a:t>WAY OF WORKING</a:t>
            </a:r>
          </a:p>
        </p:txBody>
      </p:sp>
      <p:sp>
        <p:nvSpPr>
          <p:cNvPr id="8" name="slide-title">
            <a:extLst>
              <a:ext uri="{FF2B5EF4-FFF2-40B4-BE49-F238E27FC236}">
                <a16:creationId xmlns:a16="http://schemas.microsoft.com/office/drawing/2014/main" id="{C75F2B99-A59E-4519-BA08-058D55C5A6FF}"/>
              </a:ext>
            </a:extLst>
          </p:cNvPr>
          <p:cNvSpPr>
            <a:spLocks noGrp="1"/>
          </p:cNvSpPr>
          <p:nvPr/>
        </p:nvSpPr>
        <p:spPr>
          <a:xfrm>
            <a:off x="781050" y="1333500"/>
            <a:ext cx="16040100" cy="533400"/>
          </a:xfrm>
          <a:prstGeom prst="rect">
            <a:avLst/>
          </a:prstGeom>
        </p:spPr>
        <p:txBody>
          <a:bodyPr lIns="0" tIns="0" rIns="0" bIns="0"/>
          <a:lstStyle/>
          <a:p>
            <a:pPr>
              <a:defRPr sz="3450" b="1" i="0">
                <a:solidFill>
                  <a:srgbClr val="172026"/>
                </a:solidFill>
              </a:defRPr>
            </a:pPr>
            <a:r>
              <a:rPr sz="3450" b="1" i="0">
                <a:solidFill>
                  <a:srgbClr val="172026"/>
                </a:solidFill>
              </a:rPr>
              <a:t>A lightweight operating rhythm for a short research build</a:t>
            </a:r>
          </a:p>
        </p:txBody>
      </p:sp>
      <p:sp>
        <p:nvSpPr>
          <p:cNvPr id="9" name="Rectangle 8">
            <a:extLst>
              <a:ext uri="{FF2B5EF4-FFF2-40B4-BE49-F238E27FC236}">
                <a16:creationId xmlns:a16="http://schemas.microsoft.com/office/drawing/2014/main" id="{F1E6A14A-CFA0-4A4A-9F5D-3A5B56B01CF2}"/>
              </a:ext>
            </a:extLst>
          </p:cNvPr>
          <p:cNvSpPr>
            <a:spLocks noGrp="1"/>
          </p:cNvSpPr>
          <p:nvPr/>
        </p:nvSpPr>
        <p:spPr>
          <a:xfrm>
            <a:off x="16821150" y="1676400"/>
            <a:ext cx="685800" cy="190500"/>
          </a:xfrm>
          <a:prstGeom prst="rect">
            <a:avLst/>
          </a:prstGeom>
        </p:spPr>
        <p:txBody>
          <a:bodyPr lIns="0" tIns="0" rIns="0" bIns="0"/>
          <a:lstStyle/>
          <a:p>
            <a:pPr>
              <a:defRPr sz="1350" b="0" i="0">
                <a:solidFill>
                  <a:srgbClr val="7A8793"/>
                </a:solidFill>
              </a:defRPr>
            </a:pPr>
            <a:r>
              <a:rPr sz="1350" b="0" i="0">
                <a:solidFill>
                  <a:srgbClr val="7A8793"/>
                </a:solidFill>
              </a:rPr>
              <a:t>07</a:t>
            </a:r>
          </a:p>
        </p:txBody>
      </p:sp>
      <p:sp>
        <p:nvSpPr>
          <p:cNvPr id="10" name="title-rule">
            <a:extLst>
              <a:ext uri="{FF2B5EF4-FFF2-40B4-BE49-F238E27FC236}">
                <a16:creationId xmlns:a16="http://schemas.microsoft.com/office/drawing/2014/main" id="{5182CFEE-E21E-4A09-9D98-BC2095FDDE9C}"/>
              </a:ext>
            </a:extLst>
          </p:cNvPr>
          <p:cNvSpPr>
            <a:spLocks noGrp="1"/>
          </p:cNvSpPr>
          <p:nvPr/>
        </p:nvSpPr>
        <p:spPr>
          <a:xfrm>
            <a:off x="781050" y="2133600"/>
            <a:ext cx="16725900" cy="19050"/>
          </a:xfrm>
          <a:prstGeom prst="rect">
            <a:avLst/>
          </a:prstGeom>
          <a:solidFill>
            <a:srgbClr val="D9E0DF"/>
          </a:solidFill>
          <a:ln w="0">
            <a:solidFill>
              <a:srgbClr val="D9E0DF"/>
            </a:solidFill>
            <a:prstDash val="solid"/>
          </a:ln>
        </p:spPr>
        <p:txBody>
          <a:bodyPr/>
          <a:lstStyle/>
          <a:p>
            <a:endParaRPr lang="en-DE"/>
          </a:p>
        </p:txBody>
      </p:sp>
      <p:sp>
        <p:nvSpPr>
          <p:cNvPr id="11" name="Rectangle: Rounded Corners 10">
            <a:extLst>
              <a:ext uri="{FF2B5EF4-FFF2-40B4-BE49-F238E27FC236}">
                <a16:creationId xmlns:a16="http://schemas.microsoft.com/office/drawing/2014/main" id="{29E240BD-24A7-4E23-824D-8AAC104502C4}"/>
              </a:ext>
            </a:extLst>
          </p:cNvPr>
          <p:cNvSpPr>
            <a:spLocks noGrp="1"/>
          </p:cNvSpPr>
          <p:nvPr/>
        </p:nvSpPr>
        <p:spPr>
          <a:xfrm>
            <a:off x="781050" y="2419350"/>
            <a:ext cx="5397500" cy="4667250"/>
          </a:xfrm>
          <a:prstGeom prst="roundRect">
            <a:avLst>
              <a:gd name="adj" fmla="val 4082"/>
            </a:avLst>
          </a:prstGeom>
          <a:solidFill>
            <a:srgbClr val="FFFFFF"/>
          </a:solidFill>
        </p:spPr>
        <p:txBody>
          <a:bodyPr/>
          <a:lstStyle/>
          <a:p>
            <a:endParaRPr lang="en-DE"/>
          </a:p>
        </p:txBody>
      </p:sp>
      <p:sp>
        <p:nvSpPr>
          <p:cNvPr id="12" name="Oval 11">
            <a:extLst>
              <a:ext uri="{FF2B5EF4-FFF2-40B4-BE49-F238E27FC236}">
                <a16:creationId xmlns:a16="http://schemas.microsoft.com/office/drawing/2014/main" id="{ADA339EB-6C97-432F-B9BC-1E936346C7DA}"/>
              </a:ext>
            </a:extLst>
          </p:cNvPr>
          <p:cNvSpPr>
            <a:spLocks noGrp="1"/>
          </p:cNvSpPr>
          <p:nvPr/>
        </p:nvSpPr>
        <p:spPr>
          <a:xfrm>
            <a:off x="1066800" y="2705100"/>
            <a:ext cx="419100" cy="419100"/>
          </a:xfrm>
          <a:prstGeom prst="ellipse">
            <a:avLst/>
          </a:prstGeom>
          <a:solidFill>
            <a:srgbClr val="2E7D55"/>
          </a:solidFill>
        </p:spPr>
        <p:txBody>
          <a:bodyPr/>
          <a:lstStyle/>
          <a:p>
            <a:endParaRPr lang="en-DE"/>
          </a:p>
        </p:txBody>
      </p:sp>
      <p:sp>
        <p:nvSpPr>
          <p:cNvPr id="13" name="Rectangle 12">
            <a:extLst>
              <a:ext uri="{FF2B5EF4-FFF2-40B4-BE49-F238E27FC236}">
                <a16:creationId xmlns:a16="http://schemas.microsoft.com/office/drawing/2014/main" id="{5594DE3C-E59D-4198-880C-A6735E794CBC}"/>
              </a:ext>
            </a:extLst>
          </p:cNvPr>
          <p:cNvSpPr>
            <a:spLocks noGrp="1"/>
          </p:cNvSpPr>
          <p:nvPr/>
        </p:nvSpPr>
        <p:spPr>
          <a:xfrm>
            <a:off x="1600200" y="2724150"/>
            <a:ext cx="4305300" cy="342900"/>
          </a:xfrm>
          <a:prstGeom prst="rect">
            <a:avLst/>
          </a:prstGeom>
        </p:spPr>
        <p:txBody>
          <a:bodyPr lIns="0" tIns="0" rIns="0" bIns="0"/>
          <a:lstStyle/>
          <a:p>
            <a:pPr>
              <a:defRPr sz="2250" b="1" i="0">
                <a:solidFill>
                  <a:srgbClr val="172026"/>
                </a:solidFill>
              </a:defRPr>
            </a:pPr>
            <a:r>
              <a:rPr sz="2250" b="1" i="0">
                <a:solidFill>
                  <a:srgbClr val="172026"/>
                </a:solidFill>
              </a:rPr>
              <a:t>Cadence</a:t>
            </a:r>
          </a:p>
        </p:txBody>
      </p:sp>
      <p:sp>
        <p:nvSpPr>
          <p:cNvPr id="14" name="Oval 13">
            <a:extLst>
              <a:ext uri="{FF2B5EF4-FFF2-40B4-BE49-F238E27FC236}">
                <a16:creationId xmlns:a16="http://schemas.microsoft.com/office/drawing/2014/main" id="{0358FA1A-1B2A-480D-9B53-43FEBF5BFBA1}"/>
              </a:ext>
            </a:extLst>
          </p:cNvPr>
          <p:cNvSpPr>
            <a:spLocks noGrp="1"/>
          </p:cNvSpPr>
          <p:nvPr/>
        </p:nvSpPr>
        <p:spPr>
          <a:xfrm>
            <a:off x="1047750" y="3390900"/>
            <a:ext cx="85725" cy="85725"/>
          </a:xfrm>
          <a:prstGeom prst="ellipse">
            <a:avLst/>
          </a:prstGeom>
          <a:solidFill>
            <a:srgbClr val="2E7D55"/>
          </a:solidFill>
        </p:spPr>
        <p:txBody>
          <a:bodyPr/>
          <a:lstStyle/>
          <a:p>
            <a:endParaRPr lang="en-DE"/>
          </a:p>
        </p:txBody>
      </p:sp>
      <p:sp>
        <p:nvSpPr>
          <p:cNvPr id="15" name="Rectangle 14">
            <a:extLst>
              <a:ext uri="{FF2B5EF4-FFF2-40B4-BE49-F238E27FC236}">
                <a16:creationId xmlns:a16="http://schemas.microsoft.com/office/drawing/2014/main" id="{4CF4CA51-076F-4F61-9C5C-06C59485DA0D}"/>
              </a:ext>
            </a:extLst>
          </p:cNvPr>
          <p:cNvSpPr>
            <a:spLocks noGrp="1"/>
          </p:cNvSpPr>
          <p:nvPr/>
        </p:nvSpPr>
        <p:spPr>
          <a:xfrm>
            <a:off x="1257300" y="3314700"/>
            <a:ext cx="4667250" cy="266700"/>
          </a:xfrm>
          <a:prstGeom prst="rect">
            <a:avLst/>
          </a:prstGeom>
        </p:spPr>
        <p:txBody>
          <a:bodyPr lIns="0" tIns="0" rIns="0" bIns="0"/>
          <a:lstStyle/>
          <a:p>
            <a:pPr>
              <a:defRPr sz="1650" b="0" i="0">
                <a:solidFill>
                  <a:srgbClr val="52606D"/>
                </a:solidFill>
              </a:defRPr>
            </a:pPr>
            <a:r>
              <a:rPr sz="1650" b="0" i="0">
                <a:solidFill>
                  <a:srgbClr val="52606D"/>
                </a:solidFill>
              </a:rPr>
              <a:t>3-week sprints</a:t>
            </a:r>
          </a:p>
        </p:txBody>
      </p:sp>
      <p:sp>
        <p:nvSpPr>
          <p:cNvPr id="16" name="Oval 15">
            <a:extLst>
              <a:ext uri="{FF2B5EF4-FFF2-40B4-BE49-F238E27FC236}">
                <a16:creationId xmlns:a16="http://schemas.microsoft.com/office/drawing/2014/main" id="{F77D9C04-54C7-422F-8201-A1DFA0808143}"/>
              </a:ext>
            </a:extLst>
          </p:cNvPr>
          <p:cNvSpPr>
            <a:spLocks noGrp="1"/>
          </p:cNvSpPr>
          <p:nvPr/>
        </p:nvSpPr>
        <p:spPr>
          <a:xfrm>
            <a:off x="1047750" y="3867150"/>
            <a:ext cx="85725" cy="85725"/>
          </a:xfrm>
          <a:prstGeom prst="ellipse">
            <a:avLst/>
          </a:prstGeom>
          <a:solidFill>
            <a:srgbClr val="2E7D55"/>
          </a:solidFill>
        </p:spPr>
        <p:txBody>
          <a:bodyPr/>
          <a:lstStyle/>
          <a:p>
            <a:endParaRPr lang="en-DE"/>
          </a:p>
        </p:txBody>
      </p:sp>
      <p:sp>
        <p:nvSpPr>
          <p:cNvPr id="17" name="Rectangle 16">
            <a:extLst>
              <a:ext uri="{FF2B5EF4-FFF2-40B4-BE49-F238E27FC236}">
                <a16:creationId xmlns:a16="http://schemas.microsoft.com/office/drawing/2014/main" id="{767ED73E-7843-4734-9311-43D72DE3ED57}"/>
              </a:ext>
            </a:extLst>
          </p:cNvPr>
          <p:cNvSpPr>
            <a:spLocks noGrp="1"/>
          </p:cNvSpPr>
          <p:nvPr/>
        </p:nvSpPr>
        <p:spPr>
          <a:xfrm>
            <a:off x="1257300" y="3771900"/>
            <a:ext cx="4667250" cy="266700"/>
          </a:xfrm>
          <a:prstGeom prst="rect">
            <a:avLst/>
          </a:prstGeom>
        </p:spPr>
        <p:txBody>
          <a:bodyPr lIns="0" tIns="0" rIns="0" bIns="0"/>
          <a:lstStyle/>
          <a:p>
            <a:pPr>
              <a:defRPr sz="1650" b="0" i="0">
                <a:solidFill>
                  <a:srgbClr val="52606D"/>
                </a:solidFill>
              </a:defRPr>
            </a:pPr>
            <a:r>
              <a:rPr sz="1650" b="0" i="0">
                <a:solidFill>
                  <a:srgbClr val="52606D"/>
                </a:solidFill>
              </a:rPr>
              <a:t>Pre-VS review 1-2 days before</a:t>
            </a:r>
          </a:p>
        </p:txBody>
      </p:sp>
      <p:sp>
        <p:nvSpPr>
          <p:cNvPr id="18" name="Oval 17">
            <a:extLst>
              <a:ext uri="{FF2B5EF4-FFF2-40B4-BE49-F238E27FC236}">
                <a16:creationId xmlns:a16="http://schemas.microsoft.com/office/drawing/2014/main" id="{AF015EEF-2624-4885-9C80-A85A871AB61F}"/>
              </a:ext>
            </a:extLst>
          </p:cNvPr>
          <p:cNvSpPr>
            <a:spLocks noGrp="1"/>
          </p:cNvSpPr>
          <p:nvPr/>
        </p:nvSpPr>
        <p:spPr>
          <a:xfrm>
            <a:off x="1047750" y="4324350"/>
            <a:ext cx="85725" cy="85725"/>
          </a:xfrm>
          <a:prstGeom prst="ellipse">
            <a:avLst/>
          </a:prstGeom>
          <a:solidFill>
            <a:srgbClr val="2E7D55"/>
          </a:solidFill>
        </p:spPr>
        <p:txBody>
          <a:bodyPr/>
          <a:lstStyle/>
          <a:p>
            <a:endParaRPr lang="en-DE"/>
          </a:p>
        </p:txBody>
      </p:sp>
      <p:sp>
        <p:nvSpPr>
          <p:cNvPr id="19" name="Rectangle 18">
            <a:extLst>
              <a:ext uri="{FF2B5EF4-FFF2-40B4-BE49-F238E27FC236}">
                <a16:creationId xmlns:a16="http://schemas.microsoft.com/office/drawing/2014/main" id="{D67AC842-2403-4258-B72B-789DA6051F63}"/>
              </a:ext>
            </a:extLst>
          </p:cNvPr>
          <p:cNvSpPr>
            <a:spLocks noGrp="1"/>
          </p:cNvSpPr>
          <p:nvPr/>
        </p:nvSpPr>
        <p:spPr>
          <a:xfrm>
            <a:off x="1257300" y="4229100"/>
            <a:ext cx="4667250" cy="266700"/>
          </a:xfrm>
          <a:prstGeom prst="rect">
            <a:avLst/>
          </a:prstGeom>
        </p:spPr>
        <p:txBody>
          <a:bodyPr lIns="0" tIns="0" rIns="0" bIns="0"/>
          <a:lstStyle/>
          <a:p>
            <a:pPr>
              <a:defRPr sz="1650" b="0" i="0">
                <a:solidFill>
                  <a:srgbClr val="52606D"/>
                </a:solidFill>
              </a:defRPr>
            </a:pPr>
            <a:r>
              <a:rPr sz="1650" b="0" i="0">
                <a:solidFill>
                  <a:srgbClr val="52606D"/>
                </a:solidFill>
              </a:rPr>
              <a:t>Each sprint ends in an artefact</a:t>
            </a:r>
          </a:p>
        </p:txBody>
      </p:sp>
      <p:sp>
        <p:nvSpPr>
          <p:cNvPr id="20" name="Oval 19">
            <a:extLst>
              <a:ext uri="{FF2B5EF4-FFF2-40B4-BE49-F238E27FC236}">
                <a16:creationId xmlns:a16="http://schemas.microsoft.com/office/drawing/2014/main" id="{BB27759D-B6D4-4A8C-AB55-829918B3CBEB}"/>
              </a:ext>
            </a:extLst>
          </p:cNvPr>
          <p:cNvSpPr>
            <a:spLocks noGrp="1"/>
          </p:cNvSpPr>
          <p:nvPr/>
        </p:nvSpPr>
        <p:spPr>
          <a:xfrm>
            <a:off x="1047750" y="4781550"/>
            <a:ext cx="85725" cy="85725"/>
          </a:xfrm>
          <a:prstGeom prst="ellipse">
            <a:avLst/>
          </a:prstGeom>
          <a:solidFill>
            <a:srgbClr val="2E7D55"/>
          </a:solidFill>
        </p:spPr>
        <p:txBody>
          <a:bodyPr/>
          <a:lstStyle/>
          <a:p>
            <a:endParaRPr lang="en-DE"/>
          </a:p>
        </p:txBody>
      </p:sp>
      <p:sp>
        <p:nvSpPr>
          <p:cNvPr id="21" name="Rectangle 20">
            <a:extLst>
              <a:ext uri="{FF2B5EF4-FFF2-40B4-BE49-F238E27FC236}">
                <a16:creationId xmlns:a16="http://schemas.microsoft.com/office/drawing/2014/main" id="{F05F53B0-C0DD-4B08-97C9-1B27536106FD}"/>
              </a:ext>
            </a:extLst>
          </p:cNvPr>
          <p:cNvSpPr>
            <a:spLocks noGrp="1"/>
          </p:cNvSpPr>
          <p:nvPr/>
        </p:nvSpPr>
        <p:spPr>
          <a:xfrm>
            <a:off x="1257300" y="4686300"/>
            <a:ext cx="4667250" cy="266700"/>
          </a:xfrm>
          <a:prstGeom prst="rect">
            <a:avLst/>
          </a:prstGeom>
        </p:spPr>
        <p:txBody>
          <a:bodyPr lIns="0" tIns="0" rIns="0" bIns="0"/>
          <a:lstStyle/>
          <a:p>
            <a:pPr>
              <a:defRPr sz="1650" b="0" i="0">
                <a:solidFill>
                  <a:srgbClr val="52606D"/>
                </a:solidFill>
              </a:defRPr>
            </a:pPr>
            <a:r>
              <a:rPr sz="1650" b="0" i="0">
                <a:solidFill>
                  <a:srgbClr val="52606D"/>
                </a:solidFill>
              </a:rPr>
              <a:t>Status meetings as checkpoints</a:t>
            </a:r>
          </a:p>
        </p:txBody>
      </p:sp>
      <p:sp>
        <p:nvSpPr>
          <p:cNvPr id="22" name="Rectangle: Rounded Corners 21">
            <a:extLst>
              <a:ext uri="{FF2B5EF4-FFF2-40B4-BE49-F238E27FC236}">
                <a16:creationId xmlns:a16="http://schemas.microsoft.com/office/drawing/2014/main" id="{348D0E3E-8D4E-4A21-AC96-A1915AFDEF67}"/>
              </a:ext>
            </a:extLst>
          </p:cNvPr>
          <p:cNvSpPr>
            <a:spLocks noGrp="1"/>
          </p:cNvSpPr>
          <p:nvPr/>
        </p:nvSpPr>
        <p:spPr>
          <a:xfrm>
            <a:off x="6445250" y="2419350"/>
            <a:ext cx="5397500" cy="4667250"/>
          </a:xfrm>
          <a:prstGeom prst="roundRect">
            <a:avLst>
              <a:gd name="adj" fmla="val 4082"/>
            </a:avLst>
          </a:prstGeom>
          <a:solidFill>
            <a:srgbClr val="FFFFFF"/>
          </a:solidFill>
        </p:spPr>
        <p:txBody>
          <a:bodyPr/>
          <a:lstStyle/>
          <a:p>
            <a:endParaRPr lang="en-DE"/>
          </a:p>
        </p:txBody>
      </p:sp>
      <p:sp>
        <p:nvSpPr>
          <p:cNvPr id="23" name="Oval 22">
            <a:extLst>
              <a:ext uri="{FF2B5EF4-FFF2-40B4-BE49-F238E27FC236}">
                <a16:creationId xmlns:a16="http://schemas.microsoft.com/office/drawing/2014/main" id="{2510765F-1673-46B7-B20E-2987627E3496}"/>
              </a:ext>
            </a:extLst>
          </p:cNvPr>
          <p:cNvSpPr>
            <a:spLocks noGrp="1"/>
          </p:cNvSpPr>
          <p:nvPr/>
        </p:nvSpPr>
        <p:spPr>
          <a:xfrm>
            <a:off x="6705600" y="2705100"/>
            <a:ext cx="419100" cy="419100"/>
          </a:xfrm>
          <a:prstGeom prst="ellipse">
            <a:avLst/>
          </a:prstGeom>
          <a:solidFill>
            <a:srgbClr val="007C89"/>
          </a:solidFill>
        </p:spPr>
        <p:txBody>
          <a:bodyPr/>
          <a:lstStyle/>
          <a:p>
            <a:endParaRPr lang="en-DE"/>
          </a:p>
        </p:txBody>
      </p:sp>
      <p:sp>
        <p:nvSpPr>
          <p:cNvPr id="24" name="Rectangle 23">
            <a:extLst>
              <a:ext uri="{FF2B5EF4-FFF2-40B4-BE49-F238E27FC236}">
                <a16:creationId xmlns:a16="http://schemas.microsoft.com/office/drawing/2014/main" id="{72DF2044-244B-4F7A-9F50-A19625A7BA98}"/>
              </a:ext>
            </a:extLst>
          </p:cNvPr>
          <p:cNvSpPr>
            <a:spLocks noGrp="1"/>
          </p:cNvSpPr>
          <p:nvPr/>
        </p:nvSpPr>
        <p:spPr>
          <a:xfrm>
            <a:off x="7258050" y="2724150"/>
            <a:ext cx="4305300" cy="342900"/>
          </a:xfrm>
          <a:prstGeom prst="rect">
            <a:avLst/>
          </a:prstGeom>
        </p:spPr>
        <p:txBody>
          <a:bodyPr lIns="0" tIns="0" rIns="0" bIns="0"/>
          <a:lstStyle/>
          <a:p>
            <a:pPr>
              <a:defRPr sz="2250" b="1" i="0">
                <a:solidFill>
                  <a:srgbClr val="172026"/>
                </a:solidFill>
              </a:defRPr>
            </a:pPr>
            <a:r>
              <a:rPr sz="2250" b="1" i="0">
                <a:solidFill>
                  <a:srgbClr val="172026"/>
                </a:solidFill>
              </a:rPr>
              <a:t>Sync</a:t>
            </a:r>
          </a:p>
        </p:txBody>
      </p:sp>
      <p:sp>
        <p:nvSpPr>
          <p:cNvPr id="25" name="Oval 24">
            <a:extLst>
              <a:ext uri="{FF2B5EF4-FFF2-40B4-BE49-F238E27FC236}">
                <a16:creationId xmlns:a16="http://schemas.microsoft.com/office/drawing/2014/main" id="{8E75BE43-A4BA-41D2-AC02-6D7584AD7650}"/>
              </a:ext>
            </a:extLst>
          </p:cNvPr>
          <p:cNvSpPr>
            <a:spLocks noGrp="1"/>
          </p:cNvSpPr>
          <p:nvPr/>
        </p:nvSpPr>
        <p:spPr>
          <a:xfrm>
            <a:off x="6705600" y="3390900"/>
            <a:ext cx="85725" cy="85725"/>
          </a:xfrm>
          <a:prstGeom prst="ellipse">
            <a:avLst/>
          </a:prstGeom>
          <a:solidFill>
            <a:srgbClr val="007C89"/>
          </a:solidFill>
        </p:spPr>
        <p:txBody>
          <a:bodyPr/>
          <a:lstStyle/>
          <a:p>
            <a:endParaRPr lang="en-DE"/>
          </a:p>
        </p:txBody>
      </p:sp>
      <p:sp>
        <p:nvSpPr>
          <p:cNvPr id="26" name="Rectangle 25">
            <a:extLst>
              <a:ext uri="{FF2B5EF4-FFF2-40B4-BE49-F238E27FC236}">
                <a16:creationId xmlns:a16="http://schemas.microsoft.com/office/drawing/2014/main" id="{88CE5DC8-A0B7-45F0-8039-009D782D5508}"/>
              </a:ext>
            </a:extLst>
          </p:cNvPr>
          <p:cNvSpPr>
            <a:spLocks noGrp="1"/>
          </p:cNvSpPr>
          <p:nvPr/>
        </p:nvSpPr>
        <p:spPr>
          <a:xfrm>
            <a:off x="6915150" y="3314700"/>
            <a:ext cx="4667250" cy="266700"/>
          </a:xfrm>
          <a:prstGeom prst="rect">
            <a:avLst/>
          </a:prstGeom>
        </p:spPr>
        <p:txBody>
          <a:bodyPr lIns="0" tIns="0" rIns="0" bIns="0"/>
          <a:lstStyle/>
          <a:p>
            <a:pPr>
              <a:defRPr sz="1650" b="0" i="0">
                <a:solidFill>
                  <a:srgbClr val="52606D"/>
                </a:solidFill>
              </a:defRPr>
            </a:pPr>
            <a:r>
              <a:rPr sz="1650" b="0" i="0">
                <a:solidFill>
                  <a:srgbClr val="52606D"/>
                </a:solidFill>
              </a:rPr>
              <a:t>Weekly 30-minute team sync</a:t>
            </a:r>
          </a:p>
        </p:txBody>
      </p:sp>
      <p:sp>
        <p:nvSpPr>
          <p:cNvPr id="27" name="Oval 26">
            <a:extLst>
              <a:ext uri="{FF2B5EF4-FFF2-40B4-BE49-F238E27FC236}">
                <a16:creationId xmlns:a16="http://schemas.microsoft.com/office/drawing/2014/main" id="{16D02622-B0AB-49EA-9D5C-6591583FFBFC}"/>
              </a:ext>
            </a:extLst>
          </p:cNvPr>
          <p:cNvSpPr>
            <a:spLocks noGrp="1"/>
          </p:cNvSpPr>
          <p:nvPr/>
        </p:nvSpPr>
        <p:spPr>
          <a:xfrm>
            <a:off x="6705600" y="3867150"/>
            <a:ext cx="85725" cy="85725"/>
          </a:xfrm>
          <a:prstGeom prst="ellipse">
            <a:avLst/>
          </a:prstGeom>
          <a:solidFill>
            <a:srgbClr val="007C89"/>
          </a:solidFill>
        </p:spPr>
        <p:txBody>
          <a:bodyPr/>
          <a:lstStyle/>
          <a:p>
            <a:endParaRPr lang="en-DE"/>
          </a:p>
        </p:txBody>
      </p:sp>
      <p:sp>
        <p:nvSpPr>
          <p:cNvPr id="28" name="Rectangle 27">
            <a:extLst>
              <a:ext uri="{FF2B5EF4-FFF2-40B4-BE49-F238E27FC236}">
                <a16:creationId xmlns:a16="http://schemas.microsoft.com/office/drawing/2014/main" id="{DE74D032-BFE9-42EC-80A1-1DFEA1A228F6}"/>
              </a:ext>
            </a:extLst>
          </p:cNvPr>
          <p:cNvSpPr>
            <a:spLocks noGrp="1"/>
          </p:cNvSpPr>
          <p:nvPr/>
        </p:nvSpPr>
        <p:spPr>
          <a:xfrm>
            <a:off x="6915150" y="3771900"/>
            <a:ext cx="4667250" cy="266700"/>
          </a:xfrm>
          <a:prstGeom prst="rect">
            <a:avLst/>
          </a:prstGeom>
        </p:spPr>
        <p:txBody>
          <a:bodyPr lIns="0" tIns="0" rIns="0" bIns="0"/>
          <a:lstStyle/>
          <a:p>
            <a:pPr>
              <a:defRPr sz="1650" b="0" i="0">
                <a:solidFill>
                  <a:srgbClr val="52606D"/>
                </a:solidFill>
              </a:defRPr>
            </a:pPr>
            <a:r>
              <a:rPr sz="1650" b="0" i="0">
                <a:solidFill>
                  <a:srgbClr val="52606D"/>
                </a:solidFill>
              </a:rPr>
              <a:t>Daily async status posts</a:t>
            </a:r>
          </a:p>
        </p:txBody>
      </p:sp>
      <p:sp>
        <p:nvSpPr>
          <p:cNvPr id="29" name="Oval 28">
            <a:extLst>
              <a:ext uri="{FF2B5EF4-FFF2-40B4-BE49-F238E27FC236}">
                <a16:creationId xmlns:a16="http://schemas.microsoft.com/office/drawing/2014/main" id="{EF3C3C37-7467-4719-B169-B42BB9695ACB}"/>
              </a:ext>
            </a:extLst>
          </p:cNvPr>
          <p:cNvSpPr>
            <a:spLocks noGrp="1"/>
          </p:cNvSpPr>
          <p:nvPr/>
        </p:nvSpPr>
        <p:spPr>
          <a:xfrm>
            <a:off x="6705600" y="4324350"/>
            <a:ext cx="85725" cy="85725"/>
          </a:xfrm>
          <a:prstGeom prst="ellipse">
            <a:avLst/>
          </a:prstGeom>
          <a:solidFill>
            <a:srgbClr val="007C89"/>
          </a:solidFill>
        </p:spPr>
        <p:txBody>
          <a:bodyPr/>
          <a:lstStyle/>
          <a:p>
            <a:endParaRPr lang="en-DE"/>
          </a:p>
        </p:txBody>
      </p:sp>
      <p:sp>
        <p:nvSpPr>
          <p:cNvPr id="30" name="Rectangle 29">
            <a:extLst>
              <a:ext uri="{FF2B5EF4-FFF2-40B4-BE49-F238E27FC236}">
                <a16:creationId xmlns:a16="http://schemas.microsoft.com/office/drawing/2014/main" id="{09FA2789-917D-4D71-8CD4-982400F69285}"/>
              </a:ext>
            </a:extLst>
          </p:cNvPr>
          <p:cNvSpPr>
            <a:spLocks noGrp="1"/>
          </p:cNvSpPr>
          <p:nvPr/>
        </p:nvSpPr>
        <p:spPr>
          <a:xfrm>
            <a:off x="6915150" y="4229100"/>
            <a:ext cx="4667250" cy="266700"/>
          </a:xfrm>
          <a:prstGeom prst="rect">
            <a:avLst/>
          </a:prstGeom>
        </p:spPr>
        <p:txBody>
          <a:bodyPr lIns="0" tIns="0" rIns="0" bIns="0"/>
          <a:lstStyle/>
          <a:p>
            <a:pPr>
              <a:defRPr sz="1650" b="0" i="0">
                <a:solidFill>
                  <a:srgbClr val="52606D"/>
                </a:solidFill>
              </a:defRPr>
            </a:pPr>
            <a:r>
              <a:rPr sz="1650" b="0" i="0">
                <a:solidFill>
                  <a:srgbClr val="52606D"/>
                </a:solidFill>
              </a:rPr>
              <a:t>WhatsApp + GitHub Issues</a:t>
            </a:r>
          </a:p>
        </p:txBody>
      </p:sp>
      <p:sp>
        <p:nvSpPr>
          <p:cNvPr id="31" name="Oval 30">
            <a:extLst>
              <a:ext uri="{FF2B5EF4-FFF2-40B4-BE49-F238E27FC236}">
                <a16:creationId xmlns:a16="http://schemas.microsoft.com/office/drawing/2014/main" id="{8B686CCD-5256-4B88-945D-5FB620D4AA27}"/>
              </a:ext>
            </a:extLst>
          </p:cNvPr>
          <p:cNvSpPr>
            <a:spLocks noGrp="1"/>
          </p:cNvSpPr>
          <p:nvPr/>
        </p:nvSpPr>
        <p:spPr>
          <a:xfrm>
            <a:off x="6705600" y="4781550"/>
            <a:ext cx="85725" cy="85725"/>
          </a:xfrm>
          <a:prstGeom prst="ellipse">
            <a:avLst/>
          </a:prstGeom>
          <a:solidFill>
            <a:srgbClr val="007C89"/>
          </a:solidFill>
        </p:spPr>
        <p:txBody>
          <a:bodyPr/>
          <a:lstStyle/>
          <a:p>
            <a:endParaRPr lang="en-DE"/>
          </a:p>
        </p:txBody>
      </p:sp>
      <p:sp>
        <p:nvSpPr>
          <p:cNvPr id="32" name="Rectangle 31">
            <a:extLst>
              <a:ext uri="{FF2B5EF4-FFF2-40B4-BE49-F238E27FC236}">
                <a16:creationId xmlns:a16="http://schemas.microsoft.com/office/drawing/2014/main" id="{B781EBA2-52D6-4BE3-932C-B8143CC3A64C}"/>
              </a:ext>
            </a:extLst>
          </p:cNvPr>
          <p:cNvSpPr>
            <a:spLocks noGrp="1"/>
          </p:cNvSpPr>
          <p:nvPr/>
        </p:nvSpPr>
        <p:spPr>
          <a:xfrm>
            <a:off x="6915150" y="4686300"/>
            <a:ext cx="4667250" cy="266700"/>
          </a:xfrm>
          <a:prstGeom prst="rect">
            <a:avLst/>
          </a:prstGeom>
        </p:spPr>
        <p:txBody>
          <a:bodyPr lIns="0" tIns="0" rIns="0" bIns="0"/>
          <a:lstStyle/>
          <a:p>
            <a:pPr>
              <a:defRPr sz="1650" b="0" i="0">
                <a:solidFill>
                  <a:srgbClr val="52606D"/>
                </a:solidFill>
              </a:defRPr>
            </a:pPr>
            <a:r>
              <a:rPr sz="1650" b="0" i="0">
                <a:solidFill>
                  <a:srgbClr val="52606D"/>
                </a:solidFill>
              </a:rPr>
              <a:t>Weekly check-in with Prof. Hacker</a:t>
            </a:r>
          </a:p>
        </p:txBody>
      </p:sp>
      <p:sp>
        <p:nvSpPr>
          <p:cNvPr id="33" name="Rectangle: Rounded Corners 32">
            <a:extLst>
              <a:ext uri="{FF2B5EF4-FFF2-40B4-BE49-F238E27FC236}">
                <a16:creationId xmlns:a16="http://schemas.microsoft.com/office/drawing/2014/main" id="{CE305213-A107-45F3-B0DB-3D5DF5647536}"/>
              </a:ext>
            </a:extLst>
          </p:cNvPr>
          <p:cNvSpPr>
            <a:spLocks noGrp="1"/>
          </p:cNvSpPr>
          <p:nvPr/>
        </p:nvSpPr>
        <p:spPr>
          <a:xfrm>
            <a:off x="12109450" y="2419350"/>
            <a:ext cx="5397500" cy="4667250"/>
          </a:xfrm>
          <a:prstGeom prst="roundRect">
            <a:avLst>
              <a:gd name="adj" fmla="val 4082"/>
            </a:avLst>
          </a:prstGeom>
          <a:solidFill>
            <a:srgbClr val="FFFFFF"/>
          </a:solidFill>
        </p:spPr>
        <p:txBody>
          <a:bodyPr/>
          <a:lstStyle/>
          <a:p>
            <a:endParaRPr lang="en-DE"/>
          </a:p>
        </p:txBody>
      </p:sp>
      <p:sp>
        <p:nvSpPr>
          <p:cNvPr id="34" name="Oval 33">
            <a:extLst>
              <a:ext uri="{FF2B5EF4-FFF2-40B4-BE49-F238E27FC236}">
                <a16:creationId xmlns:a16="http://schemas.microsoft.com/office/drawing/2014/main" id="{700E57F8-0B00-4EDC-9514-5D8346AF4570}"/>
              </a:ext>
            </a:extLst>
          </p:cNvPr>
          <p:cNvSpPr>
            <a:spLocks noGrp="1"/>
          </p:cNvSpPr>
          <p:nvPr/>
        </p:nvSpPr>
        <p:spPr>
          <a:xfrm>
            <a:off x="12382500" y="2705100"/>
            <a:ext cx="419100" cy="419100"/>
          </a:xfrm>
          <a:prstGeom prst="ellipse">
            <a:avLst/>
          </a:prstGeom>
          <a:solidFill>
            <a:srgbClr val="B63A33"/>
          </a:solidFill>
        </p:spPr>
        <p:txBody>
          <a:bodyPr/>
          <a:lstStyle/>
          <a:p>
            <a:endParaRPr lang="en-DE"/>
          </a:p>
        </p:txBody>
      </p:sp>
      <p:sp>
        <p:nvSpPr>
          <p:cNvPr id="35" name="Rectangle 34">
            <a:extLst>
              <a:ext uri="{FF2B5EF4-FFF2-40B4-BE49-F238E27FC236}">
                <a16:creationId xmlns:a16="http://schemas.microsoft.com/office/drawing/2014/main" id="{6C5C3007-89B8-43C4-B246-AD03B89EBDCB}"/>
              </a:ext>
            </a:extLst>
          </p:cNvPr>
          <p:cNvSpPr>
            <a:spLocks noGrp="1"/>
          </p:cNvSpPr>
          <p:nvPr/>
        </p:nvSpPr>
        <p:spPr>
          <a:xfrm>
            <a:off x="12934950" y="2724150"/>
            <a:ext cx="4305300" cy="342900"/>
          </a:xfrm>
          <a:prstGeom prst="rect">
            <a:avLst/>
          </a:prstGeom>
        </p:spPr>
        <p:txBody>
          <a:bodyPr lIns="0" tIns="0" rIns="0" bIns="0"/>
          <a:lstStyle/>
          <a:p>
            <a:pPr>
              <a:defRPr sz="2250" b="1" i="0">
                <a:solidFill>
                  <a:srgbClr val="172026"/>
                </a:solidFill>
              </a:defRPr>
            </a:pPr>
            <a:r>
              <a:rPr sz="2250" b="1" i="0">
                <a:solidFill>
                  <a:srgbClr val="172026"/>
                </a:solidFill>
              </a:rPr>
              <a:t>Toolstack</a:t>
            </a:r>
          </a:p>
        </p:txBody>
      </p:sp>
      <p:sp>
        <p:nvSpPr>
          <p:cNvPr id="36" name="Oval 35">
            <a:extLst>
              <a:ext uri="{FF2B5EF4-FFF2-40B4-BE49-F238E27FC236}">
                <a16:creationId xmlns:a16="http://schemas.microsoft.com/office/drawing/2014/main" id="{5C5307F0-5242-4EEE-A816-E284A61D0022}"/>
              </a:ext>
            </a:extLst>
          </p:cNvPr>
          <p:cNvSpPr>
            <a:spLocks noGrp="1"/>
          </p:cNvSpPr>
          <p:nvPr/>
        </p:nvSpPr>
        <p:spPr>
          <a:xfrm>
            <a:off x="12382500" y="3390900"/>
            <a:ext cx="85725" cy="85725"/>
          </a:xfrm>
          <a:prstGeom prst="ellipse">
            <a:avLst/>
          </a:prstGeom>
          <a:solidFill>
            <a:srgbClr val="B63A33"/>
          </a:solidFill>
        </p:spPr>
        <p:txBody>
          <a:bodyPr/>
          <a:lstStyle/>
          <a:p>
            <a:endParaRPr lang="en-DE"/>
          </a:p>
        </p:txBody>
      </p:sp>
      <p:sp>
        <p:nvSpPr>
          <p:cNvPr id="37" name="Rectangle 36">
            <a:extLst>
              <a:ext uri="{FF2B5EF4-FFF2-40B4-BE49-F238E27FC236}">
                <a16:creationId xmlns:a16="http://schemas.microsoft.com/office/drawing/2014/main" id="{969EC792-DFA9-4A98-BFED-5F6CE05216AE}"/>
              </a:ext>
            </a:extLst>
          </p:cNvPr>
          <p:cNvSpPr>
            <a:spLocks noGrp="1"/>
          </p:cNvSpPr>
          <p:nvPr/>
        </p:nvSpPr>
        <p:spPr>
          <a:xfrm>
            <a:off x="12573000" y="3314700"/>
            <a:ext cx="4667250" cy="266700"/>
          </a:xfrm>
          <a:prstGeom prst="rect">
            <a:avLst/>
          </a:prstGeom>
        </p:spPr>
        <p:txBody>
          <a:bodyPr lIns="0" tIns="0" rIns="0" bIns="0"/>
          <a:lstStyle/>
          <a:p>
            <a:pPr>
              <a:defRPr sz="1650" b="0" i="0">
                <a:solidFill>
                  <a:srgbClr val="52606D"/>
                </a:solidFill>
              </a:defRPr>
            </a:pPr>
            <a:r>
              <a:rPr sz="1650" b="0" i="0">
                <a:solidFill>
                  <a:srgbClr val="52606D"/>
                </a:solidFill>
              </a:rPr>
              <a:t>Python analysis pipeline</a:t>
            </a:r>
          </a:p>
        </p:txBody>
      </p:sp>
      <p:sp>
        <p:nvSpPr>
          <p:cNvPr id="38" name="Oval 37">
            <a:extLst>
              <a:ext uri="{FF2B5EF4-FFF2-40B4-BE49-F238E27FC236}">
                <a16:creationId xmlns:a16="http://schemas.microsoft.com/office/drawing/2014/main" id="{F1D8221E-5554-40E4-A0F0-251E35F84E6C}"/>
              </a:ext>
            </a:extLst>
          </p:cNvPr>
          <p:cNvSpPr>
            <a:spLocks noGrp="1"/>
          </p:cNvSpPr>
          <p:nvPr/>
        </p:nvSpPr>
        <p:spPr>
          <a:xfrm>
            <a:off x="12382500" y="3867150"/>
            <a:ext cx="85725" cy="85725"/>
          </a:xfrm>
          <a:prstGeom prst="ellipse">
            <a:avLst/>
          </a:prstGeom>
          <a:solidFill>
            <a:srgbClr val="B63A33"/>
          </a:solidFill>
        </p:spPr>
        <p:txBody>
          <a:bodyPr/>
          <a:lstStyle/>
          <a:p>
            <a:endParaRPr lang="en-DE"/>
          </a:p>
        </p:txBody>
      </p:sp>
      <p:sp>
        <p:nvSpPr>
          <p:cNvPr id="39" name="Rectangle 38">
            <a:extLst>
              <a:ext uri="{FF2B5EF4-FFF2-40B4-BE49-F238E27FC236}">
                <a16:creationId xmlns:a16="http://schemas.microsoft.com/office/drawing/2014/main" id="{8EF38801-5CD5-46E4-9105-E3A48EFA305B}"/>
              </a:ext>
            </a:extLst>
          </p:cNvPr>
          <p:cNvSpPr>
            <a:spLocks noGrp="1"/>
          </p:cNvSpPr>
          <p:nvPr/>
        </p:nvSpPr>
        <p:spPr>
          <a:xfrm>
            <a:off x="12573000" y="3771900"/>
            <a:ext cx="4667250" cy="266700"/>
          </a:xfrm>
          <a:prstGeom prst="rect">
            <a:avLst/>
          </a:prstGeom>
        </p:spPr>
        <p:txBody>
          <a:bodyPr lIns="0" tIns="0" rIns="0" bIns="0"/>
          <a:lstStyle/>
          <a:p>
            <a:pPr>
              <a:defRPr sz="1650" b="0" i="0">
                <a:solidFill>
                  <a:srgbClr val="52606D"/>
                </a:solidFill>
              </a:defRPr>
            </a:pPr>
            <a:r>
              <a:rPr sz="1650" b="0" i="0">
                <a:solidFill>
                  <a:srgbClr val="52606D"/>
                </a:solidFill>
              </a:rPr>
              <a:t>Git + GitHub Actions</a:t>
            </a:r>
          </a:p>
        </p:txBody>
      </p:sp>
      <p:sp>
        <p:nvSpPr>
          <p:cNvPr id="40" name="Oval 39">
            <a:extLst>
              <a:ext uri="{FF2B5EF4-FFF2-40B4-BE49-F238E27FC236}">
                <a16:creationId xmlns:a16="http://schemas.microsoft.com/office/drawing/2014/main" id="{56B62B32-950F-462D-8BD3-5D1AA8D856E4}"/>
              </a:ext>
            </a:extLst>
          </p:cNvPr>
          <p:cNvSpPr>
            <a:spLocks noGrp="1"/>
          </p:cNvSpPr>
          <p:nvPr/>
        </p:nvSpPr>
        <p:spPr>
          <a:xfrm>
            <a:off x="12382500" y="4324350"/>
            <a:ext cx="85725" cy="85725"/>
          </a:xfrm>
          <a:prstGeom prst="ellipse">
            <a:avLst/>
          </a:prstGeom>
          <a:solidFill>
            <a:srgbClr val="B63A33"/>
          </a:solidFill>
        </p:spPr>
        <p:txBody>
          <a:bodyPr/>
          <a:lstStyle/>
          <a:p>
            <a:endParaRPr lang="en-DE"/>
          </a:p>
        </p:txBody>
      </p:sp>
      <p:sp>
        <p:nvSpPr>
          <p:cNvPr id="41" name="Rectangle 40">
            <a:extLst>
              <a:ext uri="{FF2B5EF4-FFF2-40B4-BE49-F238E27FC236}">
                <a16:creationId xmlns:a16="http://schemas.microsoft.com/office/drawing/2014/main" id="{9F67C136-1229-478C-9B90-87FC6C65C445}"/>
              </a:ext>
            </a:extLst>
          </p:cNvPr>
          <p:cNvSpPr>
            <a:spLocks noGrp="1"/>
          </p:cNvSpPr>
          <p:nvPr/>
        </p:nvSpPr>
        <p:spPr>
          <a:xfrm>
            <a:off x="12573000" y="4229100"/>
            <a:ext cx="4667250" cy="266700"/>
          </a:xfrm>
          <a:prstGeom prst="rect">
            <a:avLst/>
          </a:prstGeom>
        </p:spPr>
        <p:txBody>
          <a:bodyPr lIns="0" tIns="0" rIns="0" bIns="0"/>
          <a:lstStyle/>
          <a:p>
            <a:pPr>
              <a:defRPr sz="1650" b="0" i="0">
                <a:solidFill>
                  <a:srgbClr val="52606D"/>
                </a:solidFill>
              </a:defRPr>
            </a:pPr>
            <a:r>
              <a:rPr sz="1650" b="0" i="0">
                <a:solidFill>
                  <a:srgbClr val="52606D"/>
                </a:solidFill>
              </a:rPr>
              <a:t>Markdown source of truth</a:t>
            </a:r>
          </a:p>
        </p:txBody>
      </p:sp>
      <p:sp>
        <p:nvSpPr>
          <p:cNvPr id="42" name="Oval 41">
            <a:extLst>
              <a:ext uri="{FF2B5EF4-FFF2-40B4-BE49-F238E27FC236}">
                <a16:creationId xmlns:a16="http://schemas.microsoft.com/office/drawing/2014/main" id="{FCEB1C04-E23E-4DC7-B900-773701E7A201}"/>
              </a:ext>
            </a:extLst>
          </p:cNvPr>
          <p:cNvSpPr>
            <a:spLocks noGrp="1"/>
          </p:cNvSpPr>
          <p:nvPr/>
        </p:nvSpPr>
        <p:spPr>
          <a:xfrm>
            <a:off x="12382500" y="4781550"/>
            <a:ext cx="85725" cy="85725"/>
          </a:xfrm>
          <a:prstGeom prst="ellipse">
            <a:avLst/>
          </a:prstGeom>
          <a:solidFill>
            <a:srgbClr val="B63A33"/>
          </a:solidFill>
        </p:spPr>
        <p:txBody>
          <a:bodyPr/>
          <a:lstStyle/>
          <a:p>
            <a:endParaRPr lang="en-DE"/>
          </a:p>
        </p:txBody>
      </p:sp>
      <p:sp>
        <p:nvSpPr>
          <p:cNvPr id="43" name="Rectangle 42">
            <a:extLst>
              <a:ext uri="{FF2B5EF4-FFF2-40B4-BE49-F238E27FC236}">
                <a16:creationId xmlns:a16="http://schemas.microsoft.com/office/drawing/2014/main" id="{CB63F692-5D29-4355-B87E-622EBE2DB40E}"/>
              </a:ext>
            </a:extLst>
          </p:cNvPr>
          <p:cNvSpPr>
            <a:spLocks noGrp="1"/>
          </p:cNvSpPr>
          <p:nvPr/>
        </p:nvSpPr>
        <p:spPr>
          <a:xfrm>
            <a:off x="12573000" y="4686300"/>
            <a:ext cx="4667250" cy="266700"/>
          </a:xfrm>
          <a:prstGeom prst="rect">
            <a:avLst/>
          </a:prstGeom>
        </p:spPr>
        <p:txBody>
          <a:bodyPr lIns="0" tIns="0" rIns="0" bIns="0"/>
          <a:lstStyle/>
          <a:p>
            <a:pPr>
              <a:defRPr sz="1650" b="0" i="0">
                <a:solidFill>
                  <a:srgbClr val="52606D"/>
                </a:solidFill>
              </a:defRPr>
            </a:pPr>
            <a:r>
              <a:rPr sz="1650" b="0" i="0">
                <a:solidFill>
                  <a:srgbClr val="52606D"/>
                </a:solidFill>
              </a:rPr>
              <a:t>Peer review through PRs</a:t>
            </a:r>
          </a:p>
        </p:txBody>
      </p:sp>
      <p:sp>
        <p:nvSpPr>
          <p:cNvPr id="44" name="Rectangle: Rounded Corners 43">
            <a:extLst>
              <a:ext uri="{FF2B5EF4-FFF2-40B4-BE49-F238E27FC236}">
                <a16:creationId xmlns:a16="http://schemas.microsoft.com/office/drawing/2014/main" id="{A9688D6C-CCD7-4723-959E-94CEFCACF464}"/>
              </a:ext>
            </a:extLst>
          </p:cNvPr>
          <p:cNvSpPr>
            <a:spLocks noGrp="1"/>
          </p:cNvSpPr>
          <p:nvPr/>
        </p:nvSpPr>
        <p:spPr>
          <a:xfrm>
            <a:off x="781050" y="7353300"/>
            <a:ext cx="16725900" cy="800100"/>
          </a:xfrm>
          <a:prstGeom prst="roundRect">
            <a:avLst>
              <a:gd name="adj" fmla="val 21429"/>
            </a:avLst>
          </a:prstGeom>
          <a:solidFill>
            <a:srgbClr val="ECEAF7"/>
          </a:solidFill>
        </p:spPr>
        <p:txBody>
          <a:bodyPr/>
          <a:lstStyle/>
          <a:p>
            <a:endParaRPr lang="en-DE"/>
          </a:p>
        </p:txBody>
      </p:sp>
      <p:sp>
        <p:nvSpPr>
          <p:cNvPr id="45" name="Rectangle: Rounded Corners 44">
            <a:extLst>
              <a:ext uri="{FF2B5EF4-FFF2-40B4-BE49-F238E27FC236}">
                <a16:creationId xmlns:a16="http://schemas.microsoft.com/office/drawing/2014/main" id="{DC3F729F-1E04-4D84-96F5-F4A00A77A378}"/>
              </a:ext>
            </a:extLst>
          </p:cNvPr>
          <p:cNvSpPr>
            <a:spLocks noGrp="1"/>
          </p:cNvSpPr>
          <p:nvPr/>
        </p:nvSpPr>
        <p:spPr>
          <a:xfrm>
            <a:off x="1028700" y="7543800"/>
            <a:ext cx="133350" cy="457200"/>
          </a:xfrm>
          <a:prstGeom prst="roundRect">
            <a:avLst>
              <a:gd name="adj" fmla="val 50000"/>
            </a:avLst>
          </a:prstGeom>
          <a:solidFill>
            <a:srgbClr val="6554C0"/>
          </a:solidFill>
        </p:spPr>
        <p:txBody>
          <a:bodyPr/>
          <a:lstStyle/>
          <a:p>
            <a:endParaRPr lang="en-DE"/>
          </a:p>
        </p:txBody>
      </p:sp>
      <p:sp>
        <p:nvSpPr>
          <p:cNvPr id="46" name="Rectangle 45">
            <a:extLst>
              <a:ext uri="{FF2B5EF4-FFF2-40B4-BE49-F238E27FC236}">
                <a16:creationId xmlns:a16="http://schemas.microsoft.com/office/drawing/2014/main" id="{6D4154D4-E75D-4391-9AA7-220BFD1DA9D9}"/>
              </a:ext>
            </a:extLst>
          </p:cNvPr>
          <p:cNvSpPr>
            <a:spLocks noGrp="1"/>
          </p:cNvSpPr>
          <p:nvPr/>
        </p:nvSpPr>
        <p:spPr>
          <a:xfrm>
            <a:off x="1295400" y="7620000"/>
            <a:ext cx="15982950" cy="266700"/>
          </a:xfrm>
          <a:prstGeom prst="rect">
            <a:avLst/>
          </a:prstGeom>
        </p:spPr>
        <p:txBody>
          <a:bodyPr lIns="0" tIns="0" rIns="0" bIns="0"/>
          <a:lstStyle/>
          <a:p>
            <a:pPr>
              <a:defRPr sz="1650" b="1" i="0">
                <a:solidFill>
                  <a:srgbClr val="172026"/>
                </a:solidFill>
              </a:defRPr>
            </a:pPr>
            <a:r>
              <a:rPr sz="1650" b="1" i="0">
                <a:solidFill>
                  <a:srgbClr val="172026"/>
                </a:solidFill>
              </a:rPr>
              <a:t>Virtual Mirror link: our WhatsApp group is both the coordination channel and the May 21 self-analysis input.</a:t>
            </a:r>
          </a:p>
        </p:txBody>
      </p:sp>
    </p:spTree>
    <p:extLst>
      <p:ext uri="{BB962C8B-B14F-4D97-AF65-F5344CB8AC3E}">
        <p14:creationId xmlns:p14="http://schemas.microsoft.com/office/powerpoint/2010/main" val="992673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bg">
            <a:extLst>
              <a:ext uri="{FF2B5EF4-FFF2-40B4-BE49-F238E27FC236}">
                <a16:creationId xmlns:a16="http://schemas.microsoft.com/office/drawing/2014/main" id="{DE043D57-7FFA-485C-81D8-28BF10B76136}"/>
              </a:ext>
            </a:extLst>
          </p:cNvPr>
          <p:cNvSpPr>
            <a:spLocks noGrp="1"/>
          </p:cNvSpPr>
          <p:nvPr/>
        </p:nvSpPr>
        <p:spPr>
          <a:xfrm>
            <a:off x="0" y="0"/>
            <a:ext cx="18288000" cy="10287000"/>
          </a:xfrm>
          <a:prstGeom prst="rect">
            <a:avLst/>
          </a:prstGeom>
          <a:solidFill>
            <a:srgbClr val="F7F9F8"/>
          </a:solidFill>
        </p:spPr>
        <p:txBody>
          <a:bodyPr/>
          <a:lstStyle/>
          <a:p>
            <a:endParaRPr lang="en-DE"/>
          </a:p>
        </p:txBody>
      </p:sp>
      <p:sp>
        <p:nvSpPr>
          <p:cNvPr id="2" name="Rectangle 1">
            <a:extLst>
              <a:ext uri="{FF2B5EF4-FFF2-40B4-BE49-F238E27FC236}">
                <a16:creationId xmlns:a16="http://schemas.microsoft.com/office/drawing/2014/main" id="{7CEABD28-38D4-4356-A39A-7765851D85AA}"/>
              </a:ext>
            </a:extLst>
          </p:cNvPr>
          <p:cNvSpPr>
            <a:spLocks noGrp="1"/>
          </p:cNvSpPr>
          <p:nvPr/>
        </p:nvSpPr>
        <p:spPr>
          <a:xfrm>
            <a:off x="0" y="0"/>
            <a:ext cx="4572000" cy="10287000"/>
          </a:xfrm>
          <a:prstGeom prst="rect">
            <a:avLst/>
          </a:prstGeom>
          <a:solidFill>
            <a:srgbClr val="FFFFFF"/>
          </a:solidFill>
        </p:spPr>
        <p:txBody>
          <a:bodyPr/>
          <a:lstStyle/>
          <a:p>
            <a:endParaRPr lang="en-DE"/>
          </a:p>
        </p:txBody>
      </p:sp>
      <p:sp>
        <p:nvSpPr>
          <p:cNvPr id="3" name="Rectangle 2">
            <a:extLst>
              <a:ext uri="{FF2B5EF4-FFF2-40B4-BE49-F238E27FC236}">
                <a16:creationId xmlns:a16="http://schemas.microsoft.com/office/drawing/2014/main" id="{054FFBA1-65A4-4B99-A39E-E3DE51015000}"/>
              </a:ext>
            </a:extLst>
          </p:cNvPr>
          <p:cNvSpPr>
            <a:spLocks noGrp="1"/>
          </p:cNvSpPr>
          <p:nvPr/>
        </p:nvSpPr>
        <p:spPr>
          <a:xfrm>
            <a:off x="4572000" y="0"/>
            <a:ext cx="4572000" cy="10287000"/>
          </a:xfrm>
          <a:prstGeom prst="rect">
            <a:avLst/>
          </a:prstGeom>
          <a:solidFill>
            <a:srgbClr val="F3F7F7"/>
          </a:solidFill>
        </p:spPr>
        <p:txBody>
          <a:bodyPr/>
          <a:lstStyle/>
          <a:p>
            <a:endParaRPr lang="en-DE"/>
          </a:p>
        </p:txBody>
      </p:sp>
      <p:sp>
        <p:nvSpPr>
          <p:cNvPr id="4" name="Rectangle 3">
            <a:extLst>
              <a:ext uri="{FF2B5EF4-FFF2-40B4-BE49-F238E27FC236}">
                <a16:creationId xmlns:a16="http://schemas.microsoft.com/office/drawing/2014/main" id="{2172C3C8-BD3F-4C70-B483-542646266B65}"/>
              </a:ext>
            </a:extLst>
          </p:cNvPr>
          <p:cNvSpPr>
            <a:spLocks noGrp="1"/>
          </p:cNvSpPr>
          <p:nvPr/>
        </p:nvSpPr>
        <p:spPr>
          <a:xfrm>
            <a:off x="9144000" y="0"/>
            <a:ext cx="4572000" cy="10287000"/>
          </a:xfrm>
          <a:prstGeom prst="rect">
            <a:avLst/>
          </a:prstGeom>
          <a:solidFill>
            <a:srgbClr val="FAF9F4"/>
          </a:solidFill>
        </p:spPr>
        <p:txBody>
          <a:bodyPr/>
          <a:lstStyle/>
          <a:p>
            <a:endParaRPr lang="en-DE"/>
          </a:p>
        </p:txBody>
      </p:sp>
      <p:sp>
        <p:nvSpPr>
          <p:cNvPr id="5" name="Rectangle 4">
            <a:extLst>
              <a:ext uri="{FF2B5EF4-FFF2-40B4-BE49-F238E27FC236}">
                <a16:creationId xmlns:a16="http://schemas.microsoft.com/office/drawing/2014/main" id="{9733B5F4-D723-4B38-BE0B-243D77F6ECDD}"/>
              </a:ext>
            </a:extLst>
          </p:cNvPr>
          <p:cNvSpPr>
            <a:spLocks noGrp="1"/>
          </p:cNvSpPr>
          <p:nvPr/>
        </p:nvSpPr>
        <p:spPr>
          <a:xfrm>
            <a:off x="13716000" y="0"/>
            <a:ext cx="4572000" cy="10287000"/>
          </a:xfrm>
          <a:prstGeom prst="rect">
            <a:avLst/>
          </a:prstGeom>
          <a:solidFill>
            <a:srgbClr val="F6F8FA"/>
          </a:solidFill>
        </p:spPr>
        <p:txBody>
          <a:bodyPr/>
          <a:lstStyle/>
          <a:p>
            <a:endParaRPr lang="en-DE"/>
          </a:p>
        </p:txBody>
      </p:sp>
      <p:sp>
        <p:nvSpPr>
          <p:cNvPr id="6" name="Oval 5">
            <a:extLst>
              <a:ext uri="{FF2B5EF4-FFF2-40B4-BE49-F238E27FC236}">
                <a16:creationId xmlns:a16="http://schemas.microsoft.com/office/drawing/2014/main" id="{1F4BBADE-1A3F-44FA-BBFB-B648DF5576C4}"/>
              </a:ext>
            </a:extLst>
          </p:cNvPr>
          <p:cNvSpPr>
            <a:spLocks noGrp="1"/>
          </p:cNvSpPr>
          <p:nvPr/>
        </p:nvSpPr>
        <p:spPr>
          <a:xfrm>
            <a:off x="857250" y="819150"/>
            <a:ext cx="114300" cy="114300"/>
          </a:xfrm>
          <a:prstGeom prst="ellipse">
            <a:avLst/>
          </a:prstGeom>
          <a:solidFill>
            <a:srgbClr val="B63A33"/>
          </a:solidFill>
        </p:spPr>
        <p:txBody>
          <a:bodyPr/>
          <a:lstStyle/>
          <a:p>
            <a:endParaRPr lang="en-DE"/>
          </a:p>
        </p:txBody>
      </p:sp>
      <p:sp>
        <p:nvSpPr>
          <p:cNvPr id="7" name="Rectangle 6">
            <a:extLst>
              <a:ext uri="{FF2B5EF4-FFF2-40B4-BE49-F238E27FC236}">
                <a16:creationId xmlns:a16="http://schemas.microsoft.com/office/drawing/2014/main" id="{2CE0120D-ABCB-4BAF-BA77-8EE7F565620A}"/>
              </a:ext>
            </a:extLst>
          </p:cNvPr>
          <p:cNvSpPr>
            <a:spLocks noGrp="1"/>
          </p:cNvSpPr>
          <p:nvPr/>
        </p:nvSpPr>
        <p:spPr>
          <a:xfrm>
            <a:off x="1066800" y="781050"/>
            <a:ext cx="762000" cy="190500"/>
          </a:xfrm>
          <a:prstGeom prst="rect">
            <a:avLst/>
          </a:prstGeom>
        </p:spPr>
        <p:txBody>
          <a:bodyPr lIns="0" tIns="0" rIns="0" bIns="0"/>
          <a:lstStyle/>
          <a:p>
            <a:pPr>
              <a:defRPr sz="1200" b="1" i="0">
                <a:solidFill>
                  <a:srgbClr val="7A8793"/>
                </a:solidFill>
              </a:defRPr>
            </a:pPr>
            <a:r>
              <a:rPr sz="1200" b="1" i="0">
                <a:solidFill>
                  <a:srgbClr val="7A8793"/>
                </a:solidFill>
              </a:rPr>
              <a:t>THANK YOU</a:t>
            </a:r>
          </a:p>
        </p:txBody>
      </p:sp>
      <p:sp>
        <p:nvSpPr>
          <p:cNvPr id="8" name="Rectangle 7">
            <a:extLst>
              <a:ext uri="{FF2B5EF4-FFF2-40B4-BE49-F238E27FC236}">
                <a16:creationId xmlns:a16="http://schemas.microsoft.com/office/drawing/2014/main" id="{7B409B10-232B-4A26-B544-19E666ADFC78}"/>
              </a:ext>
            </a:extLst>
          </p:cNvPr>
          <p:cNvSpPr>
            <a:spLocks noGrp="1"/>
          </p:cNvSpPr>
          <p:nvPr/>
        </p:nvSpPr>
        <p:spPr>
          <a:xfrm>
            <a:off x="857250" y="1143000"/>
            <a:ext cx="8858250" cy="1009650"/>
          </a:xfrm>
          <a:prstGeom prst="rect">
            <a:avLst/>
          </a:prstGeom>
        </p:spPr>
        <p:txBody>
          <a:bodyPr lIns="0" tIns="0" rIns="0" bIns="0"/>
          <a:lstStyle/>
          <a:p>
            <a:pPr>
              <a:defRPr sz="6600" b="1" i="0">
                <a:solidFill>
                  <a:srgbClr val="172026"/>
                </a:solidFill>
              </a:defRPr>
            </a:pPr>
            <a:r>
              <a:rPr sz="6600" b="1" i="0">
                <a:solidFill>
                  <a:srgbClr val="172026"/>
                </a:solidFill>
              </a:rPr>
              <a:t>Questions welcome</a:t>
            </a:r>
          </a:p>
        </p:txBody>
      </p:sp>
      <p:sp>
        <p:nvSpPr>
          <p:cNvPr id="9" name="Rectangle 8">
            <a:extLst>
              <a:ext uri="{FF2B5EF4-FFF2-40B4-BE49-F238E27FC236}">
                <a16:creationId xmlns:a16="http://schemas.microsoft.com/office/drawing/2014/main" id="{53B0DA7C-7FB0-429F-BBFC-779DC806B187}"/>
              </a:ext>
            </a:extLst>
          </p:cNvPr>
          <p:cNvSpPr>
            <a:spLocks noGrp="1"/>
          </p:cNvSpPr>
          <p:nvPr/>
        </p:nvSpPr>
        <p:spPr>
          <a:xfrm>
            <a:off x="857250" y="2305050"/>
            <a:ext cx="6667500" cy="723900"/>
          </a:xfrm>
          <a:prstGeom prst="rect">
            <a:avLst/>
          </a:prstGeom>
        </p:spPr>
        <p:txBody>
          <a:bodyPr lIns="0" tIns="0" rIns="0" bIns="0"/>
          <a:lstStyle/>
          <a:p>
            <a:pPr>
              <a:defRPr sz="2325" b="0" i="0">
                <a:solidFill>
                  <a:srgbClr val="52606D"/>
                </a:solidFill>
              </a:defRPr>
            </a:pPr>
            <a:endParaRPr sz="2325" b="0" i="0" dirty="0">
              <a:solidFill>
                <a:srgbClr val="52606D"/>
              </a:solidFill>
            </a:endParaRPr>
          </a:p>
        </p:txBody>
      </p:sp>
      <p:sp>
        <p:nvSpPr>
          <p:cNvPr id="10" name="Rectangle 9">
            <a:extLst>
              <a:ext uri="{FF2B5EF4-FFF2-40B4-BE49-F238E27FC236}">
                <a16:creationId xmlns:a16="http://schemas.microsoft.com/office/drawing/2014/main" id="{2EEB01F2-243A-419A-86F6-6FB10ABFB259}"/>
              </a:ext>
            </a:extLst>
          </p:cNvPr>
          <p:cNvSpPr>
            <a:spLocks noGrp="1"/>
          </p:cNvSpPr>
          <p:nvPr/>
        </p:nvSpPr>
        <p:spPr>
          <a:xfrm>
            <a:off x="857250" y="8839200"/>
            <a:ext cx="8858250" cy="323850"/>
          </a:xfrm>
          <a:prstGeom prst="rect">
            <a:avLst/>
          </a:prstGeom>
        </p:spPr>
        <p:txBody>
          <a:bodyPr lIns="0" tIns="0" rIns="0" bIns="0"/>
          <a:lstStyle/>
          <a:p>
            <a:pPr>
              <a:defRPr sz="2025" b="1" i="0">
                <a:solidFill>
                  <a:srgbClr val="172026"/>
                </a:solidFill>
              </a:defRPr>
            </a:pPr>
            <a:r>
              <a:rPr sz="2025" b="1" i="0">
                <a:solidFill>
                  <a:srgbClr val="172026"/>
                </a:solidFill>
              </a:rPr>
              <a:t>Project 8: Entanglement in Online Choir</a:t>
            </a:r>
          </a:p>
        </p:txBody>
      </p:sp>
      <p:sp>
        <p:nvSpPr>
          <p:cNvPr id="11" name="Rectangle 10">
            <a:extLst>
              <a:ext uri="{FF2B5EF4-FFF2-40B4-BE49-F238E27FC236}">
                <a16:creationId xmlns:a16="http://schemas.microsoft.com/office/drawing/2014/main" id="{396F0598-F5A2-4B22-B6AC-9B2ABF68969C}"/>
              </a:ext>
            </a:extLst>
          </p:cNvPr>
          <p:cNvSpPr>
            <a:spLocks noGrp="1"/>
          </p:cNvSpPr>
          <p:nvPr/>
        </p:nvSpPr>
        <p:spPr>
          <a:xfrm>
            <a:off x="857250" y="9258300"/>
            <a:ext cx="8858250" cy="266700"/>
          </a:xfrm>
          <a:prstGeom prst="rect">
            <a:avLst/>
          </a:prstGeom>
        </p:spPr>
        <p:txBody>
          <a:bodyPr lIns="0" tIns="0" rIns="0" bIns="0"/>
          <a:lstStyle/>
          <a:p>
            <a:pPr>
              <a:defRPr sz="1650" b="0" i="0">
                <a:solidFill>
                  <a:srgbClr val="7A8793"/>
                </a:solidFill>
              </a:defRPr>
            </a:pPr>
            <a:r>
              <a:rPr sz="1650" b="0" i="0">
                <a:solidFill>
                  <a:srgbClr val="7A8793"/>
                </a:solidFill>
              </a:rPr>
              <a:t>Zuraiz, on behalf of the team</a:t>
            </a:r>
          </a:p>
        </p:txBody>
      </p:sp>
      <p:sp>
        <p:nvSpPr>
          <p:cNvPr id="13" name="Rectangle 12">
            <a:extLst>
              <a:ext uri="{FF2B5EF4-FFF2-40B4-BE49-F238E27FC236}">
                <a16:creationId xmlns:a16="http://schemas.microsoft.com/office/drawing/2014/main" id="{22A0A2B2-FC95-45E7-AFC9-24D117EF2150}"/>
              </a:ext>
            </a:extLst>
          </p:cNvPr>
          <p:cNvSpPr>
            <a:spLocks noGrp="1"/>
          </p:cNvSpPr>
          <p:nvPr/>
        </p:nvSpPr>
        <p:spPr>
          <a:xfrm>
            <a:off x="10610850" y="4019550"/>
            <a:ext cx="6400800" cy="323850"/>
          </a:xfrm>
          <a:prstGeom prst="rect">
            <a:avLst/>
          </a:prstGeom>
        </p:spPr>
        <p:txBody>
          <a:bodyPr lIns="0" tIns="0" rIns="0" bIns="0"/>
          <a:lstStyle/>
          <a:p>
            <a:pPr>
              <a:defRPr sz="2100" b="1" i="0">
                <a:solidFill>
                  <a:srgbClr val="FFFFFF"/>
                </a:solidFill>
              </a:defRPr>
            </a:pPr>
            <a:endParaRPr sz="2100" b="1" i="0" dirty="0">
              <a:solidFill>
                <a:srgbClr val="FFFFFF"/>
              </a:solidFill>
            </a:endParaRPr>
          </a:p>
        </p:txBody>
      </p:sp>
      <p:sp>
        <p:nvSpPr>
          <p:cNvPr id="15" name="Rectangle 14">
            <a:extLst>
              <a:ext uri="{FF2B5EF4-FFF2-40B4-BE49-F238E27FC236}">
                <a16:creationId xmlns:a16="http://schemas.microsoft.com/office/drawing/2014/main" id="{8042D63F-6C4E-4836-9EBD-56A1CF9C5E18}"/>
              </a:ext>
            </a:extLst>
          </p:cNvPr>
          <p:cNvSpPr>
            <a:spLocks noGrp="1"/>
          </p:cNvSpPr>
          <p:nvPr/>
        </p:nvSpPr>
        <p:spPr>
          <a:xfrm>
            <a:off x="10610850" y="4857750"/>
            <a:ext cx="6400800" cy="1409700"/>
          </a:xfrm>
          <a:prstGeom prst="rect">
            <a:avLst/>
          </a:prstGeom>
        </p:spPr>
        <p:txBody>
          <a:bodyPr lIns="0" tIns="0" rIns="0" bIns="0"/>
          <a:lstStyle/>
          <a:p>
            <a:pPr>
              <a:defRPr sz="3075" b="1" i="0">
                <a:solidFill>
                  <a:srgbClr val="EEF5F4"/>
                </a:solidFill>
              </a:defRPr>
            </a:pPr>
            <a:endParaRPr sz="3075" b="1" i="0" dirty="0">
              <a:solidFill>
                <a:srgbClr val="EEF5F4"/>
              </a:solidFill>
            </a:endParaRPr>
          </a:p>
        </p:txBody>
      </p:sp>
    </p:spTree>
    <p:extLst>
      <p:ext uri="{BB962C8B-B14F-4D97-AF65-F5344CB8AC3E}">
        <p14:creationId xmlns:p14="http://schemas.microsoft.com/office/powerpoint/2010/main" val="202856597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1420</Words>
  <Application>Microsoft Office PowerPoint</Application>
  <DocSecurity>0</DocSecurity>
  <PresentationFormat>Custom</PresentationFormat>
  <Paragraphs>166</Paragraphs>
  <Slides>8</Slides>
  <Notes>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8</vt:i4>
      </vt:variant>
    </vt:vector>
  </HeadingPairs>
  <TitlesOfParts>
    <vt:vector size="10"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 - - Zuraiz</cp:lastModifiedBy>
  <cp:revision>5</cp:revision>
  <dcterms:created xsi:type="dcterms:W3CDTF">2026-04-30T10:45:33Z</dcterms:created>
  <dcterms:modified xsi:type="dcterms:W3CDTF">2026-04-30T11:54:48Z</dcterms:modified>
</cp:coreProperties>
</file>